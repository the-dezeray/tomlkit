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74" r:id="rId2"/>
    <p:sldId id="257" r:id="rId3"/>
    <p:sldId id="258" r:id="rId4"/>
    <p:sldId id="259" r:id="rId5"/>
    <p:sldId id="260" r:id="rId6"/>
    <p:sldId id="261" r:id="rId7"/>
    <p:sldId id="262" r:id="rId8"/>
    <p:sldId id="275" r:id="rId9"/>
    <p:sldId id="277" r:id="rId10"/>
    <p:sldId id="263" r:id="rId11"/>
    <p:sldId id="278" r:id="rId12"/>
    <p:sldId id="264" r:id="rId13"/>
    <p:sldId id="265" r:id="rId14"/>
    <p:sldId id="276" r:id="rId15"/>
    <p:sldId id="266" r:id="rId16"/>
    <p:sldId id="267" r:id="rId17"/>
    <p:sldId id="268" r:id="rId18"/>
    <p:sldId id="269" r:id="rId19"/>
    <p:sldId id="273" r:id="rId20"/>
    <p:sldId id="270" r:id="rId21"/>
    <p:sldId id="271" r:id="rId22"/>
    <p:sldId id="272" r:id="rId23"/>
  </p:sldIdLst>
  <p:sldSz cx="12192000" cy="6858000"/>
  <p:notesSz cx="6858000" cy="12192000"/>
  <p:embeddedFontLst>
    <p:embeddedFont>
      <p:font typeface="IBM Plex Sans" panose="020B0503050203000203" pitchFamily="34" charset="0"/>
      <p:regular r:id="rId25"/>
      <p:bold r:id="rId26"/>
    </p:embeddedFont>
    <p:embeddedFont>
      <p:font typeface="JetBrains Mono" panose="020B0604020202020204"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72A5"/>
    <a:srgbClr val="FF00FF"/>
    <a:srgbClr val="BFCBE0"/>
    <a:srgbClr val="2F36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43"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ownloads\dev\school-work\software-analysis\tomlkit\COMP%20441%20Group%20A%20-%20Presentation%20Chart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oleObject" Target="file:///C:\Users\HP\Downloads\dev\school-work\software-analysis\tomlkit\COMP%20441%20Group%20A%20-%20Presentation%20Charts.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C:\Users\HP\Downloads\dev\school-work\software-analysis\tomlkit\week11\Week11_TrackD_Findings.xlsx"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oleObject" Target="file:///C:\Users\HP\Downloads\dev\school-work\software-analysis\tomlkit\COMP%20441%20Group%20A%20-%20Presentation%20Chart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Data!$B$5</c:f>
              <c:strCache>
                <c:ptCount val="1"/>
                <c:pt idx="0">
                  <c:v>v1</c:v>
                </c:pt>
              </c:strCache>
            </c:strRef>
          </c:tx>
          <c:spPr>
            <a:solidFill>
              <a:schemeClr val="accent1"/>
            </a:solidFill>
            <a:ln>
              <a:noFill/>
            </a:ln>
            <a:effectLst/>
          </c:spPr>
          <c:invertIfNegative val="0"/>
          <c:cat>
            <c:strRef>
              <c:f>Data!$A$6:$A$13</c:f>
              <c:strCache>
                <c:ptCount val="8"/>
                <c:pt idx="0">
                  <c:v>_utils</c:v>
                </c:pt>
                <c:pt idx="1">
                  <c:v>api</c:v>
                </c:pt>
                <c:pt idx="2">
                  <c:v>source</c:v>
                </c:pt>
                <c:pt idx="3">
                  <c:v>toml_file</c:v>
                </c:pt>
                <c:pt idx="4">
                  <c:v>parser</c:v>
                </c:pt>
                <c:pt idx="5">
                  <c:v>items</c:v>
                </c:pt>
                <c:pt idx="6">
                  <c:v>container</c:v>
                </c:pt>
                <c:pt idx="7">
                  <c:v>exceptions</c:v>
                </c:pt>
              </c:strCache>
            </c:strRef>
          </c:cat>
          <c:val>
            <c:numRef>
              <c:f>Data!$B$6:$B$13</c:f>
              <c:numCache>
                <c:formatCode>General</c:formatCode>
                <c:ptCount val="8"/>
                <c:pt idx="0">
                  <c:v>95</c:v>
                </c:pt>
                <c:pt idx="1">
                  <c:v>83.9</c:v>
                </c:pt>
                <c:pt idx="2">
                  <c:v>82.7</c:v>
                </c:pt>
                <c:pt idx="3">
                  <c:v>72.599999999999994</c:v>
                </c:pt>
                <c:pt idx="4">
                  <c:v>64</c:v>
                </c:pt>
                <c:pt idx="5">
                  <c:v>54.1</c:v>
                </c:pt>
                <c:pt idx="6">
                  <c:v>47.2</c:v>
                </c:pt>
                <c:pt idx="7">
                  <c:v>33.299999999999997</c:v>
                </c:pt>
              </c:numCache>
            </c:numRef>
          </c:val>
          <c:extLst>
            <c:ext xmlns:c16="http://schemas.microsoft.com/office/drawing/2014/chart" uri="{C3380CC4-5D6E-409C-BE32-E72D297353CC}">
              <c16:uniqueId val="{00000000-B957-4E49-8773-137EA4ED69ED}"/>
            </c:ext>
          </c:extLst>
        </c:ser>
        <c:ser>
          <c:idx val="1"/>
          <c:order val="1"/>
          <c:tx>
            <c:strRef>
              <c:f>Data!$C$5</c:f>
              <c:strCache>
                <c:ptCount val="1"/>
                <c:pt idx="0">
                  <c:v>v2</c:v>
                </c:pt>
              </c:strCache>
            </c:strRef>
          </c:tx>
          <c:spPr>
            <a:solidFill>
              <a:schemeClr val="accent2"/>
            </a:solidFill>
            <a:ln>
              <a:noFill/>
            </a:ln>
            <a:effectLst/>
          </c:spPr>
          <c:invertIfNegative val="0"/>
          <c:dPt>
            <c:idx val="7"/>
            <c:invertIfNegative val="0"/>
            <c:bubble3D val="0"/>
            <c:extLst>
              <c:ext xmlns:c16="http://schemas.microsoft.com/office/drawing/2014/chart" uri="{C3380CC4-5D6E-409C-BE32-E72D297353CC}">
                <c16:uniqueId val="{00000002-B957-4E49-8773-137EA4ED69ED}"/>
              </c:ext>
            </c:extLst>
          </c:dPt>
          <c:dLbls>
            <c:numFmt formatCode="0.0&quot;%&quot;"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B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Data!$A$6:$A$13</c:f>
              <c:strCache>
                <c:ptCount val="8"/>
                <c:pt idx="0">
                  <c:v>_utils</c:v>
                </c:pt>
                <c:pt idx="1">
                  <c:v>api</c:v>
                </c:pt>
                <c:pt idx="2">
                  <c:v>source</c:v>
                </c:pt>
                <c:pt idx="3">
                  <c:v>toml_file</c:v>
                </c:pt>
                <c:pt idx="4">
                  <c:v>parser</c:v>
                </c:pt>
                <c:pt idx="5">
                  <c:v>items</c:v>
                </c:pt>
                <c:pt idx="6">
                  <c:v>container</c:v>
                </c:pt>
                <c:pt idx="7">
                  <c:v>exceptions</c:v>
                </c:pt>
              </c:strCache>
            </c:strRef>
          </c:cat>
          <c:val>
            <c:numRef>
              <c:f>Data!$C$6:$C$13</c:f>
              <c:numCache>
                <c:formatCode>General</c:formatCode>
                <c:ptCount val="8"/>
                <c:pt idx="0">
                  <c:v>95.9</c:v>
                </c:pt>
                <c:pt idx="1">
                  <c:v>88.6</c:v>
                </c:pt>
                <c:pt idx="2">
                  <c:v>87.4</c:v>
                </c:pt>
                <c:pt idx="3">
                  <c:v>80.8</c:v>
                </c:pt>
                <c:pt idx="4">
                  <c:v>83.4</c:v>
                </c:pt>
                <c:pt idx="5">
                  <c:v>73.5</c:v>
                </c:pt>
                <c:pt idx="6">
                  <c:v>75.7</c:v>
                </c:pt>
                <c:pt idx="7">
                  <c:v>43.7</c:v>
                </c:pt>
              </c:numCache>
            </c:numRef>
          </c:val>
          <c:extLst>
            <c:ext xmlns:c16="http://schemas.microsoft.com/office/drawing/2014/chart" uri="{C3380CC4-5D6E-409C-BE32-E72D297353CC}">
              <c16:uniqueId val="{00000003-B957-4E49-8773-137EA4ED69ED}"/>
            </c:ext>
          </c:extLst>
        </c:ser>
        <c:dLbls>
          <c:showLegendKey val="0"/>
          <c:showVal val="0"/>
          <c:showCatName val="0"/>
          <c:showSerName val="0"/>
          <c:showPercent val="0"/>
          <c:showBubbleSize val="0"/>
        </c:dLbls>
        <c:gapWidth val="182"/>
        <c:axId val="438021288"/>
        <c:axId val="438020568"/>
      </c:barChart>
      <c:catAx>
        <c:axId val="438021288"/>
        <c:scaling>
          <c:orientation val="maxMin"/>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Module</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BW"/>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W"/>
          </a:p>
        </c:txPr>
        <c:crossAx val="438020568"/>
        <c:crosses val="autoZero"/>
        <c:auto val="1"/>
        <c:lblAlgn val="ctr"/>
        <c:lblOffset val="100"/>
        <c:noMultiLvlLbl val="0"/>
      </c:catAx>
      <c:valAx>
        <c:axId val="438020568"/>
        <c:scaling>
          <c:orientation val="minMax"/>
          <c:max val="100"/>
          <c:min val="0"/>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 mutants killed</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BW"/>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W"/>
          </a:p>
        </c:txPr>
        <c:crossAx val="438021288"/>
        <c:crosses val="autoZero"/>
        <c:crossBetween val="between"/>
        <c:majorUnit val="20"/>
      </c:valAx>
      <c:spPr>
        <a:noFill/>
        <a:ln>
          <a:noFill/>
        </a:ln>
        <a:effectLst/>
        <a:extLst>
          <a:ext uri="{91240B29-F687-4F45-9708-019B960494DF}">
            <a14:hiddenLine xmlns:a14="http://schemas.microsoft.com/office/drawing/2010/main">
              <a:noFill/>
            </a14:hiddenLine>
          </a:ext>
        </a:ex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a:extLst>
      <a:ext uri="{91240B29-F687-4F45-9708-019B960494DF}">
        <a14:hiddenLine xmlns:a14="http://schemas.microsoft.com/office/drawing/2010/main" w="12700" cap="flat" cmpd="sng" algn="ctr">
          <a:solidFill>
            <a:sysClr val="windowText" lastClr="000000">
              <a:tint val="75000"/>
            </a:sysClr>
          </a:solidFill>
          <a:prstDash val="solid"/>
          <a:round/>
        </a14:hiddenLine>
      </a:ext>
    </a:extLst>
  </c:spPr>
  <c:txPr>
    <a:bodyPr/>
    <a:lstStyle/>
    <a:p>
      <a:pPr>
        <a:defRPr/>
      </a:pPr>
      <a:endParaRPr lang="en-B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Data!$B$15</c:f>
              <c:strCache>
                <c:ptCount val="1"/>
                <c:pt idx="0">
                  <c:v>Score</c:v>
                </c:pt>
              </c:strCache>
            </c:strRef>
          </c:tx>
          <c:spPr>
            <a:solidFill>
              <a:srgbClr val="8FB3F0"/>
            </a:solidFill>
            <a:ln>
              <a:solidFill>
                <a:srgbClr val="8FB3F0"/>
              </a:solidFill>
            </a:ln>
          </c:spPr>
          <c:invertIfNegative val="0"/>
          <c:dPt>
            <c:idx val="1"/>
            <c:invertIfNegative val="0"/>
            <c:bubble3D val="0"/>
            <c:spPr>
              <a:solidFill>
                <a:schemeClr val="accent5"/>
              </a:solidFill>
              <a:ln>
                <a:solidFill>
                  <a:srgbClr val="2B5FB8"/>
                </a:solidFill>
              </a:ln>
            </c:spPr>
            <c:extLst>
              <c:ext xmlns:c16="http://schemas.microsoft.com/office/drawing/2014/chart" uri="{C3380CC4-5D6E-409C-BE32-E72D297353CC}">
                <c16:uniqueId val="{00000001-75E6-4F3C-8C7F-3BC59AB8A2B5}"/>
              </c:ext>
            </c:extLst>
          </c:dPt>
          <c:dLbls>
            <c:numFmt formatCode="0.0&quot;%&quot;" sourceLinked="0"/>
            <c:spPr>
              <a:noFill/>
              <a:ln>
                <a:noFill/>
              </a:ln>
              <a:effectLst/>
            </c:spPr>
            <c:txPr>
              <a:bodyPr wrap="square" lIns="38100" tIns="19050" rIns="38100" bIns="19050" anchor="ctr">
                <a:spAutoFit/>
              </a:bodyPr>
              <a:lstStyle/>
              <a:p>
                <a:pPr>
                  <a:defRPr sz="900">
                    <a:solidFill>
                      <a:srgbClr val="14213D"/>
                    </a:solidFill>
                    <a:latin typeface="IBM Plex Sans"/>
                    <a:ea typeface="IBM Plex Sans"/>
                    <a:cs typeface="IBM Plex Sans"/>
                  </a:defRPr>
                </a:pPr>
                <a:endParaRPr lang="en-B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Data!$A$16:$A$17</c:f>
              <c:strCache>
                <c:ptCount val="2"/>
                <c:pt idx="0">
                  <c:v>AI-only v1</c:v>
                </c:pt>
                <c:pt idx="1">
                  <c:v>Hybrid v2</c:v>
                </c:pt>
              </c:strCache>
            </c:strRef>
          </c:cat>
          <c:val>
            <c:numRef>
              <c:f>Data!$B$16:$B$17</c:f>
              <c:numCache>
                <c:formatCode>General</c:formatCode>
                <c:ptCount val="2"/>
                <c:pt idx="0">
                  <c:v>57.8</c:v>
                </c:pt>
                <c:pt idx="1">
                  <c:v>77.400000000000006</c:v>
                </c:pt>
              </c:numCache>
            </c:numRef>
          </c:val>
          <c:extLst>
            <c:ext xmlns:c16="http://schemas.microsoft.com/office/drawing/2014/chart" uri="{C3380CC4-5D6E-409C-BE32-E72D297353CC}">
              <c16:uniqueId val="{00000002-75E6-4F3C-8C7F-3BC59AB8A2B5}"/>
            </c:ext>
          </c:extLst>
        </c:ser>
        <c:dLbls>
          <c:showLegendKey val="0"/>
          <c:showVal val="0"/>
          <c:showCatName val="0"/>
          <c:showSerName val="0"/>
          <c:showPercent val="0"/>
          <c:showBubbleSize val="0"/>
        </c:dLbls>
        <c:gapWidth val="150"/>
        <c:axId val="438023808"/>
        <c:axId val="438025608"/>
      </c:barChart>
      <c:catAx>
        <c:axId val="438023808"/>
        <c:scaling>
          <c:orientation val="minMax"/>
        </c:scaling>
        <c:delete val="0"/>
        <c:axPos val="b"/>
        <c:title>
          <c:tx>
            <c:rich>
              <a:bodyPr/>
              <a:lstStyle/>
              <a:p>
                <a:pPr>
                  <a:defRPr sz="1000" b="0">
                    <a:solidFill>
                      <a:srgbClr val="4A5568"/>
                    </a:solidFill>
                    <a:latin typeface="IBM Plex Sans"/>
                    <a:ea typeface="IBM Plex Sans"/>
                    <a:cs typeface="IBM Plex Sans"/>
                  </a:defRPr>
                </a:pPr>
                <a:r>
                  <a:rPr lang="en-US"/>
                  <a:t>Suite</a:t>
                </a:r>
              </a:p>
            </c:rich>
          </c:tx>
          <c:overlay val="0"/>
        </c:title>
        <c:numFmt formatCode="General" sourceLinked="1"/>
        <c:majorTickMark val="out"/>
        <c:minorTickMark val="none"/>
        <c:tickLblPos val="nextTo"/>
        <c:spPr>
          <a:ln>
            <a:solidFill>
              <a:srgbClr val="DEDCD3"/>
            </a:solidFill>
          </a:ln>
        </c:spPr>
        <c:txPr>
          <a:bodyPr/>
          <a:lstStyle/>
          <a:p>
            <a:pPr>
              <a:defRPr sz="1000">
                <a:solidFill>
                  <a:srgbClr val="4A5568"/>
                </a:solidFill>
                <a:latin typeface="IBM Plex Sans"/>
                <a:ea typeface="IBM Plex Sans"/>
                <a:cs typeface="IBM Plex Sans"/>
              </a:defRPr>
            </a:pPr>
            <a:endParaRPr lang="en-BW"/>
          </a:p>
        </c:txPr>
        <c:crossAx val="438025608"/>
        <c:crosses val="autoZero"/>
        <c:auto val="1"/>
        <c:lblAlgn val="ctr"/>
        <c:lblOffset val="100"/>
        <c:noMultiLvlLbl val="0"/>
      </c:catAx>
      <c:valAx>
        <c:axId val="438025608"/>
        <c:scaling>
          <c:orientation val="minMax"/>
          <c:max val="100"/>
          <c:min val="0"/>
        </c:scaling>
        <c:delete val="0"/>
        <c:axPos val="l"/>
        <c:majorGridlines>
          <c:spPr>
            <a:ln w="9525">
              <a:solidFill>
                <a:srgbClr val="DEDCD3"/>
              </a:solidFill>
            </a:ln>
          </c:spPr>
        </c:majorGridlines>
        <c:title>
          <c:tx>
            <c:rich>
              <a:bodyPr/>
              <a:lstStyle/>
              <a:p>
                <a:pPr>
                  <a:defRPr sz="1000" b="0">
                    <a:solidFill>
                      <a:srgbClr val="4A5568"/>
                    </a:solidFill>
                    <a:latin typeface="IBM Plex Sans"/>
                    <a:ea typeface="IBM Plex Sans"/>
                    <a:cs typeface="IBM Plex Sans"/>
                  </a:defRPr>
                </a:pPr>
                <a:r>
                  <a:rPr lang="en-US"/>
                  <a:t>% mutants killed</a:t>
                </a:r>
              </a:p>
            </c:rich>
          </c:tx>
          <c:overlay val="0"/>
        </c:title>
        <c:numFmt formatCode="0" sourceLinked="0"/>
        <c:majorTickMark val="out"/>
        <c:minorTickMark val="none"/>
        <c:tickLblPos val="nextTo"/>
        <c:spPr>
          <a:ln>
            <a:solidFill>
              <a:srgbClr val="DEDCD3"/>
            </a:solidFill>
          </a:ln>
        </c:spPr>
        <c:txPr>
          <a:bodyPr/>
          <a:lstStyle/>
          <a:p>
            <a:pPr>
              <a:defRPr sz="1000">
                <a:solidFill>
                  <a:srgbClr val="4A5568"/>
                </a:solidFill>
                <a:latin typeface="IBM Plex Sans"/>
                <a:ea typeface="IBM Plex Sans"/>
                <a:cs typeface="IBM Plex Sans"/>
              </a:defRPr>
            </a:pPr>
            <a:endParaRPr lang="en-BW"/>
          </a:p>
        </c:txPr>
        <c:crossAx val="438023808"/>
        <c:crosses val="autoZero"/>
        <c:crossBetween val="between"/>
        <c:majorUnit val="20"/>
      </c:valAx>
      <c:spPr>
        <a:solidFill>
          <a:srgbClr val="F7F6F1"/>
        </a:solidFill>
        <a:ln>
          <a:noFill/>
        </a:ln>
        <a:effectLst/>
        <a:extLst>
          <a:ext uri="{91240B29-F687-4F45-9708-019B960494DF}">
            <a14:hiddenLine xmlns:a14="http://schemas.microsoft.com/office/drawing/2010/main">
              <a:noFill/>
            </a14:hiddenLine>
          </a:ext>
        </a:ex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7F6F1"/>
    </a:solidFill>
    <a:ln w="12700" cap="flat" cmpd="sng" algn="ctr">
      <a:noFill/>
      <a:prstDash val="solid"/>
      <a:round/>
    </a:ln>
    <a:effectLst/>
    <a:extLst>
      <a:ext uri="{91240B29-F687-4F45-9708-019B960494DF}">
        <a14:hiddenLine xmlns:a14="http://schemas.microsoft.com/office/drawing/2010/main" w="12700" cap="flat" cmpd="sng" algn="ctr">
          <a:solidFill>
            <a:sysClr val="windowText" lastClr="000000">
              <a:tint val="75000"/>
            </a:sysClr>
          </a:solidFill>
          <a:prstDash val="solid"/>
          <a:round/>
        </a14:hiddenLine>
      </a:ext>
    </a:extLst>
  </c:spPr>
  <c:txPr>
    <a:bodyPr/>
    <a:lstStyle/>
    <a:p>
      <a:pPr>
        <a:defRPr sz="1000">
          <a:solidFill>
            <a:srgbClr val="4A5568"/>
          </a:solidFill>
          <a:latin typeface="IBM Plex Sans"/>
          <a:ea typeface="IBM Plex Sans"/>
          <a:cs typeface="IBM Plex Sans"/>
        </a:defRPr>
      </a:pPr>
      <a:endParaRPr lang="en-BW"/>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r>
              <a:rPr lang="en-US"/>
              <a:t>Survivor categories</a:t>
            </a:r>
          </a:p>
        </c:rich>
      </c:tx>
      <c:overlay val="0"/>
      <c:spPr>
        <a:noFill/>
        <a:ln>
          <a:noFill/>
        </a:ln>
        <a:effectLst/>
      </c:spPr>
      <c:txPr>
        <a:bodyPr rot="0" spcFirstLastPara="1" vertOverflow="ellipsis" vert="horz" wrap="square" anchor="ctr" anchorCtr="1"/>
        <a:lstStyle/>
        <a:p>
          <a:pPr>
            <a:defRPr sz="2128" b="1" i="0" u="none" strike="noStrike" kern="1200" cap="none" spc="0" normalizeH="0" baseline="0">
              <a:solidFill>
                <a:schemeClr val="dk1">
                  <a:lumMod val="50000"/>
                  <a:lumOff val="50000"/>
                </a:schemeClr>
              </a:solidFill>
              <a:latin typeface="+mj-lt"/>
              <a:ea typeface="+mj-ea"/>
              <a:cs typeface="+mj-cs"/>
            </a:defRPr>
          </a:pPr>
          <a:endParaRPr lang="en-BW"/>
        </a:p>
      </c:txPr>
    </c:title>
    <c:autoTitleDeleted val="0"/>
    <c:plotArea>
      <c:layout/>
      <c:barChart>
        <c:barDir val="bar"/>
        <c:grouping val="clustered"/>
        <c:varyColors val="0"/>
        <c:ser>
          <c:idx val="0"/>
          <c:order val="0"/>
          <c:tx>
            <c:v>Survivors</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dk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Survivors!$A$13:$A$21</c:f>
              <c:strCache>
                <c:ptCount val="9"/>
                <c:pt idx="0">
                  <c:v>Argument dropped or set to None</c:v>
                </c:pt>
                <c:pt idx="1">
                  <c:v>Exception message or construction</c:v>
                </c:pt>
                <c:pt idx="2">
                  <c:v>String literal changed (XX..XX / case)</c:v>
                </c:pt>
                <c:pt idx="3">
                  <c:v>Boolean logic (and/or, True/False, not)</c:v>
                </c:pt>
                <c:pt idx="4">
                  <c:v>Boundary / off-by-one (&lt; vs &lt;=, +1, index)</c:v>
                </c:pt>
                <c:pt idx="5">
                  <c:v>Arithmetic / assignment operator</c:v>
                </c:pt>
                <c:pt idx="6">
                  <c:v>Control flow (continue/break/return)</c:v>
                </c:pt>
                <c:pt idx="7">
                  <c:v>Other</c:v>
                </c:pt>
                <c:pt idx="8">
                  <c:v>New since v1</c:v>
                </c:pt>
              </c:strCache>
            </c:strRef>
          </c:cat>
          <c:val>
            <c:numRef>
              <c:f>Survivors!$B$13:$B$21</c:f>
              <c:numCache>
                <c:formatCode>General</c:formatCode>
                <c:ptCount val="9"/>
                <c:pt idx="0">
                  <c:v>334</c:v>
                </c:pt>
                <c:pt idx="1">
                  <c:v>218</c:v>
                </c:pt>
                <c:pt idx="2">
                  <c:v>93</c:v>
                </c:pt>
                <c:pt idx="3">
                  <c:v>89</c:v>
                </c:pt>
                <c:pt idx="4">
                  <c:v>67</c:v>
                </c:pt>
                <c:pt idx="5">
                  <c:v>65</c:v>
                </c:pt>
                <c:pt idx="6">
                  <c:v>38</c:v>
                </c:pt>
                <c:pt idx="7">
                  <c:v>27</c:v>
                </c:pt>
                <c:pt idx="8">
                  <c:v>25</c:v>
                </c:pt>
              </c:numCache>
            </c:numRef>
          </c:val>
          <c:extLst>
            <c:ext xmlns:c16="http://schemas.microsoft.com/office/drawing/2014/chart" uri="{C3380CC4-5D6E-409C-BE32-E72D297353CC}">
              <c16:uniqueId val="{00000000-D7CF-49F7-B324-0F4DAAB4F33A}"/>
            </c:ext>
          </c:extLst>
        </c:ser>
        <c:dLbls>
          <c:showLegendKey val="0"/>
          <c:showVal val="0"/>
          <c:showCatName val="0"/>
          <c:showSerName val="0"/>
          <c:showPercent val="0"/>
          <c:showBubbleSize val="0"/>
        </c:dLbls>
        <c:gapWidth val="247"/>
        <c:axId val="50080001"/>
        <c:axId val="50080002"/>
      </c:barChart>
      <c:catAx>
        <c:axId val="50080001"/>
        <c:scaling>
          <c:orientation val="minMax"/>
        </c:scaling>
        <c:delete val="0"/>
        <c:axPos val="l"/>
        <c:majorGridlines>
          <c:spPr>
            <a:ln w="9525" cap="flat" cmpd="sng" algn="ctr">
              <a:solidFill>
                <a:schemeClr val="dk1">
                  <a:lumMod val="15000"/>
                  <a:lumOff val="85000"/>
                </a:schemeClr>
              </a:solidFill>
              <a:round/>
            </a:ln>
            <a:effectLst/>
          </c:spPr>
        </c:majorGridlines>
        <c:numFmt formatCode="General" sourceLinked="0"/>
        <c:majorTickMark val="out"/>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197" b="0" i="0" u="none" strike="noStrike" kern="1200" cap="none" spc="0" normalizeH="0" baseline="0">
                <a:solidFill>
                  <a:schemeClr val="dk1">
                    <a:lumMod val="65000"/>
                    <a:lumOff val="35000"/>
                  </a:schemeClr>
                </a:solidFill>
                <a:latin typeface="+mn-lt"/>
                <a:ea typeface="+mn-ea"/>
                <a:cs typeface="+mn-cs"/>
              </a:defRPr>
            </a:pPr>
            <a:endParaRPr lang="en-BW"/>
          </a:p>
        </c:txPr>
        <c:crossAx val="50080002"/>
        <c:crosses val="autoZero"/>
        <c:auto val="1"/>
        <c:lblAlgn val="ctr"/>
        <c:lblOffset val="100"/>
        <c:noMultiLvlLbl val="0"/>
      </c:catAx>
      <c:valAx>
        <c:axId val="50080002"/>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BW"/>
          </a:p>
        </c:txPr>
        <c:crossAx val="50080001"/>
        <c:crosses val="autoZero"/>
        <c:crossBetween val="between"/>
      </c:valAx>
      <c:spPr>
        <a:pattFill prst="ltDnDiag">
          <a:fgClr>
            <a:schemeClr val="dk1">
              <a:lumMod val="15000"/>
              <a:lumOff val="85000"/>
            </a:schemeClr>
          </a:fgClr>
          <a:bgClr>
            <a:schemeClr val="lt1"/>
          </a:bgClr>
        </a:pattFill>
        <a:ln>
          <a:noFill/>
        </a:ln>
        <a:effectLst/>
      </c:spPr>
    </c:plotArea>
    <c:plotVisOnly val="1"/>
    <c:dispBlanksAs val="gap"/>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BW"/>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Data!$B$19</c:f>
              <c:strCache>
                <c:ptCount val="1"/>
                <c:pt idx="0">
                  <c:v>Risk-based</c:v>
                </c:pt>
              </c:strCache>
            </c:strRef>
          </c:tx>
          <c:spPr>
            <a:ln w="9525" cap="rnd">
              <a:solidFill>
                <a:srgbClr val="C00000"/>
              </a:solidFill>
              <a:round/>
            </a:ln>
            <a:effectLst>
              <a:outerShdw blurRad="57150" dist="19050" dir="5400000" algn="ctr" rotWithShape="0">
                <a:srgbClr val="000000">
                  <a:alpha val="63000"/>
                </a:srgbClr>
              </a:outerShdw>
            </a:effectLst>
          </c:spPr>
          <c:marker>
            <c:symbol val="circle"/>
            <c:size val="6"/>
            <c:spPr>
              <a:solidFill>
                <a:srgbClr val="C00000"/>
              </a:solidFill>
              <a:ln w="9525" cap="rnd">
                <a:solidFill>
                  <a:schemeClr val="accent1"/>
                </a:solidFill>
                <a:round/>
              </a:ln>
              <a:effectLst>
                <a:outerShdw blurRad="57150" dist="19050" dir="5400000" algn="ctr" rotWithShape="0">
                  <a:srgbClr val="000000">
                    <a:alpha val="63000"/>
                  </a:srgbClr>
                </a:outerShdw>
              </a:effectLst>
            </c:spPr>
          </c:marker>
          <c:xVal>
            <c:numRef>
              <c:f>Data!$A$20:$A$29</c:f>
              <c:numCache>
                <c:formatCode>General</c:formatCode>
                <c:ptCount val="10"/>
                <c:pt idx="0">
                  <c:v>1</c:v>
                </c:pt>
                <c:pt idx="1">
                  <c:v>5</c:v>
                </c:pt>
                <c:pt idx="2">
                  <c:v>10</c:v>
                </c:pt>
                <c:pt idx="3">
                  <c:v>20</c:v>
                </c:pt>
                <c:pt idx="4">
                  <c:v>30</c:v>
                </c:pt>
                <c:pt idx="5">
                  <c:v>40</c:v>
                </c:pt>
                <c:pt idx="6">
                  <c:v>50</c:v>
                </c:pt>
                <c:pt idx="7">
                  <c:v>75</c:v>
                </c:pt>
                <c:pt idx="8">
                  <c:v>100</c:v>
                </c:pt>
                <c:pt idx="9">
                  <c:v>150</c:v>
                </c:pt>
              </c:numCache>
            </c:numRef>
          </c:xVal>
          <c:yVal>
            <c:numRef>
              <c:f>Data!$B$20:$B$29</c:f>
              <c:numCache>
                <c:formatCode>General</c:formatCode>
                <c:ptCount val="10"/>
                <c:pt idx="0">
                  <c:v>14.7</c:v>
                </c:pt>
                <c:pt idx="1">
                  <c:v>25.6</c:v>
                </c:pt>
                <c:pt idx="2">
                  <c:v>43</c:v>
                </c:pt>
                <c:pt idx="3">
                  <c:v>54.7</c:v>
                </c:pt>
                <c:pt idx="4">
                  <c:v>65.900000000000006</c:v>
                </c:pt>
                <c:pt idx="5">
                  <c:v>70.5</c:v>
                </c:pt>
                <c:pt idx="6">
                  <c:v>72.099999999999994</c:v>
                </c:pt>
                <c:pt idx="7">
                  <c:v>82.2</c:v>
                </c:pt>
                <c:pt idx="8">
                  <c:v>89.5</c:v>
                </c:pt>
                <c:pt idx="9">
                  <c:v>100</c:v>
                </c:pt>
              </c:numCache>
            </c:numRef>
          </c:yVal>
          <c:smooth val="0"/>
          <c:extLst>
            <c:ext xmlns:c16="http://schemas.microsoft.com/office/drawing/2014/chart" uri="{C3380CC4-5D6E-409C-BE32-E72D297353CC}">
              <c16:uniqueId val="{00000000-305A-4C61-BA81-2C9DC6A534D0}"/>
            </c:ext>
          </c:extLst>
        </c:ser>
        <c:ser>
          <c:idx val="1"/>
          <c:order val="1"/>
          <c:tx>
            <c:strRef>
              <c:f>Data!$C$19</c:f>
              <c:strCache>
                <c:ptCount val="1"/>
                <c:pt idx="0">
                  <c:v>Default</c:v>
                </c:pt>
              </c:strCache>
            </c:strRef>
          </c:tx>
          <c:spPr>
            <a:ln w="95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cap="rnd">
                <a:solidFill>
                  <a:schemeClr val="accent2"/>
                </a:solidFill>
                <a:round/>
              </a:ln>
              <a:effectLst>
                <a:outerShdw blurRad="57150" dist="19050" dir="5400000" algn="ctr" rotWithShape="0">
                  <a:srgbClr val="000000">
                    <a:alpha val="63000"/>
                  </a:srgbClr>
                </a:outerShdw>
              </a:effectLst>
            </c:spPr>
          </c:marker>
          <c:xVal>
            <c:numRef>
              <c:f>Data!$A$20:$A$29</c:f>
              <c:numCache>
                <c:formatCode>General</c:formatCode>
                <c:ptCount val="10"/>
                <c:pt idx="0">
                  <c:v>1</c:v>
                </c:pt>
                <c:pt idx="1">
                  <c:v>5</c:v>
                </c:pt>
                <c:pt idx="2">
                  <c:v>10</c:v>
                </c:pt>
                <c:pt idx="3">
                  <c:v>20</c:v>
                </c:pt>
                <c:pt idx="4">
                  <c:v>30</c:v>
                </c:pt>
                <c:pt idx="5">
                  <c:v>40</c:v>
                </c:pt>
                <c:pt idx="6">
                  <c:v>50</c:v>
                </c:pt>
                <c:pt idx="7">
                  <c:v>75</c:v>
                </c:pt>
                <c:pt idx="8">
                  <c:v>100</c:v>
                </c:pt>
                <c:pt idx="9">
                  <c:v>150</c:v>
                </c:pt>
              </c:numCache>
            </c:numRef>
          </c:xVal>
          <c:yVal>
            <c:numRef>
              <c:f>Data!$C$20:$C$29</c:f>
              <c:numCache>
                <c:formatCode>General</c:formatCode>
                <c:ptCount val="10"/>
                <c:pt idx="0">
                  <c:v>14.7</c:v>
                </c:pt>
                <c:pt idx="1">
                  <c:v>17.8</c:v>
                </c:pt>
                <c:pt idx="2">
                  <c:v>27.5</c:v>
                </c:pt>
                <c:pt idx="3">
                  <c:v>31</c:v>
                </c:pt>
                <c:pt idx="4">
                  <c:v>40.700000000000003</c:v>
                </c:pt>
                <c:pt idx="5">
                  <c:v>45.3</c:v>
                </c:pt>
                <c:pt idx="6">
                  <c:v>49.2</c:v>
                </c:pt>
                <c:pt idx="7">
                  <c:v>67.099999999999994</c:v>
                </c:pt>
                <c:pt idx="8">
                  <c:v>82.9</c:v>
                </c:pt>
                <c:pt idx="9">
                  <c:v>100</c:v>
                </c:pt>
              </c:numCache>
            </c:numRef>
          </c:yVal>
          <c:smooth val="0"/>
          <c:extLst>
            <c:ext xmlns:c16="http://schemas.microsoft.com/office/drawing/2014/chart" uri="{C3380CC4-5D6E-409C-BE32-E72D297353CC}">
              <c16:uniqueId val="{00000001-305A-4C61-BA81-2C9DC6A534D0}"/>
            </c:ext>
          </c:extLst>
        </c:ser>
        <c:dLbls>
          <c:showLegendKey val="0"/>
          <c:showVal val="0"/>
          <c:showCatName val="0"/>
          <c:showSerName val="0"/>
          <c:showPercent val="0"/>
          <c:showBubbleSize val="0"/>
        </c:dLbls>
        <c:axId val="426360552"/>
        <c:axId val="426358032"/>
      </c:scatterChart>
      <c:valAx>
        <c:axId val="426360552"/>
        <c:scaling>
          <c:orientation val="minMax"/>
          <c:max val="15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US"/>
                  <a:t>Tests run</a:t>
                </a:r>
              </a:p>
            </c:rich>
          </c:tx>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W"/>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W"/>
          </a:p>
        </c:txPr>
        <c:crossAx val="426358032"/>
        <c:crosses val="autoZero"/>
        <c:crossBetween val="midCat"/>
        <c:majorUnit val="25"/>
      </c:valAx>
      <c:valAx>
        <c:axId val="426358032"/>
        <c:scaling>
          <c:orientation val="minMax"/>
          <c:max val="1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US"/>
                  <a:t>% mutants detected</a:t>
                </a:r>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W"/>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W"/>
          </a:p>
        </c:txPr>
        <c:crossAx val="426360552"/>
        <c:crosses val="autoZero"/>
        <c:crossBetween val="midCat"/>
        <c:majorUnit val="20"/>
      </c:valAx>
      <c:spPr>
        <a:noFill/>
        <a:ln>
          <a:noFill/>
        </a:ln>
        <a:effectLst/>
        <a:extLst>
          <a:ext uri="{91240B29-F687-4F45-9708-019B960494DF}">
            <a14:hiddenLine xmlns:a14="http://schemas.microsoft.com/office/drawing/2010/main">
              <a:noFill/>
            </a14:hiddenLine>
          </a:ext>
        </a:ex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B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a:extLst>
      <a:ext uri="{91240B29-F687-4F45-9708-019B960494DF}">
        <a14:hiddenLine xmlns:a14="http://schemas.microsoft.com/office/drawing/2010/main" w="12700" cap="flat" cmpd="sng" algn="ctr">
          <a:solidFill>
            <a:sysClr val="windowText" lastClr="000000">
              <a:tint val="75000"/>
            </a:sysClr>
          </a:solidFill>
          <a:prstDash val="solid"/>
          <a:round/>
        </a14:hiddenLine>
      </a:ext>
    </a:extLst>
  </c:spPr>
  <c:txPr>
    <a:bodyPr/>
    <a:lstStyle/>
    <a:p>
      <a:pPr>
        <a:defRPr/>
      </a:pPr>
      <a:endParaRPr lang="en-B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1">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064"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2128"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3.xml><?xml version="1.0" encoding="utf-8"?>
<cs:chartStyle xmlns:cs="http://schemas.microsoft.com/office/drawing/2012/chartStyle" xmlns:a="http://schemas.openxmlformats.org/drawingml/2006/main" id="343">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406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[opening presenter]. About 40 seconds. TOML Kit is what Poetry uses to edit pyproject.toml without scrambling it. It is small enough to mutation-test, but its editing code is genuinely complex. The maintainers' own 1,058 tests gave us an honest "before AI" benchmark.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[opening presenter]. About 40 seconds. Walk the pipeline left to right. The key design choice: the AI never saw the maintainers' tests, so its suite is a true AI-only baseline, and it was frozen before mutation testing so the comparison is fair. Hand over to Pako for Week 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Pako (Week 6). About 50 seconds. The AI matched the maintainers on simple, documented functions, and even beat them on api.py. It fell behind on the private editing machinery. Prompts asked for the public API, so the AI tested what it could see. Mention that 3 of its 8 first-run failures were real library bugs.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Pako (Week 6). About 40 seconds. Coverage says a line ran; it does not say anything was checked. 40 negative tests only asserted that a ParseError happened, while the parser actually raises 8 different subclasses. That predicted exactly where mutation testing would find survivors.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Pako (Week 6). About 45 seconds. Close the Week 6 section on the comparison: deterministic tools are fast and repeatable but only see patterns; the LLM read intent, and CrossHair searched the input space systematically. The RTM is the thread that later weeks pick up: the three failing requirements became the TDD fixes in Week 8. Hand over to the Week 7 presenter.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7 presenter]. About 50 seconds. Mutation testing plants small bugs, like flipping &lt; to &lt;=, and checks whether any test fails. A surviving mutant is a bug our tests would let through. The pattern matches Week 6: the editing machinery in container.py and items.py is where the AI suite is weakest. Note for the group: Lethabo's later re-run on the Week 8 code gave 57.8% of 5,389. Agree which figure to present, ideally the pre-TDD baseline shown 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7 presenter]. About 50 seconds. Pick one example to tell in detail; the timezone one lands well: the AI used +05:30 and -08:00. A mutant that read the hour from the wrong position still produced 5 and 8, so nothing failed. +10:00 kills it immediately. Mention that not every survivor is killable: about 15% change nothing observable. Hand over to the property-based testing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7 presenter] (property-based testing was delivered in Week 7). About 50 seconds. This is the Track D deep dive. The key point is shrinking: Hypothesis didn't just fail, it reduced the failing input to the smallest possible case, a single \r. That made the defect obvious to fix in Week 8. Also mention CrossHair, a symbolic-execution tool, independently produced a counterexample for D1.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7 presenter]. About 45 seconds. APFD measures how early an ordering catches faults; 1.0 is perfect. Because we built the order without looking at mutation results, the mutants are a fair test of it. In CI with stop-at-first-failure this means regressions surface after seconds, not after the whole suite. Note: Lethabo's re-run gives APFD 0.772 but maps only 149 of 388 tests; agree on one figure. Hand over to the Week 8 presenter.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8 presenter], as the lead-in to the TDD fixes. About 45 seconds. Point out the spread of techniques: no single method found everything. AI tests found three, the LLM review found two the linters missed, Hypothesis one, mutation analysis one, and the Week 10 mutation run added M1. Three are already fixed test-first. M1 is latent: only the internal base class is affected, not documents or tables.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8 presenter]. About 45 seconds. Each cycle has a commit with only the failing test, a commit with the smallest fix, and a refactor commit with no behaviour change; the commit history is the evidence. The BDD scenario is acceptance level: a real file on disk, edited through the public API. Be ready to explain red-green-refactor if asked.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 9 presenter] (Isago committed this work). About 50 seconds. Note for the group before presenting: the brief asks for a 45–60 minute exploratory session, and the logged session ran 13:12 to 13:16. It also asks for a load test with 20–50 concurrent users (Locust, JMeter or Gatling), while ours is a single-process benchmark. Either redo both or be ready to explain the scope.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Motheo (Week 10). About 50 seconds. Walk the four tiles left to right, then the bottom note. Before presenting, the group should reconcile two numbers with reports/week10/dashboard.csv: (1) the dashboard's coverage (89.4% / 84.2%) was measured on the maintainers' tests/ folder only, while the brief asks for the final hybrid suite; the figures here are all seven test folders. (2) The dashboard counts 8 defects and 1.92 per KLOC because it leaves out D4 (end-of-file marker in an error message, recorded in the Week 6 report); with D4 and M1 the count is 9, giving 2.16 per KLOC. M1 only affects the internal _CustomDict base class: documents, tables and inline tables all override copy(), so | works for users.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[Weeks 11–12 presenter] (CI/CD sits with Desiree’s role), then the live CI/CD demo (about 2 minutes, budget it). Everything in brackets is a placeholder to fill once the Week 11 mutation v2 run and the CI workflow exist. Suggested demo: open a PR that removes one of the K-tests, show the mutation gate turning red, revert, show it green. Rehearse with a cached run in case the network is slow.</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[closing presenter]. About 40 seconds. Three takeaways, then the rule we would follow next time. If time is short, this slide alone summarises the talk.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[closing presenter]. Open the floor. Likely questions and who answers: How do you know the AI suite is AI-only? (Pako, Week 6: prompt log; the AI never saw tests/.) Are surviving mutants all real gaps? (Week 7 presenter: about 15% are equivalent.) Why a risk heuristic, not ML? (Week 7 presenter: no reliable defect labels in the history.) What would you do with more time? (Closing presenter: drive the hybrid suite past 70% and fix D2, D3, D5, D8 test-first.)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30964"/>
            <a:ext cx="10160000" cy="100584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641604"/>
            <a:ext cx="10566400" cy="340359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330964"/>
            <a:ext cx="10160000" cy="100584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2641604"/>
            <a:ext cx="10566400" cy="340359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913CA4D-A5F1-7EC3-96DC-4BE745900D88}"/>
              </a:ext>
            </a:extLst>
          </p:cNvPr>
          <p:cNvSpPr/>
          <p:nvPr/>
        </p:nvSpPr>
        <p:spPr>
          <a:xfrm>
            <a:off x="-2" y="5735893"/>
            <a:ext cx="12192001" cy="1152588"/>
          </a:xfrm>
          <a:prstGeom prst="rect">
            <a:avLst/>
          </a:prstGeom>
          <a:solidFill>
            <a:srgbClr val="3572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2240"/>
              </a:lnSpc>
            </a:pPr>
            <a:endParaRPr lang="en-US" dirty="0"/>
          </a:p>
        </p:txBody>
      </p:sp>
      <p:pic>
        <p:nvPicPr>
          <p:cNvPr id="2" name="Picture 1" descr="Releases · python-poetry/tomlkit">
            <a:extLst>
              <a:ext uri="{FF2B5EF4-FFF2-40B4-BE49-F238E27FC236}">
                <a16:creationId xmlns:a16="http://schemas.microsoft.com/office/drawing/2014/main" id="{590CFCE5-E9D1-E1F3-4A8D-66D2479AB1A3}"/>
              </a:ext>
            </a:extLst>
          </p:cNvPr>
          <p:cNvPicPr>
            <a:picLocks noChangeAspect="1"/>
          </p:cNvPicPr>
          <p:nvPr/>
        </p:nvPicPr>
        <p:blipFill>
          <a:blip r:embed="rId2"/>
          <a:stretch>
            <a:fillRect/>
          </a:stretch>
        </p:blipFill>
        <p:spPr>
          <a:xfrm>
            <a:off x="1" y="-47357"/>
            <a:ext cx="12192000" cy="6096001"/>
          </a:xfrm>
          <a:prstGeom prst="rect">
            <a:avLst/>
          </a:prstGeom>
        </p:spPr>
      </p:pic>
      <p:sp>
        <p:nvSpPr>
          <p:cNvPr id="5" name="TextBox 4">
            <a:extLst>
              <a:ext uri="{FF2B5EF4-FFF2-40B4-BE49-F238E27FC236}">
                <a16:creationId xmlns:a16="http://schemas.microsoft.com/office/drawing/2014/main" id="{CB9D1054-2E36-4123-2433-64A4C4E37E08}"/>
              </a:ext>
            </a:extLst>
          </p:cNvPr>
          <p:cNvSpPr txBox="1"/>
          <p:nvPr/>
        </p:nvSpPr>
        <p:spPr>
          <a:xfrm>
            <a:off x="6903720" y="82296"/>
            <a:ext cx="4892040" cy="274320"/>
          </a:xfrm>
          <a:prstGeom prst="rect">
            <a:avLst/>
          </a:prstGeom>
          <a:noFill/>
        </p:spPr>
        <p:txBody>
          <a:bodyPr wrap="square">
            <a:spAutoFit/>
          </a:bodyPr>
          <a:lstStyle/>
          <a:p>
            <a:pPr algn="r"/>
            <a:r>
              <a:rPr lang="en-US" sz="1100" kern="0" spc="100" dirty="0">
                <a:solidFill>
                  <a:srgbClr val="2F363D"/>
                </a:solidFill>
                <a:latin typeface="JetBrains Mono" pitchFamily="49" charset="0"/>
                <a:ea typeface="JetBrains Mono" pitchFamily="49" charset="-122"/>
                <a:cs typeface="JetBrains Mono" pitchFamily="49" charset="-120"/>
              </a:rPr>
              <a:t>COMP 441  ·  GROUP A  ·  TRACK D</a:t>
            </a:r>
            <a:endParaRPr lang="en-BW" dirty="0">
              <a:solidFill>
                <a:srgbClr val="2F363D"/>
              </a:solidFill>
            </a:endParaRPr>
          </a:p>
        </p:txBody>
      </p:sp>
      <p:sp>
        <p:nvSpPr>
          <p:cNvPr id="7" name="TextBox 6">
            <a:extLst>
              <a:ext uri="{FF2B5EF4-FFF2-40B4-BE49-F238E27FC236}">
                <a16:creationId xmlns:a16="http://schemas.microsoft.com/office/drawing/2014/main" id="{1E4C1A4D-902E-9317-4B8B-B2F6FF6D4973}"/>
              </a:ext>
            </a:extLst>
          </p:cNvPr>
          <p:cNvSpPr txBox="1"/>
          <p:nvPr/>
        </p:nvSpPr>
        <p:spPr>
          <a:xfrm>
            <a:off x="-4" y="6152738"/>
            <a:ext cx="8463280" cy="631648"/>
          </a:xfrm>
          <a:prstGeom prst="rect">
            <a:avLst/>
          </a:prstGeom>
          <a:noFill/>
        </p:spPr>
        <p:txBody>
          <a:bodyPr wrap="square">
            <a:spAutoFit/>
          </a:bodyPr>
          <a:lstStyle/>
          <a:p>
            <a:pPr>
              <a:lnSpc>
                <a:spcPts val="2240"/>
              </a:lnSpc>
            </a:pPr>
            <a:r>
              <a:rPr lang="en-US" sz="1400" dirty="0">
                <a:solidFill>
                  <a:srgbClr val="BFCBE0"/>
                </a:solidFill>
                <a:ea typeface="IBM Plex Sans" pitchFamily="34" charset="-122"/>
                <a:cs typeface="IBM Plex Sans" pitchFamily="34" charset="-120"/>
              </a:rPr>
              <a:t>Motheo Mmolawa · Desiree Chingwaru · Pako J. Motsumi · Isago Isaacs · Lethabo P. Machailo</a:t>
            </a:r>
          </a:p>
        </p:txBody>
      </p:sp>
      <p:sp>
        <p:nvSpPr>
          <p:cNvPr id="9" name="TextBox 8">
            <a:extLst>
              <a:ext uri="{FF2B5EF4-FFF2-40B4-BE49-F238E27FC236}">
                <a16:creationId xmlns:a16="http://schemas.microsoft.com/office/drawing/2014/main" id="{329B1C56-0970-77FD-6B25-40F1CB7480DD}"/>
              </a:ext>
            </a:extLst>
          </p:cNvPr>
          <p:cNvSpPr txBox="1"/>
          <p:nvPr/>
        </p:nvSpPr>
        <p:spPr>
          <a:xfrm>
            <a:off x="1" y="5735893"/>
            <a:ext cx="8445500" cy="416845"/>
          </a:xfrm>
          <a:prstGeom prst="rect">
            <a:avLst/>
          </a:prstGeom>
          <a:noFill/>
        </p:spPr>
        <p:txBody>
          <a:bodyPr wrap="square">
            <a:spAutoFit/>
          </a:bodyPr>
          <a:lstStyle/>
          <a:p>
            <a:pPr marL="0" indent="0" algn="l">
              <a:lnSpc>
                <a:spcPts val="2860"/>
              </a:lnSpc>
              <a:buNone/>
            </a:pPr>
            <a:r>
              <a:rPr lang="en-US" sz="1400" dirty="0">
                <a:solidFill>
                  <a:schemeClr val="bg1"/>
                </a:solidFill>
                <a:latin typeface="IBM Plex Sans" pitchFamily="34" charset="0"/>
                <a:ea typeface="IBM Plex Sans" pitchFamily="34" charset="-122"/>
                <a:cs typeface="IBM Plex Sans" pitchFamily="34" charset="-120"/>
              </a:rPr>
              <a:t>AI-augmented testing of TOML Kit, a style-preserving TOML library for Python</a:t>
            </a:r>
            <a:endParaRPr lang="en-US" sz="1400" dirty="0">
              <a:solidFill>
                <a:schemeClr val="bg1"/>
              </a:solidFill>
            </a:endParaRPr>
          </a:p>
        </p:txBody>
      </p:sp>
      <p:sp>
        <p:nvSpPr>
          <p:cNvPr id="10" name="TextBox 9"/>
          <p:cNvSpPr txBox="1"/>
          <p:nvPr/>
        </p:nvSpPr>
        <p:spPr>
          <a:xfrm>
            <a:off x="6355080" y="429768"/>
            <a:ext cx="5440680" cy="585216"/>
          </a:xfrm>
          <a:prstGeom prst="rect">
            <a:avLst/>
          </a:prstGeom>
          <a:noFill/>
        </p:spPr>
        <p:txBody>
          <a:bodyPr wrap="square" lIns="0" tIns="0" rIns="0" bIns="0" anchor="ctr">
            <a:spAutoFit/>
          </a:bodyPr>
          <a:lstStyle/>
          <a:p>
            <a:pPr algn="r"/>
            <a:r>
              <a:rPr sz="3000" b="1">
                <a:solidFill>
                  <a:srgbClr val="14213D"/>
                </a:solidFill>
                <a:latin typeface="IBM Plex Sans"/>
              </a:rPr>
              <a:t>Can AI Write Our Tests?</a:t>
            </a:r>
          </a:p>
        </p:txBody>
      </p:sp>
    </p:spTree>
    <p:extLst>
      <p:ext uri="{BB962C8B-B14F-4D97-AF65-F5344CB8AC3E}">
        <p14:creationId xmlns:p14="http://schemas.microsoft.com/office/powerpoint/2010/main" val="2735937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THE PROJECT</a:t>
            </a:r>
            <a:endParaRPr lang="en-US" sz="1200" dirty="0"/>
          </a:p>
        </p:txBody>
      </p:sp>
      <p:sp>
        <p:nvSpPr>
          <p:cNvPr id="3" name="Text 1"/>
          <p:cNvSpPr>
            <a:spLocks noGrp="1"/>
          </p:cNvSpPr>
          <p:nvPr>
            <p:ph type="title"/>
          </p:nvPr>
        </p:nvSpPr>
        <p:spPr>
          <a:xfrm>
            <a:off x="812800" y="1381760"/>
            <a:ext cx="981075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We used an AI to draft an initial test suite, then quantified its limitations</a:t>
            </a:r>
            <a:endParaRPr lang="en-US" sz="3600" dirty="0"/>
          </a:p>
        </p:txBody>
      </p:sp>
      <p:sp>
        <p:nvSpPr>
          <p:cNvPr id="4" name="Shape 2"/>
          <p:cNvSpPr/>
          <p:nvPr/>
        </p:nvSpPr>
        <p:spPr>
          <a:xfrm>
            <a:off x="815975" y="2746375"/>
            <a:ext cx="3380264" cy="2051050"/>
          </a:xfrm>
          <a:prstGeom prst="roundRect">
            <a:avLst>
              <a:gd name="adj" fmla="val 4799"/>
            </a:avLst>
          </a:prstGeom>
          <a:solidFill>
            <a:srgbClr val="FFFFFF"/>
          </a:solidFill>
          <a:ln w="6350">
            <a:solidFill>
              <a:srgbClr val="DEDCD3"/>
            </a:solidFill>
            <a:prstDash val="solid"/>
          </a:ln>
        </p:spPr>
        <p:txBody>
          <a:bodyPr/>
          <a:lstStyle/>
          <a:p>
            <a:endParaRPr/>
          </a:p>
        </p:txBody>
      </p:sp>
      <p:sp>
        <p:nvSpPr>
          <p:cNvPr id="5" name="Text 3"/>
          <p:cNvSpPr/>
          <p:nvPr/>
        </p:nvSpPr>
        <p:spPr>
          <a:xfrm>
            <a:off x="1071880" y="3002280"/>
            <a:ext cx="2954507"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4213D"/>
                </a:solidFill>
                <a:latin typeface="IBM Plex Sans" pitchFamily="34" charset="0"/>
                <a:ea typeface="IBM Plex Sans" pitchFamily="34" charset="-122"/>
                <a:cs typeface="IBM Plex Sans" pitchFamily="34" charset="-120"/>
              </a:rPr>
              <a:t>TOML Kit</a:t>
            </a:r>
            <a:endParaRPr lang="en-US" sz="3600" dirty="0"/>
          </a:p>
        </p:txBody>
      </p:sp>
      <p:sp>
        <p:nvSpPr>
          <p:cNvPr id="6" name="Text 4"/>
          <p:cNvSpPr/>
          <p:nvPr/>
        </p:nvSpPr>
        <p:spPr>
          <a:xfrm>
            <a:off x="1071880" y="3718560"/>
            <a:ext cx="2954507" cy="84836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4A5568"/>
                </a:solidFill>
                <a:latin typeface="IBM Plex Sans" pitchFamily="34" charset="0"/>
                <a:ea typeface="IBM Plex Sans" pitchFamily="34" charset="-122"/>
                <a:cs typeface="IBM Plex Sans" pitchFamily="34" charset="-120"/>
              </a:rPr>
              <a:t>Parses and edits TOML files while preserving comments and whitespace</a:t>
            </a:r>
            <a:endParaRPr lang="en-US" sz="1600" dirty="0"/>
          </a:p>
        </p:txBody>
      </p:sp>
      <p:sp>
        <p:nvSpPr>
          <p:cNvPr id="7" name="Shape 5"/>
          <p:cNvSpPr/>
          <p:nvPr/>
        </p:nvSpPr>
        <p:spPr>
          <a:xfrm>
            <a:off x="4405789" y="2746375"/>
            <a:ext cx="3380343" cy="2051050"/>
          </a:xfrm>
          <a:prstGeom prst="roundRect">
            <a:avLst>
              <a:gd name="adj" fmla="val 4799"/>
            </a:avLst>
          </a:prstGeom>
          <a:solidFill>
            <a:srgbClr val="FFFFFF"/>
          </a:solidFill>
          <a:ln w="6350">
            <a:solidFill>
              <a:srgbClr val="DEDCD3"/>
            </a:solidFill>
            <a:prstDash val="solid"/>
          </a:ln>
        </p:spPr>
        <p:txBody>
          <a:bodyPr/>
          <a:lstStyle/>
          <a:p>
            <a:endParaRPr/>
          </a:p>
        </p:txBody>
      </p:sp>
      <p:sp>
        <p:nvSpPr>
          <p:cNvPr id="8" name="Text 6"/>
          <p:cNvSpPr/>
          <p:nvPr/>
        </p:nvSpPr>
        <p:spPr>
          <a:xfrm>
            <a:off x="4661694" y="3002280"/>
            <a:ext cx="2954589"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4213D"/>
                </a:solidFill>
                <a:latin typeface="IBM Plex Sans" pitchFamily="34" charset="0"/>
                <a:ea typeface="IBM Plex Sans" pitchFamily="34" charset="-122"/>
                <a:cs typeface="IBM Plex Sans" pitchFamily="34" charset="-120"/>
              </a:rPr>
              <a:t>4,158</a:t>
            </a:r>
            <a:endParaRPr lang="en-US" sz="3600" dirty="0"/>
          </a:p>
        </p:txBody>
      </p:sp>
      <p:sp>
        <p:nvSpPr>
          <p:cNvPr id="9" name="Text 7"/>
          <p:cNvSpPr/>
          <p:nvPr/>
        </p:nvSpPr>
        <p:spPr>
          <a:xfrm>
            <a:off x="4661694" y="3718560"/>
            <a:ext cx="2954589" cy="84836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4A5568"/>
                </a:solidFill>
                <a:latin typeface="IBM Plex Sans" pitchFamily="34" charset="0"/>
                <a:ea typeface="IBM Plex Sans" pitchFamily="34" charset="-122"/>
                <a:cs typeface="IBM Plex Sans" pitchFamily="34" charset="-120"/>
              </a:rPr>
              <a:t>lines of Python source, plus 1,058 maintainer-written tests</a:t>
            </a:r>
            <a:endParaRPr lang="en-US" sz="1600" dirty="0"/>
          </a:p>
        </p:txBody>
      </p:sp>
      <p:sp>
        <p:nvSpPr>
          <p:cNvPr id="10" name="Shape 8"/>
          <p:cNvSpPr/>
          <p:nvPr/>
        </p:nvSpPr>
        <p:spPr>
          <a:xfrm>
            <a:off x="7995682" y="2746375"/>
            <a:ext cx="3380343" cy="2051050"/>
          </a:xfrm>
          <a:prstGeom prst="roundRect">
            <a:avLst>
              <a:gd name="adj" fmla="val 4799"/>
            </a:avLst>
          </a:prstGeom>
          <a:solidFill>
            <a:srgbClr val="FFFFFF"/>
          </a:solidFill>
          <a:ln w="6350">
            <a:solidFill>
              <a:srgbClr val="DEDCD3"/>
            </a:solidFill>
            <a:prstDash val="solid"/>
          </a:ln>
        </p:spPr>
        <p:txBody>
          <a:bodyPr/>
          <a:lstStyle/>
          <a:p>
            <a:endParaRPr/>
          </a:p>
        </p:txBody>
      </p:sp>
      <p:sp>
        <p:nvSpPr>
          <p:cNvPr id="11" name="Text 9"/>
          <p:cNvSpPr/>
          <p:nvPr/>
        </p:nvSpPr>
        <p:spPr>
          <a:xfrm>
            <a:off x="8251587" y="3002280"/>
            <a:ext cx="2954589"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4213D"/>
                </a:solidFill>
                <a:latin typeface="IBM Plex Sans" pitchFamily="34" charset="0"/>
                <a:ea typeface="IBM Plex Sans" pitchFamily="34" charset="-122"/>
                <a:cs typeface="IBM Plex Sans" pitchFamily="34" charset="-120"/>
              </a:rPr>
              <a:t>Track D</a:t>
            </a:r>
            <a:endParaRPr lang="en-US" sz="3600" dirty="0"/>
          </a:p>
        </p:txBody>
      </p:sp>
      <p:sp>
        <p:nvSpPr>
          <p:cNvPr id="12" name="Text 10"/>
          <p:cNvSpPr/>
          <p:nvPr/>
        </p:nvSpPr>
        <p:spPr>
          <a:xfrm>
            <a:off x="8251587" y="3718560"/>
            <a:ext cx="2954589" cy="574040"/>
          </a:xfrm>
          <a:prstGeom prst="rect">
            <a:avLst/>
          </a:prstGeom>
          <a:noFill/>
          <a:ln/>
        </p:spPr>
        <p:txBody>
          <a:bodyPr wrap="square" lIns="0" tIns="0" rIns="0" bIns="0" rtlCol="0" anchor="t">
            <a:normAutofit fontScale="92500"/>
          </a:bodyPr>
          <a:lstStyle/>
          <a:p>
            <a:pPr marL="0" indent="0" algn="l">
              <a:lnSpc>
                <a:spcPts val="2160"/>
              </a:lnSpc>
              <a:buNone/>
            </a:pPr>
            <a:r>
              <a:rPr lang="en-US" sz="1600" dirty="0">
                <a:solidFill>
                  <a:srgbClr val="4A5568"/>
                </a:solidFill>
                <a:latin typeface="IBM Plex Sans" pitchFamily="34" charset="0"/>
                <a:ea typeface="IBM Plex Sans" pitchFamily="34" charset="-122"/>
                <a:cs typeface="IBM Plex Sans" pitchFamily="34" charset="-120"/>
              </a:rPr>
              <a:t>Developer library track: property-based testing with Hypothesis</a:t>
            </a:r>
            <a:endParaRPr lang="en-US" sz="1600" dirty="0"/>
          </a:p>
        </p:txBody>
      </p:sp>
      <p:sp>
        <p:nvSpPr>
          <p:cNvPr id="13" name="Text 11"/>
          <p:cNvSpPr/>
          <p:nvPr/>
        </p:nvSpPr>
        <p:spPr>
          <a:xfrm>
            <a:off x="812800" y="6238241"/>
            <a:ext cx="78486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Repo: the-dezeray/tomlkit (fork of python-poetry/tomlkit) · base commit 8c959b5</a:t>
            </a:r>
            <a:endParaRPr lang="en-US" sz="1200" dirty="0"/>
          </a:p>
        </p:txBody>
      </p:sp>
      <p:sp>
        <p:nvSpPr>
          <p:cNvPr id="14" name="Text 12"/>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OUR APPROACH</a:t>
            </a:r>
            <a:endParaRPr lang="en-US" sz="1200" dirty="0"/>
          </a:p>
        </p:txBody>
      </p:sp>
      <p:sp>
        <p:nvSpPr>
          <p:cNvPr id="3" name="Text 1"/>
          <p:cNvSpPr>
            <a:spLocks noGrp="1"/>
          </p:cNvSpPr>
          <p:nvPr>
            <p:ph type="title"/>
          </p:nvPr>
        </p:nvSpPr>
        <p:spPr>
          <a:xfrm>
            <a:off x="812800" y="1381761"/>
            <a:ext cx="10883392"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We treated the AI-generated tests as a first draft and measured their limitations</a:t>
            </a:r>
            <a:endParaRPr lang="en-US" sz="3600" dirty="0"/>
          </a:p>
        </p:txBody>
      </p:sp>
      <p:sp>
        <p:nvSpPr>
          <p:cNvPr id="4" name="Shape 2"/>
          <p:cNvSpPr/>
          <p:nvPr/>
        </p:nvSpPr>
        <p:spPr>
          <a:xfrm>
            <a:off x="812800" y="2743200"/>
            <a:ext cx="2023824" cy="1671320"/>
          </a:xfrm>
          <a:prstGeom prst="roundRect">
            <a:avLst>
              <a:gd name="adj" fmla="val 6079"/>
            </a:avLst>
          </a:prstGeom>
          <a:solidFill>
            <a:srgbClr val="14213D"/>
          </a:solidFill>
          <a:ln/>
        </p:spPr>
        <p:txBody>
          <a:bodyPr/>
          <a:lstStyle/>
          <a:p>
            <a:endParaRPr/>
          </a:p>
        </p:txBody>
      </p:sp>
      <p:sp>
        <p:nvSpPr>
          <p:cNvPr id="5" name="Text 3"/>
          <p:cNvSpPr/>
          <p:nvPr/>
        </p:nvSpPr>
        <p:spPr>
          <a:xfrm>
            <a:off x="1016000" y="2946400"/>
            <a:ext cx="16682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3F0"/>
                </a:solidFill>
                <a:latin typeface="JetBrains Mono" pitchFamily="49" charset="0"/>
                <a:ea typeface="JetBrains Mono" pitchFamily="49" charset="-122"/>
                <a:cs typeface="JetBrains Mono" pitchFamily="49" charset="-120"/>
              </a:rPr>
              <a:t>WEEK 6</a:t>
            </a:r>
            <a:endParaRPr lang="en-US" sz="1200" dirty="0"/>
          </a:p>
        </p:txBody>
      </p:sp>
      <p:sp>
        <p:nvSpPr>
          <p:cNvPr id="6" name="Text 4"/>
          <p:cNvSpPr/>
          <p:nvPr/>
        </p:nvSpPr>
        <p:spPr>
          <a:xfrm>
            <a:off x="1016000" y="3235961"/>
            <a:ext cx="1668224" cy="5130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1"/>
                </a:solidFill>
                <a:latin typeface="IBM Plex Sans" pitchFamily="34" charset="0"/>
                <a:ea typeface="IBM Plex Sans" pitchFamily="34" charset="-122"/>
                <a:cs typeface="IBM Plex Sans" pitchFamily="34" charset="-120"/>
              </a:rPr>
              <a:t>AI generates the baseline</a:t>
            </a:r>
            <a:endParaRPr lang="en-US" sz="1600" dirty="0"/>
          </a:p>
        </p:txBody>
      </p:sp>
      <p:sp>
        <p:nvSpPr>
          <p:cNvPr id="7" name="Text 5"/>
          <p:cNvSpPr/>
          <p:nvPr/>
        </p:nvSpPr>
        <p:spPr>
          <a:xfrm>
            <a:off x="1016000" y="3799841"/>
            <a:ext cx="166822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BFCBE0"/>
                </a:solidFill>
                <a:latin typeface="IBM Plex Sans" pitchFamily="34" charset="0"/>
                <a:ea typeface="IBM Plex Sans" pitchFamily="34" charset="-122"/>
                <a:cs typeface="IBM Plex Sans" pitchFamily="34" charset="-120"/>
              </a:rPr>
              <a:t>388 tests from 7 logged prompts</a:t>
            </a:r>
            <a:endParaRPr lang="en-US" sz="1200" dirty="0"/>
          </a:p>
        </p:txBody>
      </p:sp>
      <p:sp>
        <p:nvSpPr>
          <p:cNvPr id="8" name="Shape 6"/>
          <p:cNvSpPr/>
          <p:nvPr/>
        </p:nvSpPr>
        <p:spPr>
          <a:xfrm>
            <a:off x="2941399" y="2746375"/>
            <a:ext cx="2027714" cy="1664970"/>
          </a:xfrm>
          <a:prstGeom prst="roundRect">
            <a:avLst>
              <a:gd name="adj" fmla="val 5912"/>
            </a:avLst>
          </a:prstGeom>
          <a:solidFill>
            <a:srgbClr val="FFFFFF"/>
          </a:solidFill>
          <a:ln w="6350">
            <a:solidFill>
              <a:srgbClr val="DEDCD3"/>
            </a:solidFill>
            <a:prstDash val="solid"/>
          </a:ln>
        </p:spPr>
        <p:txBody>
          <a:bodyPr/>
          <a:lstStyle/>
          <a:p>
            <a:endParaRPr/>
          </a:p>
        </p:txBody>
      </p:sp>
      <p:sp>
        <p:nvSpPr>
          <p:cNvPr id="9" name="Text 7"/>
          <p:cNvSpPr/>
          <p:nvPr/>
        </p:nvSpPr>
        <p:spPr>
          <a:xfrm>
            <a:off x="3146504" y="2951480"/>
            <a:ext cx="16683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FB8"/>
                </a:solidFill>
                <a:latin typeface="JetBrains Mono" pitchFamily="49" charset="0"/>
                <a:ea typeface="JetBrains Mono" pitchFamily="49" charset="-122"/>
                <a:cs typeface="JetBrains Mono" pitchFamily="49" charset="-120"/>
              </a:rPr>
              <a:t>WEEK 6</a:t>
            </a:r>
            <a:endParaRPr lang="en-US" sz="1200" dirty="0"/>
          </a:p>
        </p:txBody>
      </p:sp>
      <p:sp>
        <p:nvSpPr>
          <p:cNvPr id="10" name="Text 8"/>
          <p:cNvSpPr/>
          <p:nvPr/>
        </p:nvSpPr>
        <p:spPr>
          <a:xfrm>
            <a:off x="3146504" y="3241041"/>
            <a:ext cx="166830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Measure</a:t>
            </a:r>
            <a:endParaRPr lang="en-US" sz="1600" dirty="0"/>
          </a:p>
        </p:txBody>
      </p:sp>
      <p:sp>
        <p:nvSpPr>
          <p:cNvPr id="11" name="Text 9"/>
          <p:cNvSpPr/>
          <p:nvPr/>
        </p:nvSpPr>
        <p:spPr>
          <a:xfrm>
            <a:off x="3146504" y="3561080"/>
            <a:ext cx="166830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Coverage, assertion audit and static analysis</a:t>
            </a:r>
            <a:endParaRPr lang="en-US" sz="1200" dirty="0"/>
          </a:p>
        </p:txBody>
      </p:sp>
      <p:sp>
        <p:nvSpPr>
          <p:cNvPr id="12" name="Shape 10"/>
          <p:cNvSpPr/>
          <p:nvPr/>
        </p:nvSpPr>
        <p:spPr>
          <a:xfrm>
            <a:off x="5077063" y="2746375"/>
            <a:ext cx="2027634" cy="1664970"/>
          </a:xfrm>
          <a:prstGeom prst="roundRect">
            <a:avLst>
              <a:gd name="adj" fmla="val 5912"/>
            </a:avLst>
          </a:prstGeom>
          <a:solidFill>
            <a:srgbClr val="FFFFFF"/>
          </a:solidFill>
          <a:ln w="6350">
            <a:solidFill>
              <a:srgbClr val="DEDCD3"/>
            </a:solidFill>
            <a:prstDash val="solid"/>
          </a:ln>
        </p:spPr>
        <p:txBody>
          <a:bodyPr/>
          <a:lstStyle/>
          <a:p>
            <a:endParaRPr/>
          </a:p>
        </p:txBody>
      </p:sp>
      <p:sp>
        <p:nvSpPr>
          <p:cNvPr id="13" name="Text 11"/>
          <p:cNvSpPr/>
          <p:nvPr/>
        </p:nvSpPr>
        <p:spPr>
          <a:xfrm>
            <a:off x="5282168" y="2951480"/>
            <a:ext cx="166822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FB8"/>
                </a:solidFill>
                <a:latin typeface="JetBrains Mono" pitchFamily="49" charset="0"/>
                <a:ea typeface="JetBrains Mono" pitchFamily="49" charset="-122"/>
                <a:cs typeface="JetBrains Mono" pitchFamily="49" charset="-120"/>
              </a:rPr>
              <a:t>WEEK 7</a:t>
            </a:r>
            <a:endParaRPr lang="en-US" sz="1200" dirty="0"/>
          </a:p>
        </p:txBody>
      </p:sp>
      <p:sp>
        <p:nvSpPr>
          <p:cNvPr id="14" name="Text 12"/>
          <p:cNvSpPr/>
          <p:nvPr/>
        </p:nvSpPr>
        <p:spPr>
          <a:xfrm>
            <a:off x="5282168" y="3241041"/>
            <a:ext cx="166822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Mutation testing</a:t>
            </a:r>
            <a:endParaRPr lang="en-US" sz="1600" dirty="0"/>
          </a:p>
        </p:txBody>
      </p:sp>
      <p:sp>
        <p:nvSpPr>
          <p:cNvPr id="15" name="Text 13"/>
          <p:cNvSpPr/>
          <p:nvPr/>
        </p:nvSpPr>
        <p:spPr>
          <a:xfrm>
            <a:off x="5282168" y="3561080"/>
            <a:ext cx="1668224" cy="4368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5,389 mutants generated by mutmut</a:t>
            </a:r>
            <a:endParaRPr lang="en-US" sz="1200" dirty="0"/>
          </a:p>
        </p:txBody>
      </p:sp>
      <p:sp>
        <p:nvSpPr>
          <p:cNvPr id="16" name="Shape 14"/>
          <p:cNvSpPr/>
          <p:nvPr/>
        </p:nvSpPr>
        <p:spPr>
          <a:xfrm>
            <a:off x="7212647" y="2746375"/>
            <a:ext cx="2027714" cy="1664970"/>
          </a:xfrm>
          <a:prstGeom prst="roundRect">
            <a:avLst>
              <a:gd name="adj" fmla="val 5912"/>
            </a:avLst>
          </a:prstGeom>
          <a:solidFill>
            <a:srgbClr val="FFFFFF"/>
          </a:solidFill>
          <a:ln w="6350">
            <a:solidFill>
              <a:srgbClr val="DEDCD3"/>
            </a:solidFill>
            <a:prstDash val="solid"/>
          </a:ln>
        </p:spPr>
        <p:txBody>
          <a:bodyPr/>
          <a:lstStyle/>
          <a:p>
            <a:endParaRPr/>
          </a:p>
        </p:txBody>
      </p:sp>
      <p:sp>
        <p:nvSpPr>
          <p:cNvPr id="17" name="Text 15"/>
          <p:cNvSpPr/>
          <p:nvPr/>
        </p:nvSpPr>
        <p:spPr>
          <a:xfrm>
            <a:off x="7417753" y="2951480"/>
            <a:ext cx="16683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FB8"/>
                </a:solidFill>
                <a:latin typeface="JetBrains Mono" pitchFamily="49" charset="0"/>
                <a:ea typeface="JetBrains Mono" pitchFamily="49" charset="-122"/>
                <a:cs typeface="JetBrains Mono" pitchFamily="49" charset="-120"/>
              </a:rPr>
              <a:t>WEEKS 7–9</a:t>
            </a:r>
            <a:endParaRPr lang="en-US" sz="1200" dirty="0"/>
          </a:p>
        </p:txBody>
      </p:sp>
      <p:sp>
        <p:nvSpPr>
          <p:cNvPr id="18" name="Text 16"/>
          <p:cNvSpPr/>
          <p:nvPr/>
        </p:nvSpPr>
        <p:spPr>
          <a:xfrm>
            <a:off x="7417753" y="3241041"/>
            <a:ext cx="166830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Address the gaps</a:t>
            </a:r>
            <a:endParaRPr lang="en-US" sz="1600" dirty="0"/>
          </a:p>
        </p:txBody>
      </p:sp>
      <p:sp>
        <p:nvSpPr>
          <p:cNvPr id="19" name="Text 17"/>
          <p:cNvSpPr/>
          <p:nvPr/>
        </p:nvSpPr>
        <p:spPr>
          <a:xfrm>
            <a:off x="7417753" y="3561080"/>
            <a:ext cx="1668304" cy="436880"/>
          </a:xfrm>
          <a:prstGeom prst="rect">
            <a:avLst/>
          </a:prstGeom>
          <a:noFill/>
          <a:ln/>
        </p:spPr>
        <p:txBody>
          <a:bodyPr wrap="square" lIns="0" tIns="0" rIns="0" bIns="0" rtlCol="0" anchor="t">
            <a:normAutofit fontScale="77500" lnSpcReduction="20000"/>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Manual, property-based, TDD, BDD and integration tests</a:t>
            </a:r>
            <a:endParaRPr lang="en-US" sz="1200" dirty="0"/>
          </a:p>
        </p:txBody>
      </p:sp>
      <p:sp>
        <p:nvSpPr>
          <p:cNvPr id="20" name="Shape 18"/>
          <p:cNvSpPr/>
          <p:nvPr/>
        </p:nvSpPr>
        <p:spPr>
          <a:xfrm>
            <a:off x="9348312" y="2746375"/>
            <a:ext cx="2027714" cy="1664970"/>
          </a:xfrm>
          <a:prstGeom prst="roundRect">
            <a:avLst>
              <a:gd name="adj" fmla="val 5912"/>
            </a:avLst>
          </a:prstGeom>
          <a:solidFill>
            <a:srgbClr val="FFFFFF"/>
          </a:solidFill>
          <a:ln w="6350">
            <a:solidFill>
              <a:srgbClr val="DEDCD3"/>
            </a:solidFill>
            <a:prstDash val="solid"/>
          </a:ln>
        </p:spPr>
        <p:txBody>
          <a:bodyPr/>
          <a:lstStyle/>
          <a:p>
            <a:endParaRPr/>
          </a:p>
        </p:txBody>
      </p:sp>
      <p:sp>
        <p:nvSpPr>
          <p:cNvPr id="21" name="Text 19"/>
          <p:cNvSpPr/>
          <p:nvPr/>
        </p:nvSpPr>
        <p:spPr>
          <a:xfrm>
            <a:off x="9553416" y="2951480"/>
            <a:ext cx="16683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B5FB8"/>
                </a:solidFill>
                <a:latin typeface="JetBrains Mono" pitchFamily="49" charset="0"/>
                <a:ea typeface="JetBrains Mono" pitchFamily="49" charset="-122"/>
                <a:cs typeface="JetBrains Mono" pitchFamily="49" charset="-120"/>
              </a:rPr>
              <a:t>WEEKS 10–12</a:t>
            </a:r>
            <a:endParaRPr lang="en-US" sz="1200" dirty="0"/>
          </a:p>
        </p:txBody>
      </p:sp>
      <p:sp>
        <p:nvSpPr>
          <p:cNvPr id="22" name="Text 20"/>
          <p:cNvSpPr/>
          <p:nvPr/>
        </p:nvSpPr>
        <p:spPr>
          <a:xfrm>
            <a:off x="9553416" y="3241041"/>
            <a:ext cx="166830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Gate in CI</a:t>
            </a:r>
            <a:endParaRPr lang="en-US" sz="1600" dirty="0"/>
          </a:p>
        </p:txBody>
      </p:sp>
      <p:sp>
        <p:nvSpPr>
          <p:cNvPr id="23" name="Text 21"/>
          <p:cNvSpPr/>
          <p:nvPr/>
        </p:nvSpPr>
        <p:spPr>
          <a:xfrm>
            <a:off x="9553416" y="3561080"/>
            <a:ext cx="1668304" cy="642620"/>
          </a:xfrm>
          <a:prstGeom prst="rect">
            <a:avLst/>
          </a:prstGeom>
          <a:noFill/>
          <a:ln/>
        </p:spPr>
        <p:txBody>
          <a:bodyPr wrap="square" lIns="0" tIns="0" rIns="0" bIns="0" rtlCol="0" anchor="t">
            <a:normAutofit fontScale="85000" lnSpcReduction="10000"/>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Coverage and traceability gates block the build; mutation testing runs nightly</a:t>
            </a:r>
            <a:endParaRPr lang="en-US" sz="1200" dirty="0"/>
          </a:p>
        </p:txBody>
      </p:sp>
      <p:sp>
        <p:nvSpPr>
          <p:cNvPr id="24" name="Text 22"/>
          <p:cNvSpPr/>
          <p:nvPr/>
        </p:nvSpPr>
        <p:spPr>
          <a:xfrm>
            <a:off x="812800" y="4770120"/>
            <a:ext cx="98107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Every claim in this deck is supported by a re-runnable script in the repository, not by the AI’s description of its own tests.</a:t>
            </a:r>
            <a:endParaRPr lang="en-US" sz="1600" dirty="0"/>
          </a:p>
        </p:txBody>
      </p:sp>
      <p:sp>
        <p:nvSpPr>
          <p:cNvPr id="25" name="Text 23"/>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WEEK 6 · AI BASELINE</a:t>
            </a:r>
            <a:endParaRPr lang="en-US" sz="1200" dirty="0"/>
          </a:p>
        </p:txBody>
      </p:sp>
      <p:sp>
        <p:nvSpPr>
          <p:cNvPr id="3" name="Text 1"/>
          <p:cNvSpPr>
            <a:spLocks noGrp="1"/>
          </p:cNvSpPr>
          <p:nvPr>
            <p:ph type="title"/>
          </p:nvPr>
        </p:nvSpPr>
        <p:spPr>
          <a:xfrm>
            <a:off x="812800" y="1330961"/>
            <a:ext cx="1046480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The AI suite covered most of the code but under-tested its most complex paths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651760"/>
          <a:ext cx="4866641" cy="2032000"/>
        </p:xfrm>
        <a:graphic>
          <a:graphicData uri="http://schemas.openxmlformats.org/drawingml/2006/table">
            <a:tbl>
              <a:tblPr/>
              <a:tblGrid>
                <a:gridCol w="2216490">
                  <a:extLst>
                    <a:ext uri="{9D8B030D-6E8A-4147-A177-3AD203B41FA5}">
                      <a16:colId xmlns:a16="http://schemas.microsoft.com/office/drawing/2014/main" val="20000"/>
                    </a:ext>
                  </a:extLst>
                </a:gridCol>
                <a:gridCol w="1300983">
                  <a:extLst>
                    <a:ext uri="{9D8B030D-6E8A-4147-A177-3AD203B41FA5}">
                      <a16:colId xmlns:a16="http://schemas.microsoft.com/office/drawing/2014/main" val="20001"/>
                    </a:ext>
                  </a:extLst>
                </a:gridCol>
                <a:gridCol w="1349168">
                  <a:extLst>
                    <a:ext uri="{9D8B030D-6E8A-4147-A177-3AD203B41FA5}">
                      <a16:colId xmlns:a16="http://schemas.microsoft.com/office/drawing/2014/main" val="20002"/>
                    </a:ext>
                  </a:extLst>
                </a:gridCol>
              </a:tblGrid>
              <a:tr h="436880">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Coverage</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AI-only</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Maintainers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0"/>
                  </a:ext>
                </a:extLst>
              </a:tr>
              <a:tr h="436880">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Statements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81.7%</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89.5%</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Branches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66.3%</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83.1%</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2"/>
                  </a:ext>
                </a:extLst>
              </a:tr>
              <a:tr h="721360">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container.py branches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r">
                        <a:lnSpc>
                          <a:spcPts val="2240"/>
                        </a:lnSpc>
                        <a:buNone/>
                      </a:pPr>
                      <a:r>
                        <a:rPr lang="en-US" sz="1600" dirty="0">
                          <a:solidFill>
                            <a:srgbClr val="A9480F"/>
                          </a:solidFill>
                          <a:latin typeface="IBM Plex Sans" pitchFamily="34" charset="0"/>
                          <a:ea typeface="IBM Plex Sans" pitchFamily="34" charset="-122"/>
                          <a:cs typeface="IBM Plex Sans" pitchFamily="34" charset="-120"/>
                        </a:rPr>
                        <a:t>58.2%</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IBM Plex Sans" pitchFamily="34" charset="0"/>
                          <a:ea typeface="IBM Plex Sans" pitchFamily="34" charset="-122"/>
                          <a:cs typeface="IBM Plex Sans" pitchFamily="34" charset="-120"/>
                        </a:rPr>
                        <a:t>83.6%</a:t>
                      </a:r>
                      <a:endParaRPr lang="en-US" sz="1600" dirty="0">
                        <a:latin typeface="IBM Plex Sans" charset="0"/>
                        <a:ea typeface="IBM Plex Sans" charset="0"/>
                        <a:cs typeface="IBM Plex Sans" charset="0"/>
                      </a:endParaRPr>
                    </a:p>
                  </a:txBody>
                  <a:tcPr marL="71120" marR="71120" marT="71120" marB="7112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4836161"/>
            <a:ext cx="5023104"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388 tests · 379 of 387 passed on first execution · tool: Claude, 7 prompts in tests_ai/PROMPT_LOG.md</a:t>
            </a:r>
            <a:endParaRPr lang="en-US" sz="1200" dirty="0"/>
          </a:p>
        </p:txBody>
      </p:sp>
      <p:sp>
        <p:nvSpPr>
          <p:cNvPr id="6" name="Shape 3"/>
          <p:cNvSpPr/>
          <p:nvPr/>
        </p:nvSpPr>
        <p:spPr>
          <a:xfrm>
            <a:off x="5994400" y="2641600"/>
            <a:ext cx="5384800" cy="2839720"/>
          </a:xfrm>
          <a:prstGeom prst="roundRect">
            <a:avLst>
              <a:gd name="adj" fmla="val 3578"/>
            </a:avLst>
          </a:prstGeom>
          <a:solidFill>
            <a:srgbClr val="14213D"/>
          </a:solidFill>
          <a:ln/>
        </p:spPr>
        <p:txBody>
          <a:bodyPr/>
          <a:lstStyle/>
          <a:p>
            <a:endParaRPr/>
          </a:p>
        </p:txBody>
      </p:sp>
      <p:sp>
        <p:nvSpPr>
          <p:cNvPr id="7" name="Text 4"/>
          <p:cNvSpPr/>
          <p:nvPr/>
        </p:nvSpPr>
        <p:spPr>
          <a:xfrm>
            <a:off x="6248400" y="2895600"/>
            <a:ext cx="502310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3F0"/>
                </a:solidFill>
                <a:latin typeface="JetBrains Mono" pitchFamily="49" charset="0"/>
                <a:ea typeface="JetBrains Mono" pitchFamily="49" charset="-122"/>
                <a:cs typeface="JetBrains Mono" pitchFamily="49" charset="-120"/>
              </a:rPr>
              <a:t>BIGGEST GAP</a:t>
            </a:r>
            <a:endParaRPr lang="en-US" sz="1200" dirty="0"/>
          </a:p>
        </p:txBody>
      </p:sp>
      <p:sp>
        <p:nvSpPr>
          <p:cNvPr id="8" name="Text 5"/>
          <p:cNvSpPr/>
          <p:nvPr/>
        </p:nvSpPr>
        <p:spPr>
          <a:xfrm>
            <a:off x="6248400" y="3210561"/>
            <a:ext cx="502310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7F6F1"/>
                </a:solidFill>
                <a:latin typeface="JetBrains Mono" pitchFamily="49" charset="0"/>
                <a:ea typeface="JetBrains Mono" pitchFamily="49" charset="-122"/>
                <a:cs typeface="JetBrains Mono" pitchFamily="49" charset="-120"/>
              </a:rPr>
              <a:t>Container.append</a:t>
            </a:r>
            <a:endParaRPr lang="en-US" sz="2200" dirty="0"/>
          </a:p>
        </p:txBody>
      </p:sp>
      <p:sp>
        <p:nvSpPr>
          <p:cNvPr id="9" name="Text 6"/>
          <p:cNvSpPr/>
          <p:nvPr/>
        </p:nvSpPr>
        <p:spPr>
          <a:xfrm>
            <a:off x="6248400" y="3703320"/>
            <a:ext cx="5023104"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BE0"/>
                </a:solidFill>
                <a:latin typeface="IBM Plex Sans" pitchFamily="34" charset="0"/>
                <a:ea typeface="IBM Plex Sans" pitchFamily="34" charset="-122"/>
                <a:cs typeface="IBM Plex Sans" pitchFamily="34" charset="-120"/>
              </a:rPr>
              <a:t>Cyclomatic complexity 74, the highest in the library. Thirty-two lines were never executed by the AI suite.</a:t>
            </a:r>
            <a:endParaRPr lang="en-US" sz="1600" dirty="0"/>
          </a:p>
        </p:txBody>
      </p:sp>
      <p:sp>
        <p:nvSpPr>
          <p:cNvPr id="10" name="Text 7"/>
          <p:cNvSpPr/>
          <p:nvPr/>
        </p:nvSpPr>
        <p:spPr>
          <a:xfrm>
            <a:off x="6248400" y="4658361"/>
            <a:ext cx="502310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BE0"/>
                </a:solidFill>
                <a:latin typeface="IBM Plex Sans" pitchFamily="34" charset="0"/>
                <a:ea typeface="IBM Plex Sans" pitchFamily="34" charset="-122"/>
                <a:cs typeface="IBM Plex Sans" pitchFamily="34" charset="-120"/>
              </a:rPr>
              <a:t>This function preserves formatting when a document is edited.</a:t>
            </a:r>
            <a:endParaRPr lang="en-US" sz="1600" dirty="0"/>
          </a:p>
        </p:txBody>
      </p:sp>
      <p:sp>
        <p:nvSpPr>
          <p:cNvPr id="11" name="Text 8"/>
          <p:cNvSpPr/>
          <p:nvPr/>
        </p:nvSpPr>
        <p:spPr>
          <a:xfrm>
            <a:off x="812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pytest-cov 7.1, branch coverage, separate runs of tests_ai/ and tests/ · week6/cov_ai.json</a:t>
            </a:r>
            <a:endParaRPr lang="en-US" sz="1200" dirty="0"/>
          </a:p>
        </p:txBody>
      </p:sp>
      <p:sp>
        <p:nvSpPr>
          <p:cNvPr id="12" name="Text 9"/>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5504"/>
          </a:xfrm>
          <a:prstGeom prst="rect">
            <a:avLst/>
          </a:prstGeom>
          <a:noFill/>
          <a:ln/>
        </p:spPr>
        <p:txBody>
          <a:bodyPr wrap="square" lIns="0" tIns="0" rIns="0" bIns="0" rtlCol="0" anchor="t">
            <a:normAutofit/>
          </a:bodyPr>
          <a:lstStyle/>
          <a:p>
            <a:pPr marL="0" indent="0" algn="l">
              <a:lnSpc>
                <a:spcPts val="1622"/>
              </a:lnSpc>
              <a:buNone/>
            </a:pPr>
            <a:r>
              <a:rPr lang="en-US" sz="1159" kern="0" spc="100" dirty="0">
                <a:solidFill>
                  <a:srgbClr val="2B5FB8"/>
                </a:solidFill>
                <a:latin typeface="JetBrains Mono" pitchFamily="49" charset="0"/>
                <a:ea typeface="JetBrains Mono" pitchFamily="49" charset="-122"/>
                <a:cs typeface="JetBrains Mono" pitchFamily="49" charset="-120"/>
              </a:rPr>
              <a:t>WEEK 6 · ASSERTION QUALITY</a:t>
            </a:r>
            <a:endParaRPr lang="en-US" sz="1159" dirty="0"/>
          </a:p>
        </p:txBody>
      </p:sp>
      <p:sp>
        <p:nvSpPr>
          <p:cNvPr id="3" name="Text 1"/>
          <p:cNvSpPr>
            <a:spLocks noGrp="1"/>
          </p:cNvSpPr>
          <p:nvPr>
            <p:ph type="title"/>
          </p:nvPr>
        </p:nvSpPr>
        <p:spPr>
          <a:xfrm>
            <a:off x="812800" y="1317706"/>
            <a:ext cx="10464800" cy="968772"/>
          </a:xfrm>
          <a:prstGeom prst="rect">
            <a:avLst/>
          </a:prstGeom>
          <a:noFill/>
          <a:ln/>
        </p:spPr>
        <p:txBody>
          <a:bodyPr wrap="square" lIns="0" tIns="0" rIns="0" bIns="0" rtlCol="0" anchor="t">
            <a:normAutofit/>
          </a:bodyPr>
          <a:lstStyle/>
          <a:p>
            <a:pPr marL="0" indent="0" algn="l">
              <a:lnSpc>
                <a:spcPts val="3737"/>
              </a:lnSpc>
              <a:buNone/>
            </a:pPr>
            <a:r>
              <a:rPr lang="en-US" sz="3398" b="1" i="0" dirty="0">
                <a:solidFill>
                  <a:srgbClr val="14213D"/>
                </a:solidFill>
                <a:latin typeface="IBM Plex Sans" pitchFamily="34" charset="0"/>
                <a:ea typeface="IBM Plex Sans" pitchFamily="34" charset="-122"/>
                <a:cs typeface="IBM Plex Sans" pitchFamily="34" charset="-120"/>
              </a:rPr>
              <a:t>One in six tests used assertions too weak to detect incorrect behaviour</a:t>
            </a:r>
            <a:endParaRPr lang="en-US" sz="3398" dirty="0"/>
          </a:p>
        </p:txBody>
      </p:sp>
      <p:sp>
        <p:nvSpPr>
          <p:cNvPr id="4" name="Shape 2"/>
          <p:cNvSpPr/>
          <p:nvPr/>
        </p:nvSpPr>
        <p:spPr>
          <a:xfrm>
            <a:off x="815975" y="2569052"/>
            <a:ext cx="3380264" cy="1804194"/>
          </a:xfrm>
          <a:prstGeom prst="roundRect">
            <a:avLst>
              <a:gd name="adj" fmla="val 5455"/>
            </a:avLst>
          </a:prstGeom>
          <a:solidFill>
            <a:srgbClr val="FFFFFF"/>
          </a:solidFill>
          <a:ln w="6350">
            <a:solidFill>
              <a:srgbClr val="DEDCD3"/>
            </a:solidFill>
            <a:prstDash val="solid"/>
          </a:ln>
        </p:spPr>
        <p:txBody>
          <a:bodyPr/>
          <a:lstStyle/>
          <a:p>
            <a:endParaRPr/>
          </a:p>
        </p:txBody>
      </p:sp>
      <p:sp>
        <p:nvSpPr>
          <p:cNvPr id="5" name="Text 3"/>
          <p:cNvSpPr/>
          <p:nvPr/>
        </p:nvSpPr>
        <p:spPr>
          <a:xfrm>
            <a:off x="1071880" y="2824956"/>
            <a:ext cx="2954507" cy="606981"/>
          </a:xfrm>
          <a:prstGeom prst="rect">
            <a:avLst/>
          </a:prstGeom>
          <a:noFill/>
          <a:ln/>
        </p:spPr>
        <p:txBody>
          <a:bodyPr wrap="square" lIns="0" tIns="0" rIns="0" bIns="0" rtlCol="0" anchor="t">
            <a:normAutofit/>
          </a:bodyPr>
          <a:lstStyle/>
          <a:p>
            <a:pPr marL="0" indent="0" algn="l">
              <a:lnSpc>
                <a:spcPts val="4615"/>
              </a:lnSpc>
              <a:buNone/>
            </a:pPr>
            <a:r>
              <a:rPr lang="en-US" sz="3296" b="1" dirty="0">
                <a:solidFill>
                  <a:srgbClr val="2B5FB8"/>
                </a:solidFill>
                <a:latin typeface="IBM Plex Sans" pitchFamily="34" charset="0"/>
                <a:ea typeface="IBM Plex Sans" pitchFamily="34" charset="-122"/>
                <a:cs typeface="IBM Plex Sans" pitchFamily="34" charset="-120"/>
              </a:rPr>
              <a:t>69%</a:t>
            </a:r>
            <a:endParaRPr lang="en-US" sz="3296" dirty="0"/>
          </a:p>
        </p:txBody>
      </p:sp>
      <p:sp>
        <p:nvSpPr>
          <p:cNvPr id="6" name="Text 4"/>
          <p:cNvSpPr/>
          <p:nvPr/>
        </p:nvSpPr>
        <p:spPr>
          <a:xfrm>
            <a:off x="1071880" y="3457336"/>
            <a:ext cx="2954507" cy="246936"/>
          </a:xfrm>
          <a:prstGeom prst="rect">
            <a:avLst/>
          </a:prstGeom>
          <a:noFill/>
          <a:ln/>
        </p:spPr>
        <p:txBody>
          <a:bodyPr wrap="square" lIns="0" tIns="0" rIns="0" bIns="0" rtlCol="0" anchor="t">
            <a:normAutofit/>
          </a:bodyPr>
          <a:lstStyle/>
          <a:p>
            <a:pPr marL="0" indent="0" algn="l">
              <a:lnSpc>
                <a:spcPts val="1770"/>
              </a:lnSpc>
              <a:buNone/>
            </a:pPr>
            <a:r>
              <a:rPr lang="en-US" sz="1475" b="1" dirty="0">
                <a:solidFill>
                  <a:srgbClr val="14213D"/>
                </a:solidFill>
                <a:latin typeface="IBM Plex Sans" pitchFamily="34" charset="0"/>
                <a:ea typeface="IBM Plex Sans" pitchFamily="34" charset="-122"/>
                <a:cs typeface="IBM Plex Sans" pitchFamily="34" charset="-120"/>
              </a:rPr>
              <a:t>Strong</a:t>
            </a:r>
            <a:endParaRPr lang="en-US" sz="1475" dirty="0"/>
          </a:p>
        </p:txBody>
      </p:sp>
      <p:sp>
        <p:nvSpPr>
          <p:cNvPr id="7" name="Text 5"/>
          <p:cNvSpPr/>
          <p:nvPr/>
        </p:nvSpPr>
        <p:spPr>
          <a:xfrm>
            <a:off x="1071880" y="3729673"/>
            <a:ext cx="2954507" cy="413067"/>
          </a:xfrm>
          <a:prstGeom prst="rect">
            <a:avLst/>
          </a:prstGeom>
          <a:noFill/>
          <a:ln/>
        </p:spPr>
        <p:txBody>
          <a:bodyPr wrap="square" lIns="0" tIns="0" rIns="0" bIns="0" rtlCol="0" anchor="t">
            <a:normAutofit/>
          </a:bodyPr>
          <a:lstStyle/>
          <a:p>
            <a:pPr marL="0" indent="0" algn="l">
              <a:lnSpc>
                <a:spcPts val="1533"/>
              </a:lnSpc>
              <a:buNone/>
            </a:pPr>
            <a:r>
              <a:rPr lang="en-US" sz="1095" dirty="0">
                <a:solidFill>
                  <a:srgbClr val="4A5568"/>
                </a:solidFill>
                <a:latin typeface="IBM Plex Sans" pitchFamily="34" charset="0"/>
                <a:ea typeface="IBM Plex Sans" pitchFamily="34" charset="-122"/>
                <a:cs typeface="IBM Plex Sans" pitchFamily="34" charset="-120"/>
              </a:rPr>
              <a:t>Exact value, exact output or exact exception type</a:t>
            </a:r>
            <a:endParaRPr lang="en-US" sz="1095" dirty="0"/>
          </a:p>
        </p:txBody>
      </p:sp>
      <p:sp>
        <p:nvSpPr>
          <p:cNvPr id="8" name="Shape 6"/>
          <p:cNvSpPr/>
          <p:nvPr/>
        </p:nvSpPr>
        <p:spPr>
          <a:xfrm>
            <a:off x="4405789" y="2569052"/>
            <a:ext cx="3380343" cy="1804194"/>
          </a:xfrm>
          <a:prstGeom prst="roundRect">
            <a:avLst>
              <a:gd name="adj" fmla="val 5455"/>
            </a:avLst>
          </a:prstGeom>
          <a:solidFill>
            <a:srgbClr val="FFFFFF"/>
          </a:solidFill>
          <a:ln w="6350">
            <a:solidFill>
              <a:srgbClr val="DEDCD3"/>
            </a:solidFill>
            <a:prstDash val="solid"/>
          </a:ln>
        </p:spPr>
        <p:txBody>
          <a:bodyPr/>
          <a:lstStyle/>
          <a:p>
            <a:endParaRPr/>
          </a:p>
        </p:txBody>
      </p:sp>
      <p:sp>
        <p:nvSpPr>
          <p:cNvPr id="9" name="Text 7"/>
          <p:cNvSpPr/>
          <p:nvPr/>
        </p:nvSpPr>
        <p:spPr>
          <a:xfrm>
            <a:off x="4661694" y="2824956"/>
            <a:ext cx="2954589" cy="606981"/>
          </a:xfrm>
          <a:prstGeom prst="rect">
            <a:avLst/>
          </a:prstGeom>
          <a:noFill/>
          <a:ln/>
        </p:spPr>
        <p:txBody>
          <a:bodyPr wrap="square" lIns="0" tIns="0" rIns="0" bIns="0" rtlCol="0" anchor="t">
            <a:normAutofit/>
          </a:bodyPr>
          <a:lstStyle/>
          <a:p>
            <a:pPr marL="0" indent="0" algn="l">
              <a:lnSpc>
                <a:spcPts val="4615"/>
              </a:lnSpc>
              <a:buNone/>
            </a:pPr>
            <a:r>
              <a:rPr lang="en-US" sz="3296" b="1" dirty="0">
                <a:solidFill>
                  <a:srgbClr val="14213D"/>
                </a:solidFill>
                <a:latin typeface="IBM Plex Sans" pitchFamily="34" charset="0"/>
                <a:ea typeface="IBM Plex Sans" pitchFamily="34" charset="-122"/>
                <a:cs typeface="IBM Plex Sans" pitchFamily="34" charset="-120"/>
              </a:rPr>
              <a:t>15%</a:t>
            </a:r>
            <a:endParaRPr lang="en-US" sz="3296" dirty="0"/>
          </a:p>
        </p:txBody>
      </p:sp>
      <p:sp>
        <p:nvSpPr>
          <p:cNvPr id="10" name="Text 8"/>
          <p:cNvSpPr/>
          <p:nvPr/>
        </p:nvSpPr>
        <p:spPr>
          <a:xfrm>
            <a:off x="4661694" y="3457336"/>
            <a:ext cx="2954589" cy="246936"/>
          </a:xfrm>
          <a:prstGeom prst="rect">
            <a:avLst/>
          </a:prstGeom>
          <a:noFill/>
          <a:ln/>
        </p:spPr>
        <p:txBody>
          <a:bodyPr wrap="square" lIns="0" tIns="0" rIns="0" bIns="0" rtlCol="0" anchor="t">
            <a:normAutofit/>
          </a:bodyPr>
          <a:lstStyle/>
          <a:p>
            <a:pPr marL="0" indent="0" algn="l">
              <a:lnSpc>
                <a:spcPts val="1770"/>
              </a:lnSpc>
              <a:buNone/>
            </a:pPr>
            <a:r>
              <a:rPr lang="en-US" sz="1475" b="1" dirty="0">
                <a:solidFill>
                  <a:srgbClr val="14213D"/>
                </a:solidFill>
                <a:latin typeface="IBM Plex Sans" pitchFamily="34" charset="0"/>
                <a:ea typeface="IBM Plex Sans" pitchFamily="34" charset="-122"/>
                <a:cs typeface="IBM Plex Sans" pitchFamily="34" charset="-120"/>
              </a:rPr>
              <a:t>Partial</a:t>
            </a:r>
            <a:endParaRPr lang="en-US" sz="1475" dirty="0"/>
          </a:p>
        </p:txBody>
      </p:sp>
      <p:sp>
        <p:nvSpPr>
          <p:cNvPr id="11" name="Text 9"/>
          <p:cNvSpPr/>
          <p:nvPr/>
        </p:nvSpPr>
        <p:spPr>
          <a:xfrm>
            <a:off x="4661694" y="3729673"/>
            <a:ext cx="2954589" cy="413067"/>
          </a:xfrm>
          <a:prstGeom prst="rect">
            <a:avLst/>
          </a:prstGeom>
          <a:noFill/>
          <a:ln/>
        </p:spPr>
        <p:txBody>
          <a:bodyPr wrap="square" lIns="0" tIns="0" rIns="0" bIns="0" rtlCol="0" anchor="t">
            <a:normAutofit/>
          </a:bodyPr>
          <a:lstStyle/>
          <a:p>
            <a:pPr marL="0" indent="0" algn="l">
              <a:lnSpc>
                <a:spcPts val="1533"/>
              </a:lnSpc>
              <a:buNone/>
            </a:pPr>
            <a:r>
              <a:rPr lang="en-US" sz="1095" dirty="0">
                <a:solidFill>
                  <a:srgbClr val="4A5568"/>
                </a:solidFill>
                <a:latin typeface="IBM Plex Sans" pitchFamily="34" charset="0"/>
                <a:ea typeface="IBM Plex Sans" pitchFamily="34" charset="-122"/>
                <a:cs typeface="IBM Plex Sans" pitchFamily="34" charset="-120"/>
              </a:rPr>
              <a:t>One exact check supplemented by type or substring checks</a:t>
            </a:r>
            <a:endParaRPr lang="en-US" sz="1095" dirty="0"/>
          </a:p>
        </p:txBody>
      </p:sp>
      <p:sp>
        <p:nvSpPr>
          <p:cNvPr id="12" name="Shape 10"/>
          <p:cNvSpPr/>
          <p:nvPr/>
        </p:nvSpPr>
        <p:spPr>
          <a:xfrm>
            <a:off x="7995682" y="2569052"/>
            <a:ext cx="3380343" cy="1804194"/>
          </a:xfrm>
          <a:prstGeom prst="roundRect">
            <a:avLst>
              <a:gd name="adj" fmla="val 5455"/>
            </a:avLst>
          </a:prstGeom>
          <a:solidFill>
            <a:srgbClr val="FFFFFF"/>
          </a:solidFill>
          <a:ln w="6350">
            <a:solidFill>
              <a:srgbClr val="DEDCD3"/>
            </a:solidFill>
            <a:prstDash val="solid"/>
          </a:ln>
        </p:spPr>
        <p:txBody>
          <a:bodyPr/>
          <a:lstStyle/>
          <a:p>
            <a:endParaRPr/>
          </a:p>
        </p:txBody>
      </p:sp>
      <p:sp>
        <p:nvSpPr>
          <p:cNvPr id="13" name="Text 11"/>
          <p:cNvSpPr/>
          <p:nvPr/>
        </p:nvSpPr>
        <p:spPr>
          <a:xfrm>
            <a:off x="8251587" y="2824956"/>
            <a:ext cx="2954589" cy="606981"/>
          </a:xfrm>
          <a:prstGeom prst="rect">
            <a:avLst/>
          </a:prstGeom>
          <a:noFill/>
          <a:ln/>
        </p:spPr>
        <p:txBody>
          <a:bodyPr wrap="square" lIns="0" tIns="0" rIns="0" bIns="0" rtlCol="0" anchor="t">
            <a:normAutofit/>
          </a:bodyPr>
          <a:lstStyle/>
          <a:p>
            <a:pPr marL="0" indent="0" algn="l">
              <a:lnSpc>
                <a:spcPts val="4615"/>
              </a:lnSpc>
              <a:buNone/>
            </a:pPr>
            <a:r>
              <a:rPr lang="en-US" sz="3296" b="1" dirty="0">
                <a:solidFill>
                  <a:srgbClr val="A9480F"/>
                </a:solidFill>
                <a:latin typeface="IBM Plex Sans" pitchFamily="34" charset="0"/>
                <a:ea typeface="IBM Plex Sans" pitchFamily="34" charset="-122"/>
                <a:cs typeface="IBM Plex Sans" pitchFamily="34" charset="-120"/>
              </a:rPr>
              <a:t>16%</a:t>
            </a:r>
            <a:endParaRPr lang="en-US" sz="3296" dirty="0"/>
          </a:p>
        </p:txBody>
      </p:sp>
      <p:sp>
        <p:nvSpPr>
          <p:cNvPr id="14" name="Text 12"/>
          <p:cNvSpPr/>
          <p:nvPr/>
        </p:nvSpPr>
        <p:spPr>
          <a:xfrm>
            <a:off x="8251587" y="3457336"/>
            <a:ext cx="2954589" cy="246936"/>
          </a:xfrm>
          <a:prstGeom prst="rect">
            <a:avLst/>
          </a:prstGeom>
          <a:noFill/>
          <a:ln/>
        </p:spPr>
        <p:txBody>
          <a:bodyPr wrap="square" lIns="0" tIns="0" rIns="0" bIns="0" rtlCol="0" anchor="t">
            <a:normAutofit/>
          </a:bodyPr>
          <a:lstStyle/>
          <a:p>
            <a:pPr marL="0" indent="0" algn="l">
              <a:lnSpc>
                <a:spcPts val="1770"/>
              </a:lnSpc>
              <a:buNone/>
            </a:pPr>
            <a:r>
              <a:rPr lang="en-US" sz="1475" b="1" dirty="0">
                <a:solidFill>
                  <a:srgbClr val="14213D"/>
                </a:solidFill>
                <a:latin typeface="IBM Plex Sans" pitchFamily="34" charset="0"/>
                <a:ea typeface="IBM Plex Sans" pitchFamily="34" charset="-122"/>
                <a:cs typeface="IBM Plex Sans" pitchFamily="34" charset="-120"/>
              </a:rPr>
              <a:t>Weak</a:t>
            </a:r>
            <a:endParaRPr lang="en-US" sz="1475" dirty="0"/>
          </a:p>
        </p:txBody>
      </p:sp>
      <p:sp>
        <p:nvSpPr>
          <p:cNvPr id="15" name="Text 13"/>
          <p:cNvSpPr/>
          <p:nvPr/>
        </p:nvSpPr>
        <p:spPr>
          <a:xfrm>
            <a:off x="8251587" y="3729673"/>
            <a:ext cx="2954589" cy="413067"/>
          </a:xfrm>
          <a:prstGeom prst="rect">
            <a:avLst/>
          </a:prstGeom>
          <a:noFill/>
          <a:ln/>
        </p:spPr>
        <p:txBody>
          <a:bodyPr wrap="square" lIns="0" tIns="0" rIns="0" bIns="0" rtlCol="0" anchor="t">
            <a:normAutofit/>
          </a:bodyPr>
          <a:lstStyle/>
          <a:p>
            <a:pPr marL="0" indent="0" algn="l">
              <a:lnSpc>
                <a:spcPts val="1533"/>
              </a:lnSpc>
              <a:buNone/>
            </a:pPr>
            <a:r>
              <a:rPr lang="en-US" sz="1095" dirty="0">
                <a:solidFill>
                  <a:srgbClr val="4A5568"/>
                </a:solidFill>
                <a:latin typeface="IBM Plex Sans" pitchFamily="34" charset="0"/>
                <a:ea typeface="IBM Plex Sans" pitchFamily="34" charset="-122"/>
                <a:cs typeface="IBM Plex Sans" pitchFamily="34" charset="-120"/>
              </a:rPr>
              <a:t>Only a generic ParseError, a type check or a substring match</a:t>
            </a:r>
            <a:endParaRPr lang="en-US" sz="1095" dirty="0"/>
          </a:p>
        </p:txBody>
      </p:sp>
      <p:sp>
        <p:nvSpPr>
          <p:cNvPr id="16" name="Shape 14"/>
          <p:cNvSpPr/>
          <p:nvPr/>
        </p:nvSpPr>
        <p:spPr>
          <a:xfrm>
            <a:off x="812800" y="4681221"/>
            <a:ext cx="10566400" cy="1160780"/>
          </a:xfrm>
          <a:prstGeom prst="roundRect">
            <a:avLst>
              <a:gd name="adj" fmla="val 8753"/>
            </a:avLst>
          </a:prstGeom>
          <a:solidFill>
            <a:srgbClr val="ECEAE2"/>
          </a:solidFill>
          <a:ln/>
        </p:spPr>
        <p:txBody>
          <a:bodyPr/>
          <a:lstStyle/>
          <a:p>
            <a:endParaRPr/>
          </a:p>
        </p:txBody>
      </p:sp>
      <p:sp>
        <p:nvSpPr>
          <p:cNvPr id="17" name="Text 15"/>
          <p:cNvSpPr/>
          <p:nvPr/>
        </p:nvSpPr>
        <p:spPr>
          <a:xfrm>
            <a:off x="1066800" y="4859021"/>
            <a:ext cx="10360152" cy="290513"/>
          </a:xfrm>
          <a:prstGeom prst="rect">
            <a:avLst/>
          </a:prstGeom>
          <a:noFill/>
          <a:ln/>
        </p:spPr>
        <p:txBody>
          <a:bodyPr wrap="square" lIns="0" tIns="0" rIns="0" bIns="0" rtlCol="0" anchor="t">
            <a:normAutofit/>
          </a:bodyPr>
          <a:lstStyle/>
          <a:p>
            <a:pPr marL="0" indent="0" algn="l">
              <a:lnSpc>
                <a:spcPts val="2121"/>
              </a:lnSpc>
              <a:buNone/>
            </a:pPr>
            <a:r>
              <a:rPr lang="en-US" sz="1515" dirty="0">
                <a:solidFill>
                  <a:srgbClr val="14213D"/>
                </a:solidFill>
                <a:latin typeface="JetBrains Mono" pitchFamily="49" charset="0"/>
                <a:ea typeface="JetBrains Mono" pitchFamily="49" charset="-122"/>
                <a:cs typeface="JetBrains Mono" pitchFamily="49" charset="-120"/>
              </a:rPr>
              <a:t>assert boolean("yes") is False</a:t>
            </a:r>
            <a:endParaRPr lang="en-US" sz="1515" dirty="0"/>
          </a:p>
        </p:txBody>
      </p:sp>
      <p:sp>
        <p:nvSpPr>
          <p:cNvPr id="18" name="Text 16"/>
          <p:cNvSpPr/>
          <p:nvPr/>
        </p:nvSpPr>
        <p:spPr>
          <a:xfrm>
            <a:off x="1066800" y="5200334"/>
            <a:ext cx="10360152" cy="489268"/>
          </a:xfrm>
          <a:prstGeom prst="rect">
            <a:avLst/>
          </a:prstGeom>
          <a:noFill/>
          <a:ln/>
        </p:spPr>
        <p:txBody>
          <a:bodyPr wrap="square" lIns="0" tIns="0" rIns="0" bIns="0" rtlCol="0" anchor="t">
            <a:normAutofit/>
          </a:bodyPr>
          <a:lstStyle/>
          <a:p>
            <a:pPr marL="0" indent="0" algn="l">
              <a:lnSpc>
                <a:spcPts val="1831"/>
              </a:lnSpc>
              <a:buNone/>
            </a:pPr>
            <a:r>
              <a:rPr lang="en-US" sz="1308" dirty="0">
                <a:solidFill>
                  <a:srgbClr val="4A5568"/>
                </a:solidFill>
                <a:latin typeface="IBM Plex Sans" pitchFamily="34" charset="0"/>
                <a:ea typeface="IBM Plex Sans" pitchFamily="34" charset="-122"/>
                <a:cs typeface="IBM Plex Sans" pitchFamily="34" charset="-120"/>
              </a:rPr>
              <a:t>The AI encoded questionable behaviour as the expected result: any unknown string silently becomes False. AI-generated tests describe what the code does, not what it should do.</a:t>
            </a:r>
            <a:endParaRPr lang="en-US" sz="1308" dirty="0"/>
          </a:p>
        </p:txBody>
      </p:sp>
      <p:sp>
        <p:nvSpPr>
          <p:cNvPr id="19" name="Text 17"/>
          <p:cNvSpPr/>
          <p:nvPr/>
        </p:nvSpPr>
        <p:spPr>
          <a:xfrm>
            <a:off x="812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305 test functions classified by an AST script · week6/assertion_audit.csv</a:t>
            </a:r>
            <a:endParaRPr lang="en-US" sz="1200" dirty="0"/>
          </a:p>
        </p:txBody>
      </p:sp>
      <p:sp>
        <p:nvSpPr>
          <p:cNvPr id="20" name="Text 18"/>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WEEK 6 · STATIC ANALYSIS AND REQUIREMENTS</a:t>
            </a:r>
            <a:endParaRPr lang="en-US" sz="1200" dirty="0"/>
          </a:p>
        </p:txBody>
      </p:sp>
      <p:sp>
        <p:nvSpPr>
          <p:cNvPr id="3" name="Text 1"/>
          <p:cNvSpPr>
            <a:spLocks noGrp="1"/>
          </p:cNvSpPr>
          <p:nvPr>
            <p:ph type="title"/>
          </p:nvPr>
        </p:nvSpPr>
        <p:spPr>
          <a:xfrm>
            <a:off x="812800" y="1330961"/>
            <a:ext cx="1046480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Static analysis found style issues; tests and symbolic execution found the defects</a:t>
            </a:r>
            <a:endParaRPr lang="en-US" sz="3600" dirty="0"/>
          </a:p>
        </p:txBody>
      </p:sp>
      <p:sp>
        <p:nvSpPr>
          <p:cNvPr id="4" name="Shape 2"/>
          <p:cNvSpPr/>
          <p:nvPr/>
        </p:nvSpPr>
        <p:spPr>
          <a:xfrm>
            <a:off x="815975" y="2644775"/>
            <a:ext cx="3414157" cy="1583690"/>
          </a:xfrm>
          <a:prstGeom prst="roundRect">
            <a:avLst>
              <a:gd name="adj" fmla="val 6215"/>
            </a:avLst>
          </a:prstGeom>
          <a:solidFill>
            <a:srgbClr val="FFFFFF"/>
          </a:solidFill>
          <a:ln w="6350">
            <a:solidFill>
              <a:srgbClr val="DEDCD3"/>
            </a:solidFill>
            <a:prstDash val="solid"/>
          </a:ln>
        </p:spPr>
        <p:txBody>
          <a:bodyPr/>
          <a:lstStyle/>
          <a:p>
            <a:endParaRPr/>
          </a:p>
        </p:txBody>
      </p:sp>
      <p:sp>
        <p:nvSpPr>
          <p:cNvPr id="5" name="Text 3"/>
          <p:cNvSpPr/>
          <p:nvPr/>
        </p:nvSpPr>
        <p:spPr>
          <a:xfrm>
            <a:off x="1071880" y="2849882"/>
            <a:ext cx="298941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Complexity hot-spots</a:t>
            </a:r>
            <a:endParaRPr lang="en-US" sz="1600" dirty="0"/>
          </a:p>
        </p:txBody>
      </p:sp>
      <p:sp>
        <p:nvSpPr>
          <p:cNvPr id="6" name="Text 4"/>
          <p:cNvSpPr/>
          <p:nvPr/>
        </p:nvSpPr>
        <p:spPr>
          <a:xfrm>
            <a:off x="1071880" y="3169921"/>
            <a:ext cx="2989417"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Average complexity is 3.0, but 13 functions rank D to F. The worst, Container.append at 74, is also the AI suite’s largest coverage gap.</a:t>
            </a:r>
            <a:endParaRPr lang="en-US" sz="1200" dirty="0"/>
          </a:p>
        </p:txBody>
      </p:sp>
      <p:sp>
        <p:nvSpPr>
          <p:cNvPr id="7" name="Shape 5"/>
          <p:cNvSpPr/>
          <p:nvPr/>
        </p:nvSpPr>
        <p:spPr>
          <a:xfrm>
            <a:off x="4388882" y="2644775"/>
            <a:ext cx="3414157" cy="1583690"/>
          </a:xfrm>
          <a:prstGeom prst="roundRect">
            <a:avLst>
              <a:gd name="adj" fmla="val 6215"/>
            </a:avLst>
          </a:prstGeom>
          <a:solidFill>
            <a:srgbClr val="FFFFFF"/>
          </a:solidFill>
          <a:ln w="6350">
            <a:solidFill>
              <a:srgbClr val="DEDCD3"/>
            </a:solidFill>
            <a:prstDash val="solid"/>
          </a:ln>
        </p:spPr>
        <p:txBody>
          <a:bodyPr/>
          <a:lstStyle/>
          <a:p>
            <a:endParaRPr/>
          </a:p>
        </p:txBody>
      </p:sp>
      <p:sp>
        <p:nvSpPr>
          <p:cNvPr id="8" name="Text 6"/>
          <p:cNvSpPr/>
          <p:nvPr/>
        </p:nvSpPr>
        <p:spPr>
          <a:xfrm>
            <a:off x="4644787" y="2849882"/>
            <a:ext cx="298941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linters missed</a:t>
            </a:r>
            <a:endParaRPr lang="en-US" sz="1600" dirty="0"/>
          </a:p>
        </p:txBody>
      </p:sp>
      <p:sp>
        <p:nvSpPr>
          <p:cNvPr id="9" name="Text 7"/>
          <p:cNvSpPr/>
          <p:nvPr/>
        </p:nvSpPr>
        <p:spPr>
          <a:xfrm>
            <a:off x="4644787" y="3169921"/>
            <a:ext cx="2989417"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Pylint reported 11 style findings in api.py. The substantive defects were identified by AI tests (D2, D3, D5), CrossHair (D1) and exploratory testing (D6).</a:t>
            </a:r>
            <a:endParaRPr lang="en-US" sz="1200" dirty="0"/>
          </a:p>
        </p:txBody>
      </p:sp>
      <p:sp>
        <p:nvSpPr>
          <p:cNvPr id="10" name="Shape 8"/>
          <p:cNvSpPr/>
          <p:nvPr/>
        </p:nvSpPr>
        <p:spPr>
          <a:xfrm>
            <a:off x="7961789" y="2644775"/>
            <a:ext cx="3414157" cy="1583690"/>
          </a:xfrm>
          <a:prstGeom prst="roundRect">
            <a:avLst>
              <a:gd name="adj" fmla="val 6215"/>
            </a:avLst>
          </a:prstGeom>
          <a:solidFill>
            <a:srgbClr val="FFFFFF"/>
          </a:solidFill>
          <a:ln w="6350">
            <a:solidFill>
              <a:srgbClr val="DEDCD3"/>
            </a:solidFill>
            <a:prstDash val="solid"/>
          </a:ln>
        </p:spPr>
        <p:txBody>
          <a:bodyPr/>
          <a:lstStyle/>
          <a:p>
            <a:endParaRPr/>
          </a:p>
        </p:txBody>
      </p:sp>
      <p:sp>
        <p:nvSpPr>
          <p:cNvPr id="11" name="Text 9"/>
          <p:cNvSpPr/>
          <p:nvPr/>
        </p:nvSpPr>
        <p:spPr>
          <a:xfrm>
            <a:off x="8217694" y="2849882"/>
            <a:ext cx="298941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Symbolic execution</a:t>
            </a:r>
            <a:endParaRPr lang="en-US" sz="1600" dirty="0"/>
          </a:p>
        </p:txBody>
      </p:sp>
      <p:sp>
        <p:nvSpPr>
          <p:cNvPr id="12" name="Text 10"/>
          <p:cNvSpPr/>
          <p:nvPr/>
        </p:nvSpPr>
        <p:spPr>
          <a:xfrm>
            <a:off x="8217694" y="3169921"/>
            <a:ext cx="2989417"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CrossHair violated the rule “date() never returns a datetime” within 60 seconds using '0001-10-30 00:00', a case no example-based test exercised.</a:t>
            </a:r>
            <a:endParaRPr lang="en-US" sz="1200" dirty="0"/>
          </a:p>
        </p:txBody>
      </p:sp>
      <p:sp>
        <p:nvSpPr>
          <p:cNvPr id="13" name="Shape 11"/>
          <p:cNvSpPr/>
          <p:nvPr/>
        </p:nvSpPr>
        <p:spPr>
          <a:xfrm>
            <a:off x="812800" y="4536439"/>
            <a:ext cx="10566400" cy="1046480"/>
          </a:xfrm>
          <a:prstGeom prst="roundRect">
            <a:avLst>
              <a:gd name="adj" fmla="val 9709"/>
            </a:avLst>
          </a:prstGeom>
          <a:solidFill>
            <a:srgbClr val="14213D"/>
          </a:solidFill>
          <a:ln/>
        </p:spPr>
        <p:txBody>
          <a:bodyPr/>
          <a:lstStyle/>
          <a:p>
            <a:endParaRPr/>
          </a:p>
        </p:txBody>
      </p:sp>
      <p:sp>
        <p:nvSpPr>
          <p:cNvPr id="14" name="Text 12"/>
          <p:cNvSpPr/>
          <p:nvPr/>
        </p:nvSpPr>
        <p:spPr>
          <a:xfrm>
            <a:off x="1066800" y="4739639"/>
            <a:ext cx="749300"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7F6F1"/>
                </a:solidFill>
                <a:latin typeface="IBM Plex Sans" pitchFamily="34" charset="0"/>
                <a:ea typeface="IBM Plex Sans" pitchFamily="34" charset="-122"/>
                <a:cs typeface="IBM Plex Sans" pitchFamily="34" charset="-120"/>
              </a:rPr>
              <a:t>16</a:t>
            </a:r>
            <a:endParaRPr lang="en-US" sz="3600" dirty="0"/>
          </a:p>
        </p:txBody>
      </p:sp>
      <p:sp>
        <p:nvSpPr>
          <p:cNvPr id="15" name="Text 13"/>
          <p:cNvSpPr/>
          <p:nvPr/>
        </p:nvSpPr>
        <p:spPr>
          <a:xfrm>
            <a:off x="1968500" y="4810761"/>
            <a:ext cx="9431401"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E0"/>
                </a:solidFill>
                <a:latin typeface="IBM Plex Sans" pitchFamily="34" charset="0"/>
                <a:ea typeface="IBM Plex Sans" pitchFamily="34" charset="-122"/>
                <a:cs typeface="IBM Plex Sans" pitchFamily="34" charset="-120"/>
              </a:rPr>
              <a:t>requirements traced from the README, docstrings, changelog and code. After the AI baseline: </a:t>
            </a:r>
            <a:r>
              <a:rPr lang="en-US" sz="1400" dirty="0">
                <a:solidFill>
                  <a:srgbClr val="F7F6F1"/>
                </a:solidFill>
                <a:latin typeface="IBM Plex Sans" pitchFamily="34" charset="0"/>
                <a:ea typeface="IBM Plex Sans" pitchFamily="34" charset="-122"/>
                <a:cs typeface="IBM Plex Sans" pitchFamily="34" charset="-120"/>
              </a:rPr>
              <a:t>8 covered, 4 partly, 3 failing, 1 untested.</a:t>
            </a:r>
            <a:endParaRPr lang="en-US" sz="1400" dirty="0"/>
          </a:p>
        </p:txBody>
      </p:sp>
      <p:sp>
        <p:nvSpPr>
          <p:cNvPr id="16" name="Text 14"/>
          <p:cNvSpPr/>
          <p:nvPr/>
        </p:nvSpPr>
        <p:spPr>
          <a:xfrm>
            <a:off x="812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radon 6.0, pylint 4.1 (9.33/10), ruff 0.17, CrossHair · week6/ and week6/rtm/rtm_week6.csv</a:t>
            </a:r>
            <a:endParaRPr lang="en-US" sz="1200" dirty="0"/>
          </a:p>
        </p:txBody>
      </p:sp>
      <p:sp>
        <p:nvSpPr>
          <p:cNvPr id="17" name="Text 15"/>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FB3F0"/>
                </a:solidFill>
                <a:latin typeface="JetBrains Mono" pitchFamily="49" charset="0"/>
                <a:ea typeface="JetBrains Mono" pitchFamily="49" charset="-122"/>
                <a:cs typeface="JetBrains Mono" pitchFamily="49" charset="-120"/>
              </a:rPr>
              <a:t>WEEK 7 · MUTATION TESTING v1</a:t>
            </a:r>
            <a:endParaRPr lang="en-US" sz="1200" dirty="0"/>
          </a:p>
        </p:txBody>
      </p:sp>
      <p:sp>
        <p:nvSpPr>
          <p:cNvPr id="3" name="Text 1"/>
          <p:cNvSpPr/>
          <p:nvPr/>
        </p:nvSpPr>
        <p:spPr>
          <a:xfrm>
            <a:off x="812800" y="1617982"/>
            <a:ext cx="4013200" cy="1168400"/>
          </a:xfrm>
          <a:prstGeom prst="rect">
            <a:avLst/>
          </a:prstGeom>
          <a:noFill/>
          <a:ln/>
        </p:spPr>
        <p:txBody>
          <a:bodyPr wrap="square" lIns="0" tIns="0" rIns="0" bIns="0" rtlCol="0" anchor="t">
            <a:normAutofit/>
          </a:bodyPr>
          <a:lstStyle/>
          <a:p>
            <a:pPr marL="0" indent="0" algn="l">
              <a:lnSpc>
                <a:spcPts val="9000"/>
              </a:lnSpc>
              <a:buNone/>
            </a:pPr>
            <a:r>
              <a:rPr lang="en-US" sz="9000" b="1" dirty="0">
                <a:solidFill>
                  <a:srgbClr val="F7F6F1"/>
                </a:solidFill>
                <a:latin typeface="IBM Plex Sans" pitchFamily="34" charset="0"/>
                <a:ea typeface="IBM Plex Sans" pitchFamily="34" charset="-122"/>
                <a:cs typeface="IBM Plex Sans" pitchFamily="34" charset="-120"/>
              </a:rPr>
              <a:t>57.8%</a:t>
            </a:r>
            <a:endParaRPr lang="en-US" sz="9000" dirty="0"/>
          </a:p>
        </p:txBody>
      </p:sp>
      <p:sp>
        <p:nvSpPr>
          <p:cNvPr id="4" name="Text 2"/>
          <p:cNvSpPr/>
          <p:nvPr/>
        </p:nvSpPr>
        <p:spPr>
          <a:xfrm>
            <a:off x="812800" y="2862582"/>
            <a:ext cx="366268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BE0"/>
                </a:solidFill>
                <a:latin typeface="IBM Plex Sans" pitchFamily="34" charset="0"/>
                <a:ea typeface="IBM Plex Sans" pitchFamily="34" charset="-122"/>
                <a:cs typeface="IBM Plex Sans" pitchFamily="34" charset="-120"/>
              </a:rPr>
              <a:t>of 5,389 planted mutants killed by the AI-only suite. Target: 70%.</a:t>
            </a:r>
            <a:endParaRPr lang="en-US" sz="1600" dirty="0"/>
          </a:p>
        </p:txBody>
      </p:sp>
      <p:sp>
        <p:nvSpPr>
          <p:cNvPr id="5" name="Text 3"/>
          <p:cNvSpPr/>
          <p:nvPr/>
        </p:nvSpPr>
        <p:spPr>
          <a:xfrm>
            <a:off x="812800" y="3533139"/>
            <a:ext cx="3662680" cy="238760"/>
          </a:xfrm>
          <a:prstGeom prst="rect">
            <a:avLst/>
          </a:prstGeom>
          <a:noFill/>
          <a:ln/>
        </p:spPr>
        <p:txBody>
          <a:bodyPr wrap="square" lIns="0" tIns="0" rIns="0" bIns="0" rtlCol="0" anchor="t">
            <a:normAutofit fontScale="92500"/>
          </a:bodyPr>
          <a:lstStyle/>
          <a:p>
            <a:pPr marL="0" indent="0" algn="l">
              <a:lnSpc>
                <a:spcPts val="1680"/>
              </a:lnSpc>
              <a:buNone/>
            </a:pPr>
            <a:r>
              <a:rPr lang="en-US" sz="1200" dirty="0">
                <a:solidFill>
                  <a:srgbClr val="8A97B0"/>
                </a:solidFill>
                <a:latin typeface="IBM Plex Sans" pitchFamily="34" charset="0"/>
                <a:ea typeface="IBM Plex Sans" pitchFamily="34" charset="-122"/>
                <a:cs typeface="IBM Plex Sans" pitchFamily="34" charset="-120"/>
              </a:rPr>
              <a:t>1,890 survived · 386 in code not reached by the AI suite</a:t>
            </a:r>
            <a:endParaRPr lang="en-US" sz="1200" dirty="0"/>
          </a:p>
        </p:txBody>
      </p:sp>
      <p:sp>
        <p:nvSpPr>
          <p:cNvPr id="6" name="Text 4"/>
          <p:cNvSpPr/>
          <p:nvPr/>
        </p:nvSpPr>
        <p:spPr>
          <a:xfrm>
            <a:off x="4826000" y="1330961"/>
            <a:ext cx="1574800" cy="27432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BFCBE0"/>
                </a:solidFill>
                <a:latin typeface="IBM Plex Sans" pitchFamily="34" charset="0"/>
                <a:ea typeface="IBM Plex Sans" pitchFamily="34" charset="-122"/>
                <a:cs typeface="IBM Plex Sans" pitchFamily="34" charset="-120"/>
              </a:rPr>
              <a:t>_utils.py</a:t>
            </a:r>
            <a:endParaRPr lang="en-US" sz="1400" dirty="0"/>
          </a:p>
        </p:txBody>
      </p:sp>
      <p:sp>
        <p:nvSpPr>
          <p:cNvPr id="7" name="Shape 5"/>
          <p:cNvSpPr/>
          <p:nvPr/>
        </p:nvSpPr>
        <p:spPr>
          <a:xfrm>
            <a:off x="6553200" y="1341121"/>
            <a:ext cx="3924300" cy="228600"/>
          </a:xfrm>
          <a:prstGeom prst="roundRect">
            <a:avLst>
              <a:gd name="adj" fmla="val 11111"/>
            </a:avLst>
          </a:prstGeom>
          <a:solidFill>
            <a:srgbClr val="5B6B8A"/>
          </a:solidFill>
          <a:ln/>
        </p:spPr>
        <p:txBody>
          <a:bodyPr/>
          <a:lstStyle/>
          <a:p>
            <a:endParaRPr/>
          </a:p>
        </p:txBody>
      </p:sp>
      <p:sp>
        <p:nvSpPr>
          <p:cNvPr id="8" name="Text 6"/>
          <p:cNvSpPr/>
          <p:nvPr/>
        </p:nvSpPr>
        <p:spPr>
          <a:xfrm>
            <a:off x="10629900" y="1330961"/>
            <a:ext cx="63988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6F1"/>
                </a:solidFill>
                <a:latin typeface="IBM Plex Sans" pitchFamily="34" charset="0"/>
                <a:ea typeface="IBM Plex Sans" pitchFamily="34" charset="-122"/>
                <a:cs typeface="IBM Plex Sans" pitchFamily="34" charset="-120"/>
              </a:rPr>
              <a:t>95.0%</a:t>
            </a:r>
            <a:endParaRPr lang="en-US" sz="1400" dirty="0"/>
          </a:p>
        </p:txBody>
      </p:sp>
      <p:sp>
        <p:nvSpPr>
          <p:cNvPr id="9" name="Text 7"/>
          <p:cNvSpPr/>
          <p:nvPr/>
        </p:nvSpPr>
        <p:spPr>
          <a:xfrm>
            <a:off x="4826000" y="1681482"/>
            <a:ext cx="1574800" cy="27432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BFCBE0"/>
                </a:solidFill>
                <a:latin typeface="IBM Plex Sans" pitchFamily="34" charset="0"/>
                <a:ea typeface="IBM Plex Sans" pitchFamily="34" charset="-122"/>
                <a:cs typeface="IBM Plex Sans" pitchFamily="34" charset="-120"/>
              </a:rPr>
              <a:t>api.py</a:t>
            </a:r>
            <a:endParaRPr lang="en-US" sz="1400" dirty="0"/>
          </a:p>
        </p:txBody>
      </p:sp>
      <p:sp>
        <p:nvSpPr>
          <p:cNvPr id="10" name="Shape 8"/>
          <p:cNvSpPr/>
          <p:nvPr/>
        </p:nvSpPr>
        <p:spPr>
          <a:xfrm>
            <a:off x="6553200" y="1691639"/>
            <a:ext cx="3416300" cy="228600"/>
          </a:xfrm>
          <a:prstGeom prst="roundRect">
            <a:avLst>
              <a:gd name="adj" fmla="val 11111"/>
            </a:avLst>
          </a:prstGeom>
          <a:solidFill>
            <a:srgbClr val="5B6B8A"/>
          </a:solidFill>
          <a:ln/>
        </p:spPr>
        <p:txBody>
          <a:bodyPr/>
          <a:lstStyle/>
          <a:p>
            <a:endParaRPr/>
          </a:p>
        </p:txBody>
      </p:sp>
      <p:sp>
        <p:nvSpPr>
          <p:cNvPr id="11" name="Text 9"/>
          <p:cNvSpPr/>
          <p:nvPr/>
        </p:nvSpPr>
        <p:spPr>
          <a:xfrm>
            <a:off x="10121900" y="1681482"/>
            <a:ext cx="63988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6F1"/>
                </a:solidFill>
                <a:latin typeface="IBM Plex Sans" pitchFamily="34" charset="0"/>
                <a:ea typeface="IBM Plex Sans" pitchFamily="34" charset="-122"/>
                <a:cs typeface="IBM Plex Sans" pitchFamily="34" charset="-120"/>
              </a:rPr>
              <a:t>83.9%</a:t>
            </a:r>
            <a:endParaRPr lang="en-US" sz="1400" dirty="0"/>
          </a:p>
        </p:txBody>
      </p:sp>
      <p:sp>
        <p:nvSpPr>
          <p:cNvPr id="12" name="Text 10"/>
          <p:cNvSpPr/>
          <p:nvPr/>
        </p:nvSpPr>
        <p:spPr>
          <a:xfrm>
            <a:off x="4826000" y="2032000"/>
            <a:ext cx="1574800" cy="27432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BFCBE0"/>
                </a:solidFill>
                <a:latin typeface="IBM Plex Sans" pitchFamily="34" charset="0"/>
                <a:ea typeface="IBM Plex Sans" pitchFamily="34" charset="-122"/>
                <a:cs typeface="IBM Plex Sans" pitchFamily="34" charset="-120"/>
              </a:rPr>
              <a:t>source.py</a:t>
            </a:r>
            <a:endParaRPr lang="en-US" sz="1400" dirty="0"/>
          </a:p>
        </p:txBody>
      </p:sp>
      <p:sp>
        <p:nvSpPr>
          <p:cNvPr id="13" name="Shape 11"/>
          <p:cNvSpPr/>
          <p:nvPr/>
        </p:nvSpPr>
        <p:spPr>
          <a:xfrm>
            <a:off x="6553200" y="2042161"/>
            <a:ext cx="3416300" cy="228600"/>
          </a:xfrm>
          <a:prstGeom prst="roundRect">
            <a:avLst>
              <a:gd name="adj" fmla="val 11111"/>
            </a:avLst>
          </a:prstGeom>
          <a:solidFill>
            <a:srgbClr val="5B6B8A"/>
          </a:solidFill>
          <a:ln/>
        </p:spPr>
        <p:txBody>
          <a:bodyPr/>
          <a:lstStyle/>
          <a:p>
            <a:endParaRPr/>
          </a:p>
        </p:txBody>
      </p:sp>
      <p:sp>
        <p:nvSpPr>
          <p:cNvPr id="14" name="Text 12"/>
          <p:cNvSpPr/>
          <p:nvPr/>
        </p:nvSpPr>
        <p:spPr>
          <a:xfrm>
            <a:off x="10121900" y="2032000"/>
            <a:ext cx="63988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6F1"/>
                </a:solidFill>
                <a:latin typeface="IBM Plex Sans" pitchFamily="34" charset="0"/>
                <a:ea typeface="IBM Plex Sans" pitchFamily="34" charset="-122"/>
                <a:cs typeface="IBM Plex Sans" pitchFamily="34" charset="-120"/>
              </a:rPr>
              <a:t>82.7%</a:t>
            </a:r>
            <a:endParaRPr lang="en-US" sz="1400" dirty="0"/>
          </a:p>
        </p:txBody>
      </p:sp>
      <p:sp>
        <p:nvSpPr>
          <p:cNvPr id="15" name="Text 13"/>
          <p:cNvSpPr/>
          <p:nvPr/>
        </p:nvSpPr>
        <p:spPr>
          <a:xfrm>
            <a:off x="4826000" y="2382521"/>
            <a:ext cx="1574800" cy="27432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BFCBE0"/>
                </a:solidFill>
                <a:latin typeface="IBM Plex Sans" pitchFamily="34" charset="0"/>
                <a:ea typeface="IBM Plex Sans" pitchFamily="34" charset="-122"/>
                <a:cs typeface="IBM Plex Sans" pitchFamily="34" charset="-120"/>
              </a:rPr>
              <a:t>toml_file.py</a:t>
            </a:r>
            <a:endParaRPr lang="en-US" sz="1400" dirty="0"/>
          </a:p>
        </p:txBody>
      </p:sp>
      <p:sp>
        <p:nvSpPr>
          <p:cNvPr id="16" name="Shape 14"/>
          <p:cNvSpPr/>
          <p:nvPr/>
        </p:nvSpPr>
        <p:spPr>
          <a:xfrm>
            <a:off x="6553200" y="2392682"/>
            <a:ext cx="2997200" cy="228600"/>
          </a:xfrm>
          <a:prstGeom prst="roundRect">
            <a:avLst>
              <a:gd name="adj" fmla="val 11111"/>
            </a:avLst>
          </a:prstGeom>
          <a:solidFill>
            <a:srgbClr val="5B6B8A"/>
          </a:solidFill>
          <a:ln/>
        </p:spPr>
        <p:txBody>
          <a:bodyPr/>
          <a:lstStyle/>
          <a:p>
            <a:endParaRPr/>
          </a:p>
        </p:txBody>
      </p:sp>
      <p:sp>
        <p:nvSpPr>
          <p:cNvPr id="17" name="Text 15"/>
          <p:cNvSpPr/>
          <p:nvPr/>
        </p:nvSpPr>
        <p:spPr>
          <a:xfrm>
            <a:off x="9702800" y="2382521"/>
            <a:ext cx="63988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6F1"/>
                </a:solidFill>
                <a:latin typeface="IBM Plex Sans" pitchFamily="34" charset="0"/>
                <a:ea typeface="IBM Plex Sans" pitchFamily="34" charset="-122"/>
                <a:cs typeface="IBM Plex Sans" pitchFamily="34" charset="-120"/>
              </a:rPr>
              <a:t>72.6%</a:t>
            </a:r>
            <a:endParaRPr lang="en-US" sz="1400" dirty="0"/>
          </a:p>
        </p:txBody>
      </p:sp>
      <p:sp>
        <p:nvSpPr>
          <p:cNvPr id="18" name="Text 16"/>
          <p:cNvSpPr/>
          <p:nvPr/>
        </p:nvSpPr>
        <p:spPr>
          <a:xfrm>
            <a:off x="4826000" y="2733039"/>
            <a:ext cx="157480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parser.py</a:t>
            </a:r>
            <a:endParaRPr lang="en-US" sz="1400" dirty="0"/>
          </a:p>
        </p:txBody>
      </p:sp>
      <p:sp>
        <p:nvSpPr>
          <p:cNvPr id="19" name="Shape 17"/>
          <p:cNvSpPr/>
          <p:nvPr/>
        </p:nvSpPr>
        <p:spPr>
          <a:xfrm>
            <a:off x="6553200" y="2743200"/>
            <a:ext cx="2641600" cy="228600"/>
          </a:xfrm>
          <a:prstGeom prst="roundRect">
            <a:avLst>
              <a:gd name="adj" fmla="val 11111"/>
            </a:avLst>
          </a:prstGeom>
          <a:solidFill>
            <a:srgbClr val="8FB3F0"/>
          </a:solidFill>
          <a:ln/>
        </p:spPr>
        <p:txBody>
          <a:bodyPr/>
          <a:lstStyle/>
          <a:p>
            <a:endParaRPr/>
          </a:p>
        </p:txBody>
      </p:sp>
      <p:sp>
        <p:nvSpPr>
          <p:cNvPr id="20" name="Text 18"/>
          <p:cNvSpPr/>
          <p:nvPr/>
        </p:nvSpPr>
        <p:spPr>
          <a:xfrm>
            <a:off x="9347200" y="2733039"/>
            <a:ext cx="63988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6F1"/>
                </a:solidFill>
                <a:latin typeface="IBM Plex Sans" pitchFamily="34" charset="0"/>
                <a:ea typeface="IBM Plex Sans" pitchFamily="34" charset="-122"/>
                <a:cs typeface="IBM Plex Sans" pitchFamily="34" charset="-120"/>
              </a:rPr>
              <a:t>64.0%</a:t>
            </a:r>
            <a:endParaRPr lang="en-US" sz="1400" dirty="0"/>
          </a:p>
        </p:txBody>
      </p:sp>
      <p:sp>
        <p:nvSpPr>
          <p:cNvPr id="21" name="Text 19"/>
          <p:cNvSpPr/>
          <p:nvPr/>
        </p:nvSpPr>
        <p:spPr>
          <a:xfrm>
            <a:off x="4826000" y="3083561"/>
            <a:ext cx="157480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items.py</a:t>
            </a:r>
            <a:endParaRPr lang="en-US" sz="1400" dirty="0"/>
          </a:p>
        </p:txBody>
      </p:sp>
      <p:sp>
        <p:nvSpPr>
          <p:cNvPr id="22" name="Shape 20"/>
          <p:cNvSpPr/>
          <p:nvPr/>
        </p:nvSpPr>
        <p:spPr>
          <a:xfrm>
            <a:off x="6553200" y="3093721"/>
            <a:ext cx="2241550" cy="228600"/>
          </a:xfrm>
          <a:prstGeom prst="roundRect">
            <a:avLst>
              <a:gd name="adj" fmla="val 11111"/>
            </a:avLst>
          </a:prstGeom>
          <a:solidFill>
            <a:srgbClr val="8FB3F0"/>
          </a:solidFill>
          <a:ln/>
        </p:spPr>
        <p:txBody>
          <a:bodyPr/>
          <a:lstStyle/>
          <a:p>
            <a:endParaRPr/>
          </a:p>
        </p:txBody>
      </p:sp>
      <p:sp>
        <p:nvSpPr>
          <p:cNvPr id="23" name="Text 21"/>
          <p:cNvSpPr/>
          <p:nvPr/>
        </p:nvSpPr>
        <p:spPr>
          <a:xfrm>
            <a:off x="8947150" y="3083561"/>
            <a:ext cx="63988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6F1"/>
                </a:solidFill>
                <a:latin typeface="IBM Plex Sans" pitchFamily="34" charset="0"/>
                <a:ea typeface="IBM Plex Sans" pitchFamily="34" charset="-122"/>
                <a:cs typeface="IBM Plex Sans" pitchFamily="34" charset="-120"/>
              </a:rPr>
              <a:t>54.1%</a:t>
            </a:r>
            <a:endParaRPr lang="en-US" sz="1400" dirty="0"/>
          </a:p>
        </p:txBody>
      </p:sp>
      <p:sp>
        <p:nvSpPr>
          <p:cNvPr id="24" name="Text 22"/>
          <p:cNvSpPr/>
          <p:nvPr/>
        </p:nvSpPr>
        <p:spPr>
          <a:xfrm>
            <a:off x="4826000" y="3434082"/>
            <a:ext cx="1574800" cy="274320"/>
          </a:xfrm>
          <a:prstGeom prst="rect">
            <a:avLst/>
          </a:prstGeom>
          <a:noFill/>
          <a:ln/>
        </p:spPr>
        <p:txBody>
          <a:bodyPr wrap="square" lIns="0" tIns="0" rIns="0" bIns="0" rtlCol="0" anchor="t">
            <a:normAutofit/>
          </a:bodyPr>
          <a:lstStyle/>
          <a:p>
            <a:pPr marL="0" indent="0" algn="r">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container.py</a:t>
            </a:r>
            <a:endParaRPr lang="en-US" sz="1400" dirty="0"/>
          </a:p>
        </p:txBody>
      </p:sp>
      <p:sp>
        <p:nvSpPr>
          <p:cNvPr id="25" name="Shape 23"/>
          <p:cNvSpPr/>
          <p:nvPr/>
        </p:nvSpPr>
        <p:spPr>
          <a:xfrm>
            <a:off x="6553200" y="3444239"/>
            <a:ext cx="1949450" cy="228600"/>
          </a:xfrm>
          <a:prstGeom prst="roundRect">
            <a:avLst>
              <a:gd name="adj" fmla="val 11111"/>
            </a:avLst>
          </a:prstGeom>
          <a:solidFill>
            <a:srgbClr val="8FB3F0"/>
          </a:solidFill>
          <a:ln/>
        </p:spPr>
        <p:txBody>
          <a:bodyPr/>
          <a:lstStyle/>
          <a:p>
            <a:endParaRPr/>
          </a:p>
        </p:txBody>
      </p:sp>
      <p:sp>
        <p:nvSpPr>
          <p:cNvPr id="26" name="Text 24"/>
          <p:cNvSpPr/>
          <p:nvPr/>
        </p:nvSpPr>
        <p:spPr>
          <a:xfrm>
            <a:off x="8655050" y="3434082"/>
            <a:ext cx="63988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6F1"/>
                </a:solidFill>
                <a:latin typeface="IBM Plex Sans" pitchFamily="34" charset="0"/>
                <a:ea typeface="IBM Plex Sans" pitchFamily="34" charset="-122"/>
                <a:cs typeface="IBM Plex Sans" pitchFamily="34" charset="-120"/>
              </a:rPr>
              <a:t>47.2%</a:t>
            </a:r>
            <a:endParaRPr lang="en-US" sz="1400" dirty="0"/>
          </a:p>
        </p:txBody>
      </p:sp>
      <p:sp>
        <p:nvSpPr>
          <p:cNvPr id="27" name="Text 25"/>
          <p:cNvSpPr/>
          <p:nvPr/>
        </p:nvSpPr>
        <p:spPr>
          <a:xfrm>
            <a:off x="4826000" y="3784600"/>
            <a:ext cx="1574800" cy="27432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BFCBE0"/>
                </a:solidFill>
                <a:latin typeface="IBM Plex Sans" pitchFamily="34" charset="0"/>
                <a:ea typeface="IBM Plex Sans" pitchFamily="34" charset="-122"/>
                <a:cs typeface="IBM Plex Sans" pitchFamily="34" charset="-120"/>
              </a:rPr>
              <a:t>exceptions.py</a:t>
            </a:r>
            <a:endParaRPr lang="en-US" sz="1400" dirty="0"/>
          </a:p>
        </p:txBody>
      </p:sp>
      <p:sp>
        <p:nvSpPr>
          <p:cNvPr id="28" name="Shape 26"/>
          <p:cNvSpPr/>
          <p:nvPr/>
        </p:nvSpPr>
        <p:spPr>
          <a:xfrm>
            <a:off x="6553200" y="3794761"/>
            <a:ext cx="1371600" cy="228600"/>
          </a:xfrm>
          <a:prstGeom prst="roundRect">
            <a:avLst>
              <a:gd name="adj" fmla="val 11111"/>
            </a:avLst>
          </a:prstGeom>
          <a:solidFill>
            <a:srgbClr val="5B6B8A"/>
          </a:solidFill>
          <a:ln/>
        </p:spPr>
        <p:txBody>
          <a:bodyPr/>
          <a:lstStyle/>
          <a:p>
            <a:endParaRPr/>
          </a:p>
        </p:txBody>
      </p:sp>
      <p:sp>
        <p:nvSpPr>
          <p:cNvPr id="29" name="Text 27"/>
          <p:cNvSpPr/>
          <p:nvPr/>
        </p:nvSpPr>
        <p:spPr>
          <a:xfrm>
            <a:off x="8077200" y="3784600"/>
            <a:ext cx="63988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6F1"/>
                </a:solidFill>
                <a:latin typeface="IBM Plex Sans" pitchFamily="34" charset="0"/>
                <a:ea typeface="IBM Plex Sans" pitchFamily="34" charset="-122"/>
                <a:cs typeface="IBM Plex Sans" pitchFamily="34" charset="-120"/>
              </a:rPr>
              <a:t>33.3%</a:t>
            </a:r>
            <a:endParaRPr lang="en-US" sz="1400" dirty="0"/>
          </a:p>
        </p:txBody>
      </p:sp>
      <p:sp>
        <p:nvSpPr>
          <p:cNvPr id="30" name="Shape 28"/>
          <p:cNvSpPr/>
          <p:nvPr/>
        </p:nvSpPr>
        <p:spPr>
          <a:xfrm>
            <a:off x="9442450" y="1330961"/>
            <a:ext cx="19050" cy="3048000"/>
          </a:xfrm>
          <a:prstGeom prst="rect">
            <a:avLst/>
          </a:prstGeom>
          <a:solidFill>
            <a:srgbClr val="E8A35C"/>
          </a:solidFill>
          <a:ln/>
        </p:spPr>
        <p:txBody>
          <a:bodyPr/>
          <a:lstStyle/>
          <a:p>
            <a:endParaRPr/>
          </a:p>
        </p:txBody>
      </p:sp>
      <p:sp>
        <p:nvSpPr>
          <p:cNvPr id="31" name="Text 29"/>
          <p:cNvSpPr/>
          <p:nvPr/>
        </p:nvSpPr>
        <p:spPr>
          <a:xfrm>
            <a:off x="9518650" y="4429761"/>
            <a:ext cx="13208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A35C"/>
                </a:solidFill>
                <a:latin typeface="IBM Plex Sans" pitchFamily="34" charset="0"/>
                <a:ea typeface="IBM Plex Sans" pitchFamily="34" charset="-122"/>
                <a:cs typeface="IBM Plex Sans" pitchFamily="34" charset="-120"/>
              </a:rPr>
              <a:t>target 70%</a:t>
            </a:r>
            <a:endParaRPr lang="en-US" sz="1200" dirty="0"/>
          </a:p>
        </p:txBody>
      </p:sp>
      <p:sp>
        <p:nvSpPr>
          <p:cNvPr id="32" name="Text 30"/>
          <p:cNvSpPr/>
          <p:nvPr/>
        </p:nvSpPr>
        <p:spPr>
          <a:xfrm>
            <a:off x="812800" y="4338321"/>
            <a:ext cx="1046480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E0"/>
                </a:solidFill>
                <a:latin typeface="IBM Plex Sans" pitchFamily="34" charset="0"/>
                <a:ea typeface="IBM Plex Sans" pitchFamily="34" charset="-122"/>
                <a:cs typeface="IBM Plex Sans" pitchFamily="34" charset="-120"/>
              </a:rPr>
              <a:t>Light blue: the three largest modules (86% of mutants); all below target.</a:t>
            </a:r>
            <a:endParaRPr lang="en-US" sz="1400" dirty="0"/>
          </a:p>
        </p:txBody>
      </p:sp>
      <p:sp>
        <p:nvSpPr>
          <p:cNvPr id="33" name="Text 31"/>
          <p:cNvSpPr/>
          <p:nvPr/>
        </p:nvSpPr>
        <p:spPr>
          <a:xfrm>
            <a:off x="812800" y="6238239"/>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7B0"/>
                </a:solidFill>
                <a:latin typeface="IBM Plex Sans" pitchFamily="34" charset="0"/>
                <a:ea typeface="IBM Plex Sans" pitchFamily="34" charset="-122"/>
                <a:cs typeface="IBM Plex Sans" pitchFamily="34" charset="-120"/>
              </a:rPr>
              <a:t>mutmut 3.8.0 on tests_ai/ at commit 8c959b5 (pre-TDD code) · week7/mutmut_results_v1.txt</a:t>
            </a:r>
            <a:endParaRPr lang="en-US" sz="1200" dirty="0"/>
          </a:p>
        </p:txBody>
      </p:sp>
      <p:sp>
        <p:nvSpPr>
          <p:cNvPr id="34" name="Text 32"/>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97B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47E51241-6031-BF4F-014D-40548B9A173F}"/>
              </a:ext>
            </a:extLst>
          </p:cNvPr>
          <p:cNvGraphicFramePr>
            <a:graphicFrameLocks noGrp="1"/>
          </p:cNvGraphicFramePr>
          <p:nvPr>
            <p:extLst>
              <p:ext uri="{D42A27DB-BD31-4B8C-83A1-F6EECF244321}">
                <p14:modId xmlns:p14="http://schemas.microsoft.com/office/powerpoint/2010/main" val="3747802517"/>
              </p:ext>
            </p:extLst>
          </p:nvPr>
        </p:nvGraphicFramePr>
        <p:xfrm>
          <a:off x="1570689" y="1097280"/>
          <a:ext cx="9372928" cy="50292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813816" y="347472"/>
            <a:ext cx="10881360" cy="237744"/>
          </a:xfrm>
          <a:prstGeom prst="rect">
            <a:avLst/>
          </a:prstGeom>
          <a:noFill/>
        </p:spPr>
        <p:txBody>
          <a:bodyPr wrap="square" lIns="0" tIns="0" rIns="0" bIns="0" anchor="ctr">
            <a:spAutoFit/>
          </a:bodyPr>
          <a:lstStyle/>
          <a:p>
            <a:pPr algn="l"/>
            <a:r>
              <a:rPr sz="1200" b="0">
                <a:solidFill>
                  <a:srgbClr val="8FB3F0"/>
                </a:solidFill>
                <a:latin typeface="JetBrains Mono"/>
              </a:rPr>
              <a:t>MUTATION TESTING · MODULE-LEVEL RESULTS</a:t>
            </a:r>
          </a:p>
        </p:txBody>
      </p:sp>
      <p:sp>
        <p:nvSpPr>
          <p:cNvPr id="6" name="TextBox 5"/>
          <p:cNvSpPr txBox="1"/>
          <p:nvPr/>
        </p:nvSpPr>
        <p:spPr>
          <a:xfrm>
            <a:off x="813816" y="566928"/>
            <a:ext cx="10881360" cy="475488"/>
          </a:xfrm>
          <a:prstGeom prst="rect">
            <a:avLst/>
          </a:prstGeom>
          <a:noFill/>
        </p:spPr>
        <p:txBody>
          <a:bodyPr wrap="square" lIns="0" tIns="0" rIns="0" bIns="0" anchor="ctr">
            <a:spAutoFit/>
          </a:bodyPr>
          <a:lstStyle/>
          <a:p>
            <a:pPr algn="l"/>
            <a:r>
              <a:rPr sz="2600" b="1">
                <a:solidFill>
                  <a:srgbClr val="F7F6F1"/>
                </a:solidFill>
                <a:latin typeface="IBM Plex Sans"/>
              </a:rPr>
              <a:t>Every module improved; the three largest modules gained the most</a:t>
            </a:r>
          </a:p>
        </p:txBody>
      </p:sp>
      <p:sp>
        <p:nvSpPr>
          <p:cNvPr id="7" name="TextBox 6"/>
          <p:cNvSpPr txBox="1"/>
          <p:nvPr/>
        </p:nvSpPr>
        <p:spPr>
          <a:xfrm>
            <a:off x="10058400" y="6236208"/>
            <a:ext cx="1316736" cy="256032"/>
          </a:xfrm>
          <a:prstGeom prst="rect">
            <a:avLst/>
          </a:prstGeom>
          <a:noFill/>
        </p:spPr>
        <p:txBody>
          <a:bodyPr wrap="square" lIns="0" tIns="0" rIns="0" bIns="0" anchor="ctr">
            <a:spAutoFit/>
          </a:bodyPr>
          <a:lstStyle/>
          <a:p>
            <a:pPr algn="r"/>
            <a:r>
              <a:rPr sz="1200" b="0">
                <a:solidFill>
                  <a:srgbClr val="BCCBE0"/>
                </a:solidFill>
                <a:latin typeface="IBM Plex Sans"/>
              </a:rPr>
              <a:t>8</a:t>
            </a:r>
          </a:p>
        </p:txBody>
      </p:sp>
    </p:spTree>
    <p:extLst>
      <p:ext uri="{BB962C8B-B14F-4D97-AF65-F5344CB8AC3E}">
        <p14:creationId xmlns:p14="http://schemas.microsoft.com/office/powerpoint/2010/main" val="1876944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90000"/>
            <a:lumOff val="10000"/>
          </a:schemeClr>
        </a:solidFill>
        <a:effectLst/>
      </p:bgPr>
    </p:bg>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69E476C6-715B-84F2-F5DF-B832D0B077F1}"/>
              </a:ext>
            </a:extLst>
          </p:cNvPr>
          <p:cNvGraphicFramePr>
            <a:graphicFrameLocks noGrp="1"/>
          </p:cNvGraphicFramePr>
          <p:nvPr>
            <p:extLst>
              <p:ext uri="{D42A27DB-BD31-4B8C-83A1-F6EECF244321}">
                <p14:modId xmlns:p14="http://schemas.microsoft.com/office/powerpoint/2010/main" val="3063404767"/>
              </p:ext>
            </p:extLst>
          </p:nvPr>
        </p:nvGraphicFramePr>
        <p:xfrm>
          <a:off x="1763730" y="1097280"/>
          <a:ext cx="8664539" cy="50292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813816" y="347472"/>
            <a:ext cx="10881360" cy="237744"/>
          </a:xfrm>
          <a:prstGeom prst="rect">
            <a:avLst/>
          </a:prstGeom>
          <a:noFill/>
        </p:spPr>
        <p:txBody>
          <a:bodyPr wrap="square" lIns="0" tIns="0" rIns="0" bIns="0" anchor="ctr">
            <a:spAutoFit/>
          </a:bodyPr>
          <a:lstStyle/>
          <a:p>
            <a:pPr algn="l"/>
            <a:r>
              <a:rPr sz="1200" b="0">
                <a:solidFill>
                  <a:srgbClr val="8FB3F0"/>
                </a:solidFill>
                <a:latin typeface="JetBrains Mono"/>
              </a:rPr>
              <a:t>MUTATION TESTING · OVERALL RESULT</a:t>
            </a:r>
          </a:p>
        </p:txBody>
      </p:sp>
      <p:sp>
        <p:nvSpPr>
          <p:cNvPr id="6" name="TextBox 5"/>
          <p:cNvSpPr txBox="1"/>
          <p:nvPr/>
        </p:nvSpPr>
        <p:spPr>
          <a:xfrm>
            <a:off x="813816" y="566928"/>
            <a:ext cx="10881360" cy="475488"/>
          </a:xfrm>
          <a:prstGeom prst="rect">
            <a:avLst/>
          </a:prstGeom>
          <a:noFill/>
        </p:spPr>
        <p:txBody>
          <a:bodyPr wrap="square" lIns="0" tIns="0" rIns="0" bIns="0" anchor="ctr">
            <a:spAutoFit/>
          </a:bodyPr>
          <a:lstStyle/>
          <a:p>
            <a:pPr algn="l"/>
            <a:r>
              <a:rPr sz="2600" b="1">
                <a:solidFill>
                  <a:srgbClr val="F7F6F1"/>
                </a:solidFill>
                <a:latin typeface="IBM Plex Sans"/>
              </a:rPr>
              <a:t>Library-wide mutation score rose from 57.8% to 77.4%</a:t>
            </a:r>
          </a:p>
        </p:txBody>
      </p:sp>
      <p:sp>
        <p:nvSpPr>
          <p:cNvPr id="7" name="TextBox 6"/>
          <p:cNvSpPr txBox="1"/>
          <p:nvPr/>
        </p:nvSpPr>
        <p:spPr>
          <a:xfrm>
            <a:off x="10058400" y="6236208"/>
            <a:ext cx="1316736" cy="256032"/>
          </a:xfrm>
          <a:prstGeom prst="rect">
            <a:avLst/>
          </a:prstGeom>
          <a:noFill/>
        </p:spPr>
        <p:txBody>
          <a:bodyPr wrap="square" lIns="0" tIns="0" rIns="0" bIns="0" anchor="ctr">
            <a:spAutoFit/>
          </a:bodyPr>
          <a:lstStyle/>
          <a:p>
            <a:pPr algn="r"/>
            <a:r>
              <a:rPr sz="1200" b="0">
                <a:solidFill>
                  <a:srgbClr val="BCCBE0"/>
                </a:solidFill>
                <a:latin typeface="IBM Plex Sans"/>
              </a:rPr>
              <a:t>10</a:t>
            </a:r>
          </a:p>
        </p:txBody>
      </p:sp>
    </p:spTree>
    <p:extLst>
      <p:ext uri="{BB962C8B-B14F-4D97-AF65-F5344CB8AC3E}">
        <p14:creationId xmlns:p14="http://schemas.microsoft.com/office/powerpoint/2010/main" val="3117392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WEEK 7 · WHY MUTANTS SURVIVED</a:t>
            </a:r>
            <a:endParaRPr lang="en-US" sz="1200" dirty="0"/>
          </a:p>
        </p:txBody>
      </p:sp>
      <p:sp>
        <p:nvSpPr>
          <p:cNvPr id="3" name="Text 1"/>
          <p:cNvSpPr>
            <a:spLocks noGrp="1"/>
          </p:cNvSpPr>
          <p:nvPr>
            <p:ph type="title"/>
          </p:nvPr>
        </p:nvSpPr>
        <p:spPr>
          <a:xfrm>
            <a:off x="812800" y="1330961"/>
            <a:ext cx="1046480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The baseline suite relied on representative examples rather than designed inputs</a:t>
            </a:r>
            <a:endParaRPr lang="en-US" sz="3600" dirty="0"/>
          </a:p>
        </p:txBody>
      </p:sp>
      <p:sp>
        <p:nvSpPr>
          <p:cNvPr id="4" name="Shape 2"/>
          <p:cNvSpPr/>
          <p:nvPr/>
        </p:nvSpPr>
        <p:spPr>
          <a:xfrm>
            <a:off x="815975" y="2644775"/>
            <a:ext cx="5200650" cy="1156970"/>
          </a:xfrm>
          <a:prstGeom prst="roundRect">
            <a:avLst>
              <a:gd name="adj" fmla="val 8507"/>
            </a:avLst>
          </a:prstGeom>
          <a:solidFill>
            <a:srgbClr val="FFFFFF"/>
          </a:solidFill>
          <a:ln w="6350">
            <a:solidFill>
              <a:srgbClr val="DEDCD3"/>
            </a:solidFill>
            <a:prstDash val="solid"/>
          </a:ln>
        </p:spPr>
        <p:txBody>
          <a:bodyPr/>
          <a:lstStyle/>
          <a:p>
            <a:endParaRPr/>
          </a:p>
        </p:txBody>
      </p:sp>
      <p:sp>
        <p:nvSpPr>
          <p:cNvPr id="5" name="Text 3"/>
          <p:cNvSpPr/>
          <p:nvPr/>
        </p:nvSpPr>
        <p:spPr>
          <a:xfrm>
            <a:off x="1071880" y="2849882"/>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Loose assertions</a:t>
            </a:r>
            <a:endParaRPr lang="en-US" sz="1600" dirty="0"/>
          </a:p>
        </p:txBody>
      </p:sp>
      <p:sp>
        <p:nvSpPr>
          <p:cNvPr id="6" name="Text 4"/>
          <p:cNvSpPr/>
          <p:nvPr/>
        </p:nvSpPr>
        <p:spPr>
          <a:xfrm>
            <a:off x="1071880" y="3169921"/>
            <a:ext cx="482950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only position test asserted col &gt;= 4, so an off-by-one survived. Correction: assert exact (line, column).</a:t>
            </a:r>
            <a:endParaRPr lang="en-US" sz="1200" dirty="0"/>
          </a:p>
        </p:txBody>
      </p:sp>
      <p:sp>
        <p:nvSpPr>
          <p:cNvPr id="7" name="Shape 5"/>
          <p:cNvSpPr/>
          <p:nvPr/>
        </p:nvSpPr>
        <p:spPr>
          <a:xfrm>
            <a:off x="6175375" y="2644775"/>
            <a:ext cx="5200650" cy="1156970"/>
          </a:xfrm>
          <a:prstGeom prst="roundRect">
            <a:avLst>
              <a:gd name="adj" fmla="val 8507"/>
            </a:avLst>
          </a:prstGeom>
          <a:solidFill>
            <a:srgbClr val="FFFFFF"/>
          </a:solidFill>
          <a:ln w="6350">
            <a:solidFill>
              <a:srgbClr val="DEDCD3"/>
            </a:solidFill>
            <a:prstDash val="solid"/>
          </a:ln>
        </p:spPr>
        <p:txBody>
          <a:bodyPr/>
          <a:lstStyle/>
          <a:p>
            <a:endParaRPr/>
          </a:p>
        </p:txBody>
      </p:sp>
      <p:sp>
        <p:nvSpPr>
          <p:cNvPr id="8" name="Text 6"/>
          <p:cNvSpPr/>
          <p:nvPr/>
        </p:nvSpPr>
        <p:spPr>
          <a:xfrm>
            <a:off x="6431280" y="2849882"/>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One example per class</a:t>
            </a:r>
            <a:endParaRPr lang="en-US" sz="1600" dirty="0"/>
          </a:p>
        </p:txBody>
      </p:sp>
      <p:sp>
        <p:nvSpPr>
          <p:cNvPr id="9" name="Text 7"/>
          <p:cNvSpPr/>
          <p:nvPr/>
        </p:nvSpPr>
        <p:spPr>
          <a:xfrm>
            <a:off x="6431280" y="3169921"/>
            <a:ext cx="482950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Covered “\n” but not “\r” in comments; one bad escape, not backslash + space. Correction: equivalence partitioning.</a:t>
            </a:r>
            <a:endParaRPr lang="en-US" sz="1200" dirty="0"/>
          </a:p>
        </p:txBody>
      </p:sp>
      <p:sp>
        <p:nvSpPr>
          <p:cNvPr id="10" name="Shape 8"/>
          <p:cNvSpPr/>
          <p:nvPr/>
        </p:nvSpPr>
        <p:spPr>
          <a:xfrm>
            <a:off x="815975" y="3960496"/>
            <a:ext cx="5200650" cy="1156970"/>
          </a:xfrm>
          <a:prstGeom prst="roundRect">
            <a:avLst>
              <a:gd name="adj" fmla="val 8507"/>
            </a:avLst>
          </a:prstGeom>
          <a:solidFill>
            <a:srgbClr val="FFFFFF"/>
          </a:solidFill>
          <a:ln w="6350">
            <a:solidFill>
              <a:srgbClr val="DEDCD3"/>
            </a:solidFill>
            <a:prstDash val="solid"/>
          </a:ln>
        </p:spPr>
        <p:txBody>
          <a:bodyPr/>
          <a:lstStyle/>
          <a:p>
            <a:endParaRPr/>
          </a:p>
        </p:txBody>
      </p:sp>
      <p:sp>
        <p:nvSpPr>
          <p:cNvPr id="11" name="Text 9"/>
          <p:cNvSpPr/>
          <p:nvPr/>
        </p:nvSpPr>
        <p:spPr>
          <a:xfrm>
            <a:off x="1071880" y="4165600"/>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Missing boundaries</a:t>
            </a:r>
            <a:endParaRPr lang="en-US" sz="1600" dirty="0"/>
          </a:p>
        </p:txBody>
      </p:sp>
      <p:sp>
        <p:nvSpPr>
          <p:cNvPr id="12" name="Text 10"/>
          <p:cNvSpPr/>
          <p:nvPr/>
        </p:nvSpPr>
        <p:spPr>
          <a:xfrm>
            <a:off x="1071880" y="4485642"/>
            <a:ext cx="482950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Offsets +05:30 and −08:00 masked a parser that dropped the first digit; +10:00 exposes it. Correction: boundary value analysis.</a:t>
            </a:r>
            <a:endParaRPr lang="en-US" sz="1200" dirty="0"/>
          </a:p>
        </p:txBody>
      </p:sp>
      <p:sp>
        <p:nvSpPr>
          <p:cNvPr id="13" name="Shape 11"/>
          <p:cNvSpPr/>
          <p:nvPr/>
        </p:nvSpPr>
        <p:spPr>
          <a:xfrm>
            <a:off x="6175375" y="3960496"/>
            <a:ext cx="5200650" cy="1156970"/>
          </a:xfrm>
          <a:prstGeom prst="roundRect">
            <a:avLst>
              <a:gd name="adj" fmla="val 8507"/>
            </a:avLst>
          </a:prstGeom>
          <a:solidFill>
            <a:srgbClr val="FFFFFF"/>
          </a:solidFill>
          <a:ln w="6350">
            <a:solidFill>
              <a:srgbClr val="DEDCD3"/>
            </a:solidFill>
            <a:prstDash val="solid"/>
          </a:ln>
        </p:spPr>
        <p:txBody>
          <a:bodyPr/>
          <a:lstStyle/>
          <a:p>
            <a:endParaRPr/>
          </a:p>
        </p:txBody>
      </p:sp>
      <p:sp>
        <p:nvSpPr>
          <p:cNvPr id="14" name="Text 12"/>
          <p:cNvSpPr/>
          <p:nvPr/>
        </p:nvSpPr>
        <p:spPr>
          <a:xfrm>
            <a:off x="6431280" y="4165600"/>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Untested combinations</a:t>
            </a:r>
            <a:endParaRPr lang="en-US" sz="1600" dirty="0"/>
          </a:p>
        </p:txBody>
      </p:sp>
      <p:sp>
        <p:nvSpPr>
          <p:cNvPr id="15" name="Text 13"/>
          <p:cNvSpPr/>
          <p:nvPr/>
        </p:nvSpPr>
        <p:spPr>
          <a:xfrm>
            <a:off x="6431280" y="4485642"/>
            <a:ext cx="482950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sort_keys was tested on tables but never on arrays of tables. Correction: a decision table.</a:t>
            </a:r>
            <a:endParaRPr lang="en-US" sz="1200" dirty="0"/>
          </a:p>
        </p:txBody>
      </p:sp>
      <p:sp>
        <p:nvSpPr>
          <p:cNvPr id="16" name="Text 14"/>
          <p:cNvSpPr/>
          <p:nvPr/>
        </p:nvSpPr>
        <p:spPr>
          <a:xfrm>
            <a:off x="812800" y="54254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We wrote 11 manual tests, one per root cause, and confirmed that each fails against its mutant and passes on the unmodified code.</a:t>
            </a:r>
            <a:endParaRPr lang="en-US" sz="1400" dirty="0"/>
          </a:p>
        </p:txBody>
      </p:sp>
      <p:sp>
        <p:nvSpPr>
          <p:cNvPr id="17" name="Text 15"/>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tests_manual/test_kill_v1.py · 11 targeted tests, one per root cause</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00000000-0008-0000-0300-000003000000}"/>
              </a:ext>
            </a:extLst>
          </p:cNvPr>
          <p:cNvGraphicFramePr>
            <a:graphicFrameLocks/>
          </p:cNvGraphicFramePr>
          <p:nvPr>
            <p:extLst>
              <p:ext uri="{D42A27DB-BD31-4B8C-83A1-F6EECF244321}">
                <p14:modId xmlns:p14="http://schemas.microsoft.com/office/powerpoint/2010/main" val="3048904191"/>
              </p:ext>
            </p:extLst>
          </p:nvPr>
        </p:nvGraphicFramePr>
        <p:xfrm>
          <a:off x="1020726" y="818707"/>
          <a:ext cx="10026502" cy="483781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7154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TRACK D · PROPERTY-BASED TESTING</a:t>
            </a:r>
            <a:endParaRPr lang="en-US" sz="1200" dirty="0"/>
          </a:p>
        </p:txBody>
      </p:sp>
      <p:sp>
        <p:nvSpPr>
          <p:cNvPr id="3" name="Text 1"/>
          <p:cNvSpPr>
            <a:spLocks noGrp="1"/>
          </p:cNvSpPr>
          <p:nvPr>
            <p:ph type="title"/>
          </p:nvPr>
        </p:nvSpPr>
        <p:spPr>
          <a:xfrm>
            <a:off x="812800" y="1330964"/>
            <a:ext cx="1046480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Hypothesis identified a defect that no example-based test had exercised</a:t>
            </a:r>
            <a:endParaRPr lang="en-US" sz="3600" dirty="0"/>
          </a:p>
        </p:txBody>
      </p:sp>
      <p:sp>
        <p:nvSpPr>
          <p:cNvPr id="4" name="Text 2"/>
          <p:cNvSpPr/>
          <p:nvPr/>
        </p:nvSpPr>
        <p:spPr>
          <a:xfrm>
            <a:off x="812800" y="2641600"/>
            <a:ext cx="6514338"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Rather than examples, we define properties that must hold for all inputs; Hypothesis generates hundreds of inputs to test them.</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3347724"/>
          <a:ext cx="6314440" cy="2141220"/>
        </p:xfrm>
        <a:graphic>
          <a:graphicData uri="http://schemas.openxmlformats.org/drawingml/2006/table">
            <a:tbl>
              <a:tblPr/>
              <a:tblGrid>
                <a:gridCol w="3914953">
                  <a:extLst>
                    <a:ext uri="{9D8B030D-6E8A-4147-A177-3AD203B41FA5}">
                      <a16:colId xmlns:a16="http://schemas.microsoft.com/office/drawing/2014/main" val="20000"/>
                    </a:ext>
                  </a:extLst>
                </a:gridCol>
                <a:gridCol w="2399487">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Property</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Result</a:t>
                      </a:r>
                      <a:endParaRPr lang="en-US" sz="1300" dirty="0">
                        <a:latin typeface="IBM Plex Sans" charset="0"/>
                        <a:ea typeface="IBM Plex Sans" charset="0"/>
                        <a:cs typeface="IBM Plex Sans" charset="0"/>
                      </a:endParaRPr>
                    </a:p>
                  </a:txBody>
                  <a:tcPr marL="57785" marR="57785" marT="57785" marB="57785">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dumps then parse preserves the data</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holds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unchanged document re-serialises byte-for-byte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holds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any string round-trips across all four string types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A9480F"/>
                          </a:solidFill>
                          <a:latin typeface="IBM Plex Sans" pitchFamily="34" charset="0"/>
                          <a:ea typeface="IBM Plex Sans" pitchFamily="34" charset="-122"/>
                          <a:cs typeface="IBM Plex Sans" pitchFamily="34" charset="-120"/>
                        </a:rPr>
                        <a:t>found D7</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64-bit integers round-trip</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holds</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4213D"/>
                          </a:solidFill>
                          <a:latin typeface="IBM Plex Sans" pitchFamily="34" charset="0"/>
                          <a:ea typeface="IBM Plex Sans" pitchFamily="34" charset="-122"/>
                          <a:cs typeface="IBM Plex Sans" pitchFamily="34" charset="-120"/>
                        </a:rPr>
                        <a:t>date/time factories accept only their own type</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820"/>
                        </a:lnSpc>
                        <a:buNone/>
                      </a:pPr>
                      <a:r>
                        <a:rPr lang="en-US" sz="1300" dirty="0">
                          <a:solidFill>
                            <a:srgbClr val="A9480F"/>
                          </a:solidFill>
                          <a:latin typeface="IBM Plex Sans" pitchFamily="34" charset="0"/>
                          <a:ea typeface="IBM Plex Sans" pitchFamily="34" charset="-122"/>
                          <a:cs typeface="IBM Plex Sans" pitchFamily="34" charset="-120"/>
                        </a:rPr>
                        <a:t>re-found D1</a:t>
                      </a:r>
                      <a:endParaRPr lang="en-US" sz="1300" dirty="0">
                        <a:latin typeface="IBM Plex Sans" charset="0"/>
                        <a:ea typeface="IBM Plex Sans" charset="0"/>
                        <a:cs typeface="IBM Plex Sans" charset="0"/>
                      </a:endParaRPr>
                    </a:p>
                  </a:txBody>
                  <a:tcPr marL="57785" marR="57785" marT="57785" marB="57785">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7442200" y="2641600"/>
            <a:ext cx="3937000" cy="2847340"/>
          </a:xfrm>
          <a:prstGeom prst="roundRect">
            <a:avLst>
              <a:gd name="adj" fmla="val 3568"/>
            </a:avLst>
          </a:prstGeom>
          <a:solidFill>
            <a:srgbClr val="14213D"/>
          </a:solidFill>
          <a:ln/>
        </p:spPr>
        <p:txBody>
          <a:bodyPr/>
          <a:lstStyle/>
          <a:p>
            <a:endParaRPr/>
          </a:p>
        </p:txBody>
      </p:sp>
      <p:sp>
        <p:nvSpPr>
          <p:cNvPr id="7" name="Text 4"/>
          <p:cNvSpPr/>
          <p:nvPr/>
        </p:nvSpPr>
        <p:spPr>
          <a:xfrm>
            <a:off x="7696200" y="2895600"/>
            <a:ext cx="353187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3F0"/>
                </a:solidFill>
                <a:latin typeface="JetBrains Mono" pitchFamily="49" charset="0"/>
                <a:ea typeface="JetBrains Mono" pitchFamily="49" charset="-122"/>
                <a:cs typeface="JetBrains Mono" pitchFamily="49" charset="-120"/>
              </a:rPr>
              <a:t>SHRUNK COUNTEREXAMPLE</a:t>
            </a:r>
            <a:endParaRPr lang="en-US" sz="1200" dirty="0"/>
          </a:p>
        </p:txBody>
      </p:sp>
      <p:sp>
        <p:nvSpPr>
          <p:cNvPr id="8" name="Text 5"/>
          <p:cNvSpPr/>
          <p:nvPr/>
        </p:nvSpPr>
        <p:spPr>
          <a:xfrm>
            <a:off x="7696200" y="3210564"/>
            <a:ext cx="353187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F7F6F1"/>
                </a:solidFill>
                <a:latin typeface="JetBrains Mono" pitchFamily="49" charset="0"/>
                <a:ea typeface="JetBrains Mono" pitchFamily="49" charset="-122"/>
                <a:cs typeface="JetBrains Mono" pitchFamily="49" charset="-120"/>
              </a:rPr>
              <a:t>string("\r",</a:t>
            </a:r>
            <a:endParaRPr lang="en-US" sz="1800" dirty="0"/>
          </a:p>
          <a:p>
            <a:pPr marL="0" indent="0" algn="l">
              <a:lnSpc>
                <a:spcPts val="2520"/>
              </a:lnSpc>
              <a:buNone/>
            </a:pPr>
            <a:r>
              <a:rPr lang="en-US" sz="1800" dirty="0">
                <a:solidFill>
                  <a:srgbClr val="F7F6F1"/>
                </a:solidFill>
                <a:latin typeface="JetBrains Mono" pitchFamily="49" charset="0"/>
                <a:ea typeface="JetBrains Mono" pitchFamily="49" charset="-122"/>
                <a:cs typeface="JetBrains Mono" pitchFamily="49" charset="-120"/>
              </a:rPr>
              <a:t>multiline=True)</a:t>
            </a:r>
            <a:endParaRPr lang="en-US" sz="1800" dirty="0"/>
          </a:p>
        </p:txBody>
      </p:sp>
      <p:sp>
        <p:nvSpPr>
          <p:cNvPr id="9" name="Text 6"/>
          <p:cNvSpPr/>
          <p:nvPr/>
        </p:nvSpPr>
        <p:spPr>
          <a:xfrm>
            <a:off x="7696200" y="3952242"/>
            <a:ext cx="3531870"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E0"/>
                </a:solidFill>
                <a:latin typeface="IBM Plex Sans" pitchFamily="34" charset="0"/>
                <a:ea typeface="IBM Plex Sans" pitchFamily="34" charset="-122"/>
                <a:cs typeface="IBM Plex Sans" pitchFamily="34" charset="-120"/>
              </a:rPr>
              <a:t>writes a lone carriage return into the file, which tomlkit then refuses to parse.</a:t>
            </a:r>
            <a:endParaRPr lang="en-US" sz="1400" dirty="0"/>
          </a:p>
        </p:txBody>
      </p:sp>
      <p:sp>
        <p:nvSpPr>
          <p:cNvPr id="10" name="Text 7"/>
          <p:cNvSpPr/>
          <p:nvPr/>
        </p:nvSpPr>
        <p:spPr>
          <a:xfrm>
            <a:off x="7696200" y="4551679"/>
            <a:ext cx="3531870" cy="238760"/>
          </a:xfrm>
          <a:prstGeom prst="rect">
            <a:avLst/>
          </a:prstGeom>
          <a:noFill/>
          <a:ln/>
        </p:spPr>
        <p:txBody>
          <a:bodyPr wrap="square" lIns="0" tIns="0" rIns="0" bIns="0" rtlCol="0" anchor="t">
            <a:normAutofit fontScale="92500"/>
          </a:bodyPr>
          <a:lstStyle/>
          <a:p>
            <a:pPr marL="0" indent="0" algn="l">
              <a:lnSpc>
                <a:spcPts val="1680"/>
              </a:lnSpc>
              <a:buNone/>
            </a:pPr>
            <a:r>
              <a:rPr lang="en-US" sz="1200" dirty="0">
                <a:solidFill>
                  <a:srgbClr val="8A97B0"/>
                </a:solidFill>
                <a:latin typeface="IBM Plex Sans" pitchFamily="34" charset="0"/>
                <a:ea typeface="IBM Plex Sans" pitchFamily="34" charset="-122"/>
                <a:cs typeface="IBM Plex Sans" pitchFamily="34" charset="-120"/>
              </a:rPr>
              <a:t>Found within seconds and reduced to a single character.</a:t>
            </a:r>
            <a:endParaRPr lang="en-US" sz="1200" dirty="0"/>
          </a:p>
        </p:txBody>
      </p:sp>
      <p:sp>
        <p:nvSpPr>
          <p:cNvPr id="11" name="Text 8"/>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tests_property/test_properties.py · 200 cases per property · Hypothesis 6.170.12 · 10 passed</a:t>
            </a:r>
            <a:endParaRPr lang="en-US" sz="1200" dirty="0"/>
          </a:p>
        </p:txBody>
      </p:sp>
      <p:sp>
        <p:nvSpPr>
          <p:cNvPr id="12" name="Text 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WEEK 7 · RISK-BASED PRIORITISATION</a:t>
            </a:r>
            <a:endParaRPr lang="en-US" sz="1200" dirty="0"/>
          </a:p>
        </p:txBody>
      </p:sp>
      <p:sp>
        <p:nvSpPr>
          <p:cNvPr id="3" name="Text 1"/>
          <p:cNvSpPr>
            <a:spLocks noGrp="1"/>
          </p:cNvSpPr>
          <p:nvPr>
            <p:ph type="title"/>
          </p:nvPr>
        </p:nvSpPr>
        <p:spPr>
          <a:xfrm>
            <a:off x="812800" y="1381764"/>
            <a:ext cx="1046480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Risk-based ordering detects regressions approximately three times sooner</a:t>
            </a:r>
            <a:endParaRPr lang="en-US" sz="3600" dirty="0"/>
          </a:p>
        </p:txBody>
      </p:sp>
      <p:sp>
        <p:nvSpPr>
          <p:cNvPr id="4" name="Text 2"/>
          <p:cNvSpPr/>
          <p:nvPr/>
        </p:nvSpPr>
        <p:spPr>
          <a:xfrm>
            <a:off x="812800" y="27432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Tests required to detect half of the sampled mutants</a:t>
            </a:r>
            <a:endParaRPr lang="en-US" sz="1400" dirty="0"/>
          </a:p>
        </p:txBody>
      </p:sp>
      <p:sp>
        <p:nvSpPr>
          <p:cNvPr id="5" name="Text 3"/>
          <p:cNvSpPr/>
          <p:nvPr/>
        </p:nvSpPr>
        <p:spPr>
          <a:xfrm>
            <a:off x="812800" y="3223264"/>
            <a:ext cx="235458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Risk-based order</a:t>
            </a:r>
            <a:endParaRPr lang="en-US" sz="1600" dirty="0"/>
          </a:p>
        </p:txBody>
      </p:sp>
      <p:sp>
        <p:nvSpPr>
          <p:cNvPr id="6" name="Shape 4"/>
          <p:cNvSpPr/>
          <p:nvPr/>
        </p:nvSpPr>
        <p:spPr>
          <a:xfrm>
            <a:off x="3251200" y="3187700"/>
            <a:ext cx="762000" cy="355600"/>
          </a:xfrm>
          <a:prstGeom prst="roundRect">
            <a:avLst>
              <a:gd name="adj" fmla="val 10714"/>
            </a:avLst>
          </a:prstGeom>
          <a:solidFill>
            <a:srgbClr val="2B5FB8"/>
          </a:solidFill>
          <a:ln/>
        </p:spPr>
        <p:txBody>
          <a:bodyPr/>
          <a:lstStyle/>
          <a:p>
            <a:endParaRPr/>
          </a:p>
        </p:txBody>
      </p:sp>
      <p:sp>
        <p:nvSpPr>
          <p:cNvPr id="7" name="Text 5"/>
          <p:cNvSpPr/>
          <p:nvPr/>
        </p:nvSpPr>
        <p:spPr>
          <a:xfrm>
            <a:off x="4165600" y="3169921"/>
            <a:ext cx="1250061"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5FB8"/>
                </a:solidFill>
                <a:latin typeface="IBM Plex Sans" pitchFamily="34" charset="0"/>
                <a:ea typeface="IBM Plex Sans" pitchFamily="34" charset="-122"/>
                <a:cs typeface="IBM Plex Sans" pitchFamily="34" charset="-120"/>
              </a:rPr>
              <a:t>16 tests</a:t>
            </a:r>
            <a:endParaRPr lang="en-US" sz="2200" dirty="0"/>
          </a:p>
        </p:txBody>
      </p:sp>
      <p:sp>
        <p:nvSpPr>
          <p:cNvPr id="8" name="Text 6"/>
          <p:cNvSpPr/>
          <p:nvPr/>
        </p:nvSpPr>
        <p:spPr>
          <a:xfrm>
            <a:off x="812800" y="3792221"/>
            <a:ext cx="2354580"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A5568"/>
                </a:solidFill>
                <a:latin typeface="IBM Plex Sans" pitchFamily="34" charset="0"/>
                <a:ea typeface="IBM Plex Sans" pitchFamily="34" charset="-122"/>
                <a:cs typeface="IBM Plex Sans" pitchFamily="34" charset="-120"/>
              </a:rPr>
              <a:t>pytest’s default order</a:t>
            </a:r>
            <a:endParaRPr lang="en-US" sz="1600" dirty="0"/>
          </a:p>
        </p:txBody>
      </p:sp>
      <p:sp>
        <p:nvSpPr>
          <p:cNvPr id="9" name="Shape 7"/>
          <p:cNvSpPr/>
          <p:nvPr/>
        </p:nvSpPr>
        <p:spPr>
          <a:xfrm>
            <a:off x="3251200" y="3756664"/>
            <a:ext cx="6540500" cy="355600"/>
          </a:xfrm>
          <a:prstGeom prst="roundRect">
            <a:avLst>
              <a:gd name="adj" fmla="val 10714"/>
            </a:avLst>
          </a:prstGeom>
          <a:solidFill>
            <a:srgbClr val="A7AFBD"/>
          </a:solidFill>
          <a:ln/>
        </p:spPr>
        <p:txBody>
          <a:bodyPr/>
          <a:lstStyle/>
          <a:p>
            <a:endParaRPr/>
          </a:p>
        </p:txBody>
      </p:sp>
      <p:sp>
        <p:nvSpPr>
          <p:cNvPr id="10" name="Text 8"/>
          <p:cNvSpPr/>
          <p:nvPr/>
        </p:nvSpPr>
        <p:spPr>
          <a:xfrm>
            <a:off x="9944100" y="3738879"/>
            <a:ext cx="603504"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4A5568"/>
                </a:solidFill>
                <a:latin typeface="IBM Plex Sans" pitchFamily="34" charset="0"/>
                <a:ea typeface="IBM Plex Sans" pitchFamily="34" charset="-122"/>
                <a:cs typeface="IBM Plex Sans" pitchFamily="34" charset="-120"/>
              </a:rPr>
              <a:t>51</a:t>
            </a:r>
            <a:endParaRPr lang="en-US" sz="2200" dirty="0"/>
          </a:p>
        </p:txBody>
      </p:sp>
      <p:sp>
        <p:nvSpPr>
          <p:cNvPr id="11" name="Shape 9"/>
          <p:cNvSpPr/>
          <p:nvPr/>
        </p:nvSpPr>
        <p:spPr>
          <a:xfrm>
            <a:off x="815975" y="4488817"/>
            <a:ext cx="5175250" cy="1131570"/>
          </a:xfrm>
          <a:prstGeom prst="roundRect">
            <a:avLst>
              <a:gd name="adj" fmla="val 8698"/>
            </a:avLst>
          </a:prstGeom>
          <a:solidFill>
            <a:srgbClr val="FFFFFF"/>
          </a:solidFill>
          <a:ln w="6350">
            <a:solidFill>
              <a:srgbClr val="DEDCD3"/>
            </a:solidFill>
            <a:prstDash val="solid"/>
          </a:ln>
        </p:spPr>
        <p:txBody>
          <a:bodyPr/>
          <a:lstStyle/>
          <a:p>
            <a:endParaRPr/>
          </a:p>
        </p:txBody>
      </p:sp>
      <p:sp>
        <p:nvSpPr>
          <p:cNvPr id="12" name="Text 10"/>
          <p:cNvSpPr/>
          <p:nvPr/>
        </p:nvSpPr>
        <p:spPr>
          <a:xfrm>
            <a:off x="1071880" y="4693921"/>
            <a:ext cx="480334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How the order is constructed</a:t>
            </a:r>
            <a:endParaRPr lang="en-US" sz="1600" dirty="0"/>
          </a:p>
        </p:txBody>
      </p:sp>
      <p:sp>
        <p:nvSpPr>
          <p:cNvPr id="13" name="Text 11"/>
          <p:cNvSpPr/>
          <p:nvPr/>
        </p:nvSpPr>
        <p:spPr>
          <a:xfrm>
            <a:off x="1071880" y="4988564"/>
            <a:ext cx="480334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Function risk = complexity × recent churn. Each subsequent test covers the highest remaining risk.</a:t>
            </a:r>
            <a:endParaRPr lang="en-US" sz="1200" dirty="0"/>
          </a:p>
        </p:txBody>
      </p:sp>
      <p:sp>
        <p:nvSpPr>
          <p:cNvPr id="14" name="Shape 12"/>
          <p:cNvSpPr/>
          <p:nvPr/>
        </p:nvSpPr>
        <p:spPr>
          <a:xfrm>
            <a:off x="6200775" y="4488817"/>
            <a:ext cx="5175250" cy="1131570"/>
          </a:xfrm>
          <a:prstGeom prst="roundRect">
            <a:avLst>
              <a:gd name="adj" fmla="val 8698"/>
            </a:avLst>
          </a:prstGeom>
          <a:solidFill>
            <a:srgbClr val="FFFFFF"/>
          </a:solidFill>
          <a:ln w="6350">
            <a:solidFill>
              <a:srgbClr val="DEDCD3"/>
            </a:solidFill>
            <a:prstDash val="solid"/>
          </a:ln>
        </p:spPr>
        <p:txBody>
          <a:bodyPr/>
          <a:lstStyle/>
          <a:p>
            <a:endParaRPr/>
          </a:p>
        </p:txBody>
      </p:sp>
      <p:sp>
        <p:nvSpPr>
          <p:cNvPr id="15" name="Text 13"/>
          <p:cNvSpPr/>
          <p:nvPr/>
        </p:nvSpPr>
        <p:spPr>
          <a:xfrm>
            <a:off x="6456680" y="4693921"/>
            <a:ext cx="480334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APFD 0.772 vs 0.637</a:t>
            </a:r>
            <a:endParaRPr lang="en-US" sz="1600" dirty="0"/>
          </a:p>
        </p:txBody>
      </p:sp>
      <p:sp>
        <p:nvSpPr>
          <p:cNvPr id="16" name="Text 14"/>
          <p:cNvSpPr/>
          <p:nvPr/>
        </p:nvSpPr>
        <p:spPr>
          <a:xfrm>
            <a:off x="6456680" y="4988564"/>
            <a:ext cx="4803343"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Higher than all 200 random orders (best 0.753). Mutation data was excluded from the ranking.</a:t>
            </a:r>
            <a:endParaRPr lang="en-US" sz="1200" dirty="0"/>
          </a:p>
        </p:txBody>
      </p:sp>
      <p:sp>
        <p:nvSpPr>
          <p:cNvPr id="17" name="Text 15"/>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258 sampled killed mutants · week7/prioritisation_eval.json, week7/priority_order.csv</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124BA81F-F57C-753A-DB66-BE0419A915C6}"/>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EEFB03CB-FFDD-827E-61CB-B094BA979BBB}"/>
              </a:ext>
            </a:extLst>
          </p:cNvPr>
          <p:cNvGraphicFramePr>
            <a:graphicFrameLocks noGrp="1"/>
          </p:cNvGraphicFramePr>
          <p:nvPr>
            <p:extLst>
              <p:ext uri="{D42A27DB-BD31-4B8C-83A1-F6EECF244321}">
                <p14:modId xmlns:p14="http://schemas.microsoft.com/office/powerpoint/2010/main" val="4136831385"/>
              </p:ext>
            </p:extLst>
          </p:nvPr>
        </p:nvGraphicFramePr>
        <p:xfrm>
          <a:off x="1042481" y="1097280"/>
          <a:ext cx="10107038" cy="5029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a:off x="813816" y="347472"/>
            <a:ext cx="10881360" cy="237744"/>
          </a:xfrm>
          <a:prstGeom prst="rect">
            <a:avLst/>
          </a:prstGeom>
          <a:noFill/>
        </p:spPr>
        <p:txBody>
          <a:bodyPr wrap="square" lIns="0" tIns="0" rIns="0" bIns="0" anchor="ctr">
            <a:spAutoFit/>
          </a:bodyPr>
          <a:lstStyle/>
          <a:p>
            <a:pPr algn="l"/>
            <a:r>
              <a:rPr sz="1200" b="0">
                <a:solidFill>
                  <a:srgbClr val="8FB3F0"/>
                </a:solidFill>
                <a:latin typeface="JetBrains Mono"/>
              </a:rPr>
              <a:t>RISK-BASED ORDERING · DETECTION CURVE</a:t>
            </a:r>
          </a:p>
        </p:txBody>
      </p:sp>
      <p:sp>
        <p:nvSpPr>
          <p:cNvPr id="4" name="TextBox 3"/>
          <p:cNvSpPr txBox="1"/>
          <p:nvPr/>
        </p:nvSpPr>
        <p:spPr>
          <a:xfrm>
            <a:off x="813816" y="566928"/>
            <a:ext cx="10881360" cy="475488"/>
          </a:xfrm>
          <a:prstGeom prst="rect">
            <a:avLst/>
          </a:prstGeom>
          <a:noFill/>
        </p:spPr>
        <p:txBody>
          <a:bodyPr wrap="square" lIns="0" tIns="0" rIns="0" bIns="0" anchor="ctr">
            <a:spAutoFit/>
          </a:bodyPr>
          <a:lstStyle/>
          <a:p>
            <a:pPr algn="l"/>
            <a:r>
              <a:rPr sz="2600" b="1">
                <a:solidFill>
                  <a:srgbClr val="F7F6F1"/>
                </a:solidFill>
                <a:latin typeface="IBM Plex Sans"/>
              </a:rPr>
              <a:t>Risk-based ordering detects mutants with far fewer tests</a:t>
            </a:r>
          </a:p>
        </p:txBody>
      </p:sp>
      <p:sp>
        <p:nvSpPr>
          <p:cNvPr id="5" name="TextBox 4"/>
          <p:cNvSpPr txBox="1"/>
          <p:nvPr/>
        </p:nvSpPr>
        <p:spPr>
          <a:xfrm>
            <a:off x="10058400" y="6236208"/>
            <a:ext cx="1316736" cy="256032"/>
          </a:xfrm>
          <a:prstGeom prst="rect">
            <a:avLst/>
          </a:prstGeom>
          <a:noFill/>
        </p:spPr>
        <p:txBody>
          <a:bodyPr wrap="square" lIns="0" tIns="0" rIns="0" bIns="0" anchor="ctr">
            <a:spAutoFit/>
          </a:bodyPr>
          <a:lstStyle/>
          <a:p>
            <a:pPr algn="r"/>
            <a:r>
              <a:rPr sz="1200" b="0">
                <a:solidFill>
                  <a:srgbClr val="BCCBE0"/>
                </a:solidFill>
                <a:latin typeface="IBM Plex Sans"/>
              </a:rPr>
              <a:t>9</a:t>
            </a:r>
          </a:p>
        </p:txBody>
      </p:sp>
    </p:spTree>
    <p:extLst>
      <p:ext uri="{BB962C8B-B14F-4D97-AF65-F5344CB8AC3E}">
        <p14:creationId xmlns:p14="http://schemas.microsoft.com/office/powerpoint/2010/main" val="3915111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RESULTS · DEFECTS</a:t>
            </a:r>
            <a:endParaRPr lang="en-US" sz="1200" dirty="0"/>
          </a:p>
        </p:txBody>
      </p:sp>
      <p:sp>
        <p:nvSpPr>
          <p:cNvPr id="3" name="Text 1"/>
          <p:cNvSpPr>
            <a:spLocks noGrp="1"/>
          </p:cNvSpPr>
          <p:nvPr>
            <p:ph type="title"/>
          </p:nvPr>
        </p:nvSpPr>
        <p:spPr>
          <a:xfrm>
            <a:off x="812800" y="1280164"/>
            <a:ext cx="11379200" cy="528320"/>
          </a:xfrm>
          <a:prstGeom prst="rect">
            <a:avLst/>
          </a:prstGeom>
          <a:noFill/>
          <a:ln/>
        </p:spPr>
        <p:txBody>
          <a:bodyPr wrap="square" lIns="0" tIns="0" rIns="0" bIns="0" rtlCol="0" anchor="t">
            <a:normAutofit/>
          </a:bodyPr>
          <a:lstStyle/>
          <a:p>
            <a:pPr marL="0" indent="0" algn="l">
              <a:lnSpc>
                <a:spcPts val="3960"/>
              </a:lnSpc>
              <a:buNone/>
            </a:pPr>
            <a:r>
              <a:rPr lang="en-US" sz="3200" b="1" i="0" dirty="0">
                <a:solidFill>
                  <a:srgbClr val="14213D"/>
                </a:solidFill>
                <a:latin typeface="IBM Plex Sans" pitchFamily="34" charset="0"/>
                <a:ea typeface="IBM Plex Sans" pitchFamily="34" charset="-122"/>
                <a:cs typeface="IBM Plex Sans" pitchFamily="34" charset="-120"/>
              </a:rPr>
              <a:t>Eight confirmed defects in 1,058 passing tests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047239"/>
          <a:ext cx="10556240" cy="2971800"/>
        </p:xfrm>
        <a:graphic>
          <a:graphicData uri="http://schemas.openxmlformats.org/drawingml/2006/table">
            <a:tbl>
              <a:tblPr/>
              <a:tblGrid>
                <a:gridCol w="738937">
                  <a:extLst>
                    <a:ext uri="{9D8B030D-6E8A-4147-A177-3AD203B41FA5}">
                      <a16:colId xmlns:a16="http://schemas.microsoft.com/office/drawing/2014/main" val="20000"/>
                    </a:ext>
                  </a:extLst>
                </a:gridCol>
                <a:gridCol w="5594807">
                  <a:extLst>
                    <a:ext uri="{9D8B030D-6E8A-4147-A177-3AD203B41FA5}">
                      <a16:colId xmlns:a16="http://schemas.microsoft.com/office/drawing/2014/main" val="20001"/>
                    </a:ext>
                  </a:extLst>
                </a:gridCol>
                <a:gridCol w="2639060">
                  <a:extLst>
                    <a:ext uri="{9D8B030D-6E8A-4147-A177-3AD203B41FA5}">
                      <a16:colId xmlns:a16="http://schemas.microsoft.com/office/drawing/2014/main" val="20002"/>
                    </a:ext>
                  </a:extLst>
                </a:gridCol>
                <a:gridCol w="1583436">
                  <a:extLst>
                    <a:ext uri="{9D8B030D-6E8A-4147-A177-3AD203B41FA5}">
                      <a16:colId xmlns:a16="http://schemas.microsoft.com/office/drawing/2014/main" val="20003"/>
                    </a:ext>
                  </a:extLst>
                </a:gridCol>
              </a:tblGrid>
              <a:tr h="330200">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Defect</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Found by</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tc>
                  <a:txBody>
                    <a:bodyPr/>
                    <a:lstStyle/>
                    <a:p>
                      <a:pPr marL="0" indent="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Status</a:t>
                      </a:r>
                      <a:endParaRPr lang="en-US" sz="1200" dirty="0">
                        <a:latin typeface="IBM Plex Sans" charset="0"/>
                        <a:ea typeface="IBM Plex Sans" charset="0"/>
                        <a:cs typeface="IBM Plex Sans" charset="0"/>
                      </a:endParaRPr>
                    </a:p>
                  </a:txBody>
                  <a:tcPr marL="53340" marR="53340" marT="53340" marB="53340">
                    <a:lnL w="12700" cap="flat" cmpd="sng" algn="ctr">
                      <a:solidFill>
                        <a:srgbClr val="B7B6B2"/>
                      </a:solidFill>
                      <a:prstDash val="solid"/>
                      <a:round/>
                      <a:headEnd type="none" w="med" len="med"/>
                      <a:tailEnd type="none" w="med" len="med"/>
                    </a:lnL>
                    <a:lnR w="12700" cap="flat" cmpd="sng" algn="ctr">
                      <a:solidFill>
                        <a:srgbClr val="B7B6B2"/>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B7B6B2"/>
                      </a:solidFill>
                      <a:prstDash val="solid"/>
                      <a:round/>
                      <a:headEnd type="none" w="med" len="med"/>
                      <a:tailEnd type="none" w="med" len="med"/>
                    </a:lnB>
                    <a:solidFill>
                      <a:srgbClr val="E5E4DF"/>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date() accepts datetime strings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AI-generated test, CrossHair</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2B5FB8"/>
                          </a:solidFill>
                          <a:latin typeface="IBM Plex Sans" pitchFamily="34" charset="0"/>
                          <a:ea typeface="IBM Plex Sans" pitchFamily="34" charset="-122"/>
                          <a:cs typeface="IBM Plex Sans" pitchFamily="34" charset="-120"/>
                        </a:rPr>
                        <a:t>Fixed (TDD)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B7B6B2"/>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two equal Bool items compare unequal</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AI-generated test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D3</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inline duplicate key escapes ParseError</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AI-generated test</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D5</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key([]) writes TOML that cannot be read back</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AI baseline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D6</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comment() with a lone CR breaks the file</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Exploratory testing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2B5FB8"/>
                          </a:solidFill>
                          <a:latin typeface="IBM Plex Sans" pitchFamily="34" charset="0"/>
                          <a:ea typeface="IBM Plex Sans" pitchFamily="34" charset="-122"/>
                          <a:cs typeface="IBM Plex Sans" pitchFamily="34" charset="-120"/>
                        </a:rPr>
                        <a:t>Fixed (TDD)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D7</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multiline strings emit a lone CR</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Hypothesis</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2B5FB8"/>
                          </a:solidFill>
                          <a:latin typeface="IBM Plex Sans" pitchFamily="34" charset="0"/>
                          <a:ea typeface="IBM Plex Sans" pitchFamily="34" charset="-122"/>
                          <a:cs typeface="IBM Plex Sans" pitchFamily="34" charset="-120"/>
                        </a:rPr>
                        <a:t>Fixed (TDD)</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D8</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insert(0, x) renders [0,1, 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Exploratory testing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M1</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_CustomDict.__or__ drops keys (internal base class only)</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Mutation run (Week 10)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tc>
                  <a:txBody>
                    <a:bodyPr/>
                    <a:lstStyle/>
                    <a:p>
                      <a:pPr marL="0" indent="0">
                        <a:lnSpc>
                          <a:spcPts val="1680"/>
                        </a:lnSpc>
                        <a:buNone/>
                      </a:pPr>
                      <a:r>
                        <a:rPr lang="en-US" sz="1200" dirty="0">
                          <a:solidFill>
                            <a:srgbClr val="14213D"/>
                          </a:solidFill>
                          <a:latin typeface="IBM Plex Sans" pitchFamily="34" charset="0"/>
                          <a:ea typeface="IBM Plex Sans" pitchFamily="34" charset="-122"/>
                          <a:cs typeface="IBM Plex Sans" pitchFamily="34" charset="-120"/>
                        </a:rPr>
                        <a:t>Open</a:t>
                      </a:r>
                      <a:endParaRPr lang="en-US" sz="1200" dirty="0">
                        <a:latin typeface="IBM Plex Sans" charset="0"/>
                        <a:ea typeface="IBM Plex Sans" charset="0"/>
                        <a:cs typeface="IBM Plex Sans" charset="0"/>
                      </a:endParaRPr>
                    </a:p>
                  </a:txBody>
                  <a:tcPr marL="53340" marR="53340" marT="53340" marB="53340">
                    <a:lnL w="12700" cap="flat" cmpd="sng" algn="ctr">
                      <a:solidFill>
                        <a:srgbClr val="C5C4C0"/>
                      </a:solidFill>
                      <a:prstDash val="solid"/>
                      <a:round/>
                      <a:headEnd type="none" w="med" len="med"/>
                      <a:tailEnd type="none" w="med" len="med"/>
                    </a:lnL>
                    <a:lnR w="12700" cap="flat" cmpd="sng" algn="ctr">
                      <a:solidFill>
                        <a:srgbClr val="C5C4C0"/>
                      </a:solidFill>
                      <a:prstDash val="solid"/>
                      <a:round/>
                      <a:headEnd type="none" w="med" len="med"/>
                      <a:tailEnd type="none" w="med" len="med"/>
                    </a:lnR>
                    <a:lnT w="12700" cap="flat" cmpd="sng" algn="ctr">
                      <a:solidFill>
                        <a:srgbClr val="C5C4C0"/>
                      </a:solidFill>
                      <a:prstDash val="solid"/>
                      <a:round/>
                      <a:headEnd type="none" w="med" len="med"/>
                      <a:tailEnd type="none" w="med" len="med"/>
                    </a:lnT>
                    <a:lnB w="12700" cap="flat" cmpd="sng" algn="ctr">
                      <a:solidFill>
                        <a:srgbClr val="C5C4C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Each open defect is pinned by a strict xfail test or recorded in the RTM · defect density 1.92 per KLOC (8 / 4.158 KLOC)</a:t>
            </a:r>
            <a:endParaRPr lang="en-US" sz="1200" dirty="0"/>
          </a:p>
        </p:txBody>
      </p:sp>
      <p:sp>
        <p:nvSpPr>
          <p:cNvPr id="6" name="Text 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WEEK 8 · TDD AND BDD</a:t>
            </a:r>
            <a:endParaRPr lang="en-US" sz="1200" dirty="0"/>
          </a:p>
        </p:txBody>
      </p:sp>
      <p:sp>
        <p:nvSpPr>
          <p:cNvPr id="3" name="Text 1"/>
          <p:cNvSpPr>
            <a:spLocks noGrp="1"/>
          </p:cNvSpPr>
          <p:nvPr>
            <p:ph type="title"/>
          </p:nvPr>
        </p:nvSpPr>
        <p:spPr>
          <a:xfrm>
            <a:off x="812800" y="1330964"/>
            <a:ext cx="1046480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We corrected three defects test-first, with one commit per red–green–refactor step</a:t>
            </a:r>
            <a:endParaRPr lang="en-US" sz="3600" dirty="0"/>
          </a:p>
        </p:txBody>
      </p:sp>
      <p:sp>
        <p:nvSpPr>
          <p:cNvPr id="4" name="Text 2"/>
          <p:cNvSpPr/>
          <p:nvPr/>
        </p:nvSpPr>
        <p:spPr>
          <a:xfrm>
            <a:off x="812800" y="2674621"/>
            <a:ext cx="6604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C1</a:t>
            </a:r>
            <a:endParaRPr lang="en-US" sz="1400" dirty="0"/>
          </a:p>
        </p:txBody>
      </p:sp>
      <p:sp>
        <p:nvSpPr>
          <p:cNvPr id="5" name="Text 3"/>
          <p:cNvSpPr/>
          <p:nvPr/>
        </p:nvSpPr>
        <p:spPr>
          <a:xfrm>
            <a:off x="1524000" y="2641600"/>
            <a:ext cx="481251" cy="314960"/>
          </a:xfrm>
          <a:prstGeom prst="roundRect">
            <a:avLst>
              <a:gd name="adj" fmla="val 50000"/>
            </a:avLst>
          </a:prstGeom>
          <a:solidFill>
            <a:srgbClr val="F6D8C6"/>
          </a:solidFill>
          <a:ln/>
        </p:spPr>
        <p:txBody>
          <a:bodyPr wrap="none" lIns="0" tIns="0" rIns="0" bIns="0" rtlCol="0" anchor="ctr">
            <a:normAutofit/>
          </a:bodyPr>
          <a:lstStyle/>
          <a:p>
            <a:pPr marL="0" indent="0" algn="ctr">
              <a:lnSpc>
                <a:spcPts val="1680"/>
              </a:lnSpc>
              <a:buNone/>
            </a:pPr>
            <a:r>
              <a:rPr lang="en-US" sz="1200" dirty="0">
                <a:solidFill>
                  <a:srgbClr val="7A2E06"/>
                </a:solidFill>
                <a:latin typeface="IBM Plex Sans" pitchFamily="34" charset="0"/>
                <a:ea typeface="IBM Plex Sans" pitchFamily="34" charset="-122"/>
                <a:cs typeface="IBM Plex Sans" pitchFamily="34" charset="-120"/>
              </a:rPr>
              <a:t>red</a:t>
            </a:r>
            <a:endParaRPr lang="en-US" sz="1200" dirty="0"/>
          </a:p>
        </p:txBody>
      </p:sp>
      <p:sp>
        <p:nvSpPr>
          <p:cNvPr id="6" name="Text 4"/>
          <p:cNvSpPr/>
          <p:nvPr/>
        </p:nvSpPr>
        <p:spPr>
          <a:xfrm>
            <a:off x="2106851" y="2641600"/>
            <a:ext cx="643572" cy="314960"/>
          </a:xfrm>
          <a:prstGeom prst="roundRect">
            <a:avLst>
              <a:gd name="adj" fmla="val 50000"/>
            </a:avLst>
          </a:prstGeom>
          <a:solidFill>
            <a:srgbClr val="D4E3F7"/>
          </a:solidFill>
          <a:ln/>
        </p:spPr>
        <p:txBody>
          <a:bodyPr wrap="none" lIns="0" tIns="0" rIns="0" bIns="0" rtlCol="0" anchor="ctr">
            <a:normAutofit/>
          </a:bodyPr>
          <a:lstStyle/>
          <a:p>
            <a:pPr marL="0" indent="0" algn="ctr">
              <a:lnSpc>
                <a:spcPts val="1680"/>
              </a:lnSpc>
              <a:buNone/>
            </a:pPr>
            <a:r>
              <a:rPr lang="en-US" sz="1200" dirty="0">
                <a:solidFill>
                  <a:srgbClr val="173E7A"/>
                </a:solidFill>
                <a:latin typeface="IBM Plex Sans" pitchFamily="34" charset="0"/>
                <a:ea typeface="IBM Plex Sans" pitchFamily="34" charset="-122"/>
                <a:cs typeface="IBM Plex Sans" pitchFamily="34" charset="-120"/>
              </a:rPr>
              <a:t>green</a:t>
            </a:r>
            <a:endParaRPr lang="en-US" sz="1200" dirty="0"/>
          </a:p>
        </p:txBody>
      </p:sp>
      <p:sp>
        <p:nvSpPr>
          <p:cNvPr id="7" name="Text 5"/>
          <p:cNvSpPr/>
          <p:nvPr/>
        </p:nvSpPr>
        <p:spPr>
          <a:xfrm>
            <a:off x="2852023" y="2641600"/>
            <a:ext cx="794464" cy="314960"/>
          </a:xfrm>
          <a:prstGeom prst="roundRect">
            <a:avLst>
              <a:gd name="adj" fmla="val 50000"/>
            </a:avLst>
          </a:prstGeom>
          <a:solidFill>
            <a:srgbClr val="E4E1D6"/>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refactor</a:t>
            </a:r>
            <a:endParaRPr lang="en-US" sz="1200" dirty="0"/>
          </a:p>
        </p:txBody>
      </p:sp>
      <p:sp>
        <p:nvSpPr>
          <p:cNvPr id="8" name="Text 6"/>
          <p:cNvSpPr/>
          <p:nvPr/>
        </p:nvSpPr>
        <p:spPr>
          <a:xfrm>
            <a:off x="3748087" y="2683514"/>
            <a:ext cx="212445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date() rejects datetimes</a:t>
            </a:r>
            <a:endParaRPr lang="en-US" sz="1300" dirty="0"/>
          </a:p>
        </p:txBody>
      </p:sp>
      <p:sp>
        <p:nvSpPr>
          <p:cNvPr id="9" name="Text 7"/>
          <p:cNvSpPr/>
          <p:nvPr/>
        </p:nvSpPr>
        <p:spPr>
          <a:xfrm>
            <a:off x="812800" y="3091179"/>
            <a:ext cx="6604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C2</a:t>
            </a:r>
            <a:endParaRPr lang="en-US" sz="1400" dirty="0"/>
          </a:p>
        </p:txBody>
      </p:sp>
      <p:sp>
        <p:nvSpPr>
          <p:cNvPr id="10" name="Text 8"/>
          <p:cNvSpPr/>
          <p:nvPr/>
        </p:nvSpPr>
        <p:spPr>
          <a:xfrm>
            <a:off x="1524000" y="3058164"/>
            <a:ext cx="481251" cy="314960"/>
          </a:xfrm>
          <a:prstGeom prst="roundRect">
            <a:avLst>
              <a:gd name="adj" fmla="val 50000"/>
            </a:avLst>
          </a:prstGeom>
          <a:solidFill>
            <a:srgbClr val="F6D8C6"/>
          </a:solidFill>
          <a:ln/>
        </p:spPr>
        <p:txBody>
          <a:bodyPr wrap="none" lIns="0" tIns="0" rIns="0" bIns="0" rtlCol="0" anchor="ctr">
            <a:normAutofit/>
          </a:bodyPr>
          <a:lstStyle/>
          <a:p>
            <a:pPr marL="0" indent="0" algn="ctr">
              <a:lnSpc>
                <a:spcPts val="1680"/>
              </a:lnSpc>
              <a:buNone/>
            </a:pPr>
            <a:r>
              <a:rPr lang="en-US" sz="1200" dirty="0">
                <a:solidFill>
                  <a:srgbClr val="7A2E06"/>
                </a:solidFill>
                <a:latin typeface="IBM Plex Sans" pitchFamily="34" charset="0"/>
                <a:ea typeface="IBM Plex Sans" pitchFamily="34" charset="-122"/>
                <a:cs typeface="IBM Plex Sans" pitchFamily="34" charset="-120"/>
              </a:rPr>
              <a:t>red</a:t>
            </a:r>
            <a:endParaRPr lang="en-US" sz="1200" dirty="0"/>
          </a:p>
        </p:txBody>
      </p:sp>
      <p:sp>
        <p:nvSpPr>
          <p:cNvPr id="11" name="Text 9"/>
          <p:cNvSpPr/>
          <p:nvPr/>
        </p:nvSpPr>
        <p:spPr>
          <a:xfrm>
            <a:off x="2106851" y="3058164"/>
            <a:ext cx="643572" cy="314960"/>
          </a:xfrm>
          <a:prstGeom prst="roundRect">
            <a:avLst>
              <a:gd name="adj" fmla="val 50000"/>
            </a:avLst>
          </a:prstGeom>
          <a:solidFill>
            <a:srgbClr val="D4E3F7"/>
          </a:solidFill>
          <a:ln/>
        </p:spPr>
        <p:txBody>
          <a:bodyPr wrap="none" lIns="0" tIns="0" rIns="0" bIns="0" rtlCol="0" anchor="ctr">
            <a:normAutofit/>
          </a:bodyPr>
          <a:lstStyle/>
          <a:p>
            <a:pPr marL="0" indent="0" algn="ctr">
              <a:lnSpc>
                <a:spcPts val="1680"/>
              </a:lnSpc>
              <a:buNone/>
            </a:pPr>
            <a:r>
              <a:rPr lang="en-US" sz="1200" dirty="0">
                <a:solidFill>
                  <a:srgbClr val="173E7A"/>
                </a:solidFill>
                <a:latin typeface="IBM Plex Sans" pitchFamily="34" charset="0"/>
                <a:ea typeface="IBM Plex Sans" pitchFamily="34" charset="-122"/>
                <a:cs typeface="IBM Plex Sans" pitchFamily="34" charset="-120"/>
              </a:rPr>
              <a:t>green</a:t>
            </a:r>
            <a:endParaRPr lang="en-US" sz="1200" dirty="0"/>
          </a:p>
        </p:txBody>
      </p:sp>
      <p:sp>
        <p:nvSpPr>
          <p:cNvPr id="12" name="Text 10"/>
          <p:cNvSpPr/>
          <p:nvPr/>
        </p:nvSpPr>
        <p:spPr>
          <a:xfrm>
            <a:off x="2852023" y="3058164"/>
            <a:ext cx="794464" cy="314960"/>
          </a:xfrm>
          <a:prstGeom prst="roundRect">
            <a:avLst>
              <a:gd name="adj" fmla="val 50000"/>
            </a:avLst>
          </a:prstGeom>
          <a:solidFill>
            <a:srgbClr val="E4E1D6"/>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refactor</a:t>
            </a:r>
            <a:endParaRPr lang="en-US" sz="1200" dirty="0"/>
          </a:p>
        </p:txBody>
      </p:sp>
      <p:sp>
        <p:nvSpPr>
          <p:cNvPr id="13" name="Text 11"/>
          <p:cNvSpPr/>
          <p:nvPr/>
        </p:nvSpPr>
        <p:spPr>
          <a:xfrm>
            <a:off x="3748087" y="3100071"/>
            <a:ext cx="2473928"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strings never emit a lone CR</a:t>
            </a:r>
            <a:endParaRPr lang="en-US" sz="1300" dirty="0"/>
          </a:p>
        </p:txBody>
      </p:sp>
      <p:sp>
        <p:nvSpPr>
          <p:cNvPr id="14" name="Text 12"/>
          <p:cNvSpPr/>
          <p:nvPr/>
        </p:nvSpPr>
        <p:spPr>
          <a:xfrm>
            <a:off x="812800" y="3507742"/>
            <a:ext cx="6604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C3</a:t>
            </a:r>
            <a:endParaRPr lang="en-US" sz="1400" dirty="0"/>
          </a:p>
        </p:txBody>
      </p:sp>
      <p:sp>
        <p:nvSpPr>
          <p:cNvPr id="15" name="Text 13"/>
          <p:cNvSpPr/>
          <p:nvPr/>
        </p:nvSpPr>
        <p:spPr>
          <a:xfrm>
            <a:off x="1524000" y="3474721"/>
            <a:ext cx="481251" cy="314960"/>
          </a:xfrm>
          <a:prstGeom prst="roundRect">
            <a:avLst>
              <a:gd name="adj" fmla="val 50000"/>
            </a:avLst>
          </a:prstGeom>
          <a:solidFill>
            <a:srgbClr val="F6D8C6"/>
          </a:solidFill>
          <a:ln/>
        </p:spPr>
        <p:txBody>
          <a:bodyPr wrap="none" lIns="0" tIns="0" rIns="0" bIns="0" rtlCol="0" anchor="ctr">
            <a:normAutofit/>
          </a:bodyPr>
          <a:lstStyle/>
          <a:p>
            <a:pPr marL="0" indent="0" algn="ctr">
              <a:lnSpc>
                <a:spcPts val="1680"/>
              </a:lnSpc>
              <a:buNone/>
            </a:pPr>
            <a:r>
              <a:rPr lang="en-US" sz="1200" dirty="0">
                <a:solidFill>
                  <a:srgbClr val="7A2E06"/>
                </a:solidFill>
                <a:latin typeface="IBM Plex Sans" pitchFamily="34" charset="0"/>
                <a:ea typeface="IBM Plex Sans" pitchFamily="34" charset="-122"/>
                <a:cs typeface="IBM Plex Sans" pitchFamily="34" charset="-120"/>
              </a:rPr>
              <a:t>red</a:t>
            </a:r>
            <a:endParaRPr lang="en-US" sz="1200" dirty="0"/>
          </a:p>
        </p:txBody>
      </p:sp>
      <p:sp>
        <p:nvSpPr>
          <p:cNvPr id="16" name="Text 14"/>
          <p:cNvSpPr/>
          <p:nvPr/>
        </p:nvSpPr>
        <p:spPr>
          <a:xfrm>
            <a:off x="2106851" y="3474721"/>
            <a:ext cx="643572" cy="314960"/>
          </a:xfrm>
          <a:prstGeom prst="roundRect">
            <a:avLst>
              <a:gd name="adj" fmla="val 50000"/>
            </a:avLst>
          </a:prstGeom>
          <a:solidFill>
            <a:srgbClr val="D4E3F7"/>
          </a:solidFill>
          <a:ln/>
        </p:spPr>
        <p:txBody>
          <a:bodyPr wrap="none" lIns="0" tIns="0" rIns="0" bIns="0" rtlCol="0" anchor="ctr">
            <a:normAutofit/>
          </a:bodyPr>
          <a:lstStyle/>
          <a:p>
            <a:pPr marL="0" indent="0" algn="ctr">
              <a:lnSpc>
                <a:spcPts val="1680"/>
              </a:lnSpc>
              <a:buNone/>
            </a:pPr>
            <a:r>
              <a:rPr lang="en-US" sz="1200" dirty="0">
                <a:solidFill>
                  <a:srgbClr val="173E7A"/>
                </a:solidFill>
                <a:latin typeface="IBM Plex Sans" pitchFamily="34" charset="0"/>
                <a:ea typeface="IBM Plex Sans" pitchFamily="34" charset="-122"/>
                <a:cs typeface="IBM Plex Sans" pitchFamily="34" charset="-120"/>
              </a:rPr>
              <a:t>green</a:t>
            </a:r>
            <a:endParaRPr lang="en-US" sz="1200" dirty="0"/>
          </a:p>
        </p:txBody>
      </p:sp>
      <p:sp>
        <p:nvSpPr>
          <p:cNvPr id="17" name="Text 15"/>
          <p:cNvSpPr/>
          <p:nvPr/>
        </p:nvSpPr>
        <p:spPr>
          <a:xfrm>
            <a:off x="2852023" y="3474721"/>
            <a:ext cx="794464" cy="314960"/>
          </a:xfrm>
          <a:prstGeom prst="roundRect">
            <a:avLst>
              <a:gd name="adj" fmla="val 50000"/>
            </a:avLst>
          </a:prstGeom>
          <a:solidFill>
            <a:srgbClr val="E4E1D6"/>
          </a:solidFill>
          <a:ln/>
        </p:spPr>
        <p:txBody>
          <a:bodyPr wrap="none" lIns="0" tIns="0" rIns="0" bIns="0" rtlCol="0" anchor="ctr">
            <a:normAutofit/>
          </a:bodyPr>
          <a:lstStyle/>
          <a:p>
            <a:pPr marL="0" indent="0" algn="ctr">
              <a:lnSpc>
                <a:spcPts val="1680"/>
              </a:lnSpc>
              <a:buNone/>
            </a:pPr>
            <a:r>
              <a:rPr lang="en-US" sz="1200" dirty="0">
                <a:solidFill>
                  <a:srgbClr val="14213D"/>
                </a:solidFill>
                <a:latin typeface="IBM Plex Sans" pitchFamily="34" charset="0"/>
                <a:ea typeface="IBM Plex Sans" pitchFamily="34" charset="-122"/>
                <a:cs typeface="IBM Plex Sans" pitchFamily="34" charset="-120"/>
              </a:rPr>
              <a:t>refactor</a:t>
            </a:r>
            <a:endParaRPr lang="en-US" sz="1200" dirty="0"/>
          </a:p>
        </p:txBody>
      </p:sp>
      <p:sp>
        <p:nvSpPr>
          <p:cNvPr id="18" name="Text 16"/>
          <p:cNvSpPr/>
          <p:nvPr/>
        </p:nvSpPr>
        <p:spPr>
          <a:xfrm>
            <a:off x="3748087" y="3516629"/>
            <a:ext cx="252603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comments split on a lone CR</a:t>
            </a:r>
            <a:endParaRPr lang="en-US" sz="1300" dirty="0"/>
          </a:p>
        </p:txBody>
      </p:sp>
      <p:sp>
        <p:nvSpPr>
          <p:cNvPr id="19" name="Text 17"/>
          <p:cNvSpPr/>
          <p:nvPr/>
        </p:nvSpPr>
        <p:spPr>
          <a:xfrm>
            <a:off x="812800" y="3891279"/>
            <a:ext cx="5598668"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refactors consolidated both carriage-return fixes into one rule. The full suite passed at C3: 1,489 tests.</a:t>
            </a:r>
            <a:endParaRPr lang="en-US" sz="1300" dirty="0"/>
          </a:p>
        </p:txBody>
      </p:sp>
      <p:sp>
        <p:nvSpPr>
          <p:cNvPr id="20" name="Shape 18"/>
          <p:cNvSpPr/>
          <p:nvPr/>
        </p:nvSpPr>
        <p:spPr>
          <a:xfrm>
            <a:off x="6553200" y="2641600"/>
            <a:ext cx="4826000" cy="3078480"/>
          </a:xfrm>
          <a:prstGeom prst="roundRect">
            <a:avLst>
              <a:gd name="adj" fmla="val 3300"/>
            </a:avLst>
          </a:prstGeom>
          <a:solidFill>
            <a:srgbClr val="14213D"/>
          </a:solidFill>
          <a:ln/>
        </p:spPr>
        <p:txBody>
          <a:bodyPr/>
          <a:lstStyle/>
          <a:p>
            <a:endParaRPr/>
          </a:p>
        </p:txBody>
      </p:sp>
      <p:sp>
        <p:nvSpPr>
          <p:cNvPr id="21" name="Text 19"/>
          <p:cNvSpPr/>
          <p:nvPr/>
        </p:nvSpPr>
        <p:spPr>
          <a:xfrm>
            <a:off x="6807200" y="2870200"/>
            <a:ext cx="444754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3F0"/>
                </a:solidFill>
                <a:latin typeface="JetBrains Mono" pitchFamily="49" charset="0"/>
                <a:ea typeface="JetBrains Mono" pitchFamily="49" charset="-122"/>
                <a:cs typeface="JetBrains Mono" pitchFamily="49" charset="-120"/>
              </a:rPr>
              <a:t>ACCEPTANCE SCENARIO · PYTEST-BDD</a:t>
            </a:r>
            <a:endParaRPr lang="en-US" sz="1200" dirty="0"/>
          </a:p>
        </p:txBody>
      </p:sp>
      <p:sp>
        <p:nvSpPr>
          <p:cNvPr id="22" name="Text 20"/>
          <p:cNvSpPr/>
          <p:nvPr/>
        </p:nvSpPr>
        <p:spPr>
          <a:xfrm>
            <a:off x="6807200" y="3159764"/>
            <a:ext cx="4447540" cy="1854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E8A35C"/>
                </a:solidFill>
                <a:latin typeface="JetBrains Mono" pitchFamily="49" charset="0"/>
                <a:ea typeface="JetBrains Mono" pitchFamily="49" charset="-122"/>
                <a:cs typeface="JetBrains Mono" pitchFamily="49" charset="-120"/>
              </a:rPr>
              <a:t>Scenario:</a:t>
            </a:r>
            <a:r>
              <a:rPr lang="en-US" sz="1200" dirty="0">
                <a:solidFill>
                  <a:srgbClr val="F7F6F1"/>
                </a:solidFill>
                <a:latin typeface="JetBrains Mono" pitchFamily="49" charset="0"/>
                <a:ea typeface="JetBrains Mono" pitchFamily="49" charset="-122"/>
                <a:cs typeface="JetBrains Mono" pitchFamily="49" charset="-120"/>
              </a:rPr>
              <a:t> Bump the version and keep every comment</a:t>
            </a:r>
            <a:endParaRPr lang="en-US" sz="1200" dirty="0"/>
          </a:p>
          <a:p>
            <a:pPr marL="0" indent="0" algn="l">
              <a:lnSpc>
                <a:spcPts val="1800"/>
              </a:lnSpc>
              <a:buNone/>
            </a:pPr>
            <a:r>
              <a:rPr lang="en-US" sz="1200" dirty="0">
                <a:solidFill>
                  <a:srgbClr val="E8A35C"/>
                </a:solidFill>
                <a:latin typeface="JetBrains Mono" pitchFamily="49" charset="0"/>
                <a:ea typeface="JetBrains Mono" pitchFamily="49" charset="-122"/>
                <a:cs typeface="JetBrains Mono" pitchFamily="49" charset="-120"/>
              </a:rPr>
              <a:t>Given</a:t>
            </a:r>
            <a:r>
              <a:rPr lang="en-US" sz="1200" dirty="0">
                <a:solidFill>
                  <a:srgbClr val="F7F6F1"/>
                </a:solidFill>
                <a:latin typeface="JetBrains Mono" pitchFamily="49" charset="0"/>
                <a:ea typeface="JetBrains Mono" pitchFamily="49" charset="-122"/>
                <a:cs typeface="JetBrains Mono" pitchFamily="49" charset="-120"/>
              </a:rPr>
              <a:t> a config file with comments and blank lines</a:t>
            </a:r>
            <a:endParaRPr lang="en-US" sz="1200" dirty="0"/>
          </a:p>
          <a:p>
            <a:pPr marL="0" indent="0" algn="l">
              <a:lnSpc>
                <a:spcPts val="1800"/>
              </a:lnSpc>
              <a:buNone/>
            </a:pPr>
            <a:r>
              <a:rPr lang="en-US" sz="1200" dirty="0">
                <a:solidFill>
                  <a:srgbClr val="E8A35C"/>
                </a:solidFill>
                <a:latin typeface="JetBrains Mono" pitchFamily="49" charset="0"/>
                <a:ea typeface="JetBrains Mono" pitchFamily="49" charset="-122"/>
                <a:cs typeface="JetBrains Mono" pitchFamily="49" charset="-120"/>
              </a:rPr>
              <a:t>When</a:t>
            </a:r>
            <a:r>
              <a:rPr lang="en-US" sz="1200" dirty="0">
                <a:solidFill>
                  <a:srgbClr val="F7F6F1"/>
                </a:solidFill>
                <a:latin typeface="JetBrains Mono" pitchFamily="49" charset="0"/>
                <a:ea typeface="JetBrains Mono" pitchFamily="49" charset="-122"/>
                <a:cs typeface="JetBrains Mono" pitchFamily="49" charset="-120"/>
              </a:rPr>
              <a:t> I set "project.version" to "1.5.0"</a:t>
            </a:r>
            <a:endParaRPr lang="en-US" sz="1200" dirty="0"/>
          </a:p>
          <a:p>
            <a:pPr marL="0" indent="0" algn="l">
              <a:lnSpc>
                <a:spcPts val="1800"/>
              </a:lnSpc>
              <a:buNone/>
            </a:pPr>
            <a:r>
              <a:rPr lang="en-US" sz="1200" dirty="0">
                <a:solidFill>
                  <a:srgbClr val="E8A35C"/>
                </a:solidFill>
                <a:latin typeface="JetBrains Mono" pitchFamily="49" charset="0"/>
                <a:ea typeface="JetBrains Mono" pitchFamily="49" charset="-122"/>
                <a:cs typeface="JetBrains Mono" pitchFamily="49" charset="-120"/>
              </a:rPr>
              <a:t>And</a:t>
            </a:r>
            <a:r>
              <a:rPr lang="en-US" sz="1200" dirty="0">
                <a:solidFill>
                  <a:srgbClr val="F7F6F1"/>
                </a:solidFill>
                <a:latin typeface="JetBrains Mono" pitchFamily="49" charset="0"/>
                <a:ea typeface="JetBrains Mono" pitchFamily="49" charset="-122"/>
                <a:cs typeface="JetBrains Mono" pitchFamily="49" charset="-120"/>
              </a:rPr>
              <a:t> I save the file</a:t>
            </a:r>
            <a:endParaRPr lang="en-US" sz="1200" dirty="0"/>
          </a:p>
          <a:p>
            <a:pPr marL="0" indent="0" algn="l">
              <a:lnSpc>
                <a:spcPts val="1800"/>
              </a:lnSpc>
              <a:buNone/>
            </a:pPr>
            <a:r>
              <a:rPr lang="en-US" sz="1200" dirty="0">
                <a:solidFill>
                  <a:srgbClr val="E8A35C"/>
                </a:solidFill>
                <a:latin typeface="JetBrains Mono" pitchFamily="49" charset="0"/>
                <a:ea typeface="JetBrains Mono" pitchFamily="49" charset="-122"/>
                <a:cs typeface="JetBrains Mono" pitchFamily="49" charset="-120"/>
              </a:rPr>
              <a:t>Then</a:t>
            </a:r>
            <a:r>
              <a:rPr lang="en-US" sz="1200" dirty="0">
                <a:solidFill>
                  <a:srgbClr val="F7F6F1"/>
                </a:solidFill>
                <a:latin typeface="JetBrains Mono" pitchFamily="49" charset="0"/>
                <a:ea typeface="JetBrains Mono" pitchFamily="49" charset="-122"/>
                <a:cs typeface="JetBrains Mono" pitchFamily="49" charset="-120"/>
              </a:rPr>
              <a:t> the file on disk is exactly the original</a:t>
            </a:r>
            <a:endParaRPr lang="en-US" sz="1200" dirty="0"/>
          </a:p>
          <a:p>
            <a:pPr marL="0" indent="0" algn="l">
              <a:lnSpc>
                <a:spcPts val="1800"/>
              </a:lnSpc>
              <a:buNone/>
            </a:pPr>
            <a:r>
              <a:rPr lang="en-US" sz="1200" dirty="0">
                <a:solidFill>
                  <a:srgbClr val="F7F6F1"/>
                </a:solidFill>
                <a:latin typeface="JetBrains Mono" pitchFamily="49" charset="0"/>
                <a:ea typeface="JetBrains Mono" pitchFamily="49" charset="-122"/>
                <a:cs typeface="JetBrains Mono" pitchFamily="49" charset="-120"/>
              </a:rPr>
              <a:t>with only the version changed</a:t>
            </a:r>
            <a:endParaRPr lang="en-US" sz="1200" dirty="0"/>
          </a:p>
        </p:txBody>
      </p:sp>
      <p:sp>
        <p:nvSpPr>
          <p:cNvPr id="23" name="Text 21"/>
          <p:cNvSpPr/>
          <p:nvPr/>
        </p:nvSpPr>
        <p:spPr>
          <a:xfrm>
            <a:off x="6807200" y="5064764"/>
            <a:ext cx="444754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BE0"/>
                </a:solidFill>
                <a:latin typeface="IBM Plex Sans" pitchFamily="34" charset="0"/>
                <a:ea typeface="IBM Plex Sans" pitchFamily="34" charset="-122"/>
                <a:cs typeface="IBM Plex Sans" pitchFamily="34" charset="-120"/>
              </a:rPr>
              <a:t>Verified negative case: a save that drops comments fails the scenario.</a:t>
            </a:r>
            <a:endParaRPr lang="en-US" sz="1200" dirty="0"/>
          </a:p>
        </p:txBody>
      </p:sp>
      <p:sp>
        <p:nvSpPr>
          <p:cNvPr id="24" name="Text 22"/>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week8/TDD_LOG.md (9 commits) · tests_bdd/ (3 scenarios, 2 automated in Week 9)</a:t>
            </a:r>
            <a:endParaRPr lang="en-US" sz="1200" dirty="0"/>
          </a:p>
        </p:txBody>
      </p:sp>
      <p:sp>
        <p:nvSpPr>
          <p:cNvPr id="25" name="Text 23"/>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WEEK 9 · BEYOND UNIT TESTS</a:t>
            </a:r>
            <a:endParaRPr lang="en-US" sz="1200" dirty="0"/>
          </a:p>
        </p:txBody>
      </p:sp>
      <p:sp>
        <p:nvSpPr>
          <p:cNvPr id="3" name="Text 1"/>
          <p:cNvSpPr>
            <a:spLocks noGrp="1"/>
          </p:cNvSpPr>
          <p:nvPr>
            <p:ph type="title"/>
          </p:nvPr>
        </p:nvSpPr>
        <p:spPr>
          <a:xfrm>
            <a:off x="812800" y="1330964"/>
            <a:ext cx="1046480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Testing tomlkit through realistic developer workflows</a:t>
            </a:r>
            <a:endParaRPr lang="en-US" sz="3600" dirty="0"/>
          </a:p>
        </p:txBody>
      </p:sp>
      <p:sp>
        <p:nvSpPr>
          <p:cNvPr id="4" name="Shape 2"/>
          <p:cNvSpPr/>
          <p:nvPr/>
        </p:nvSpPr>
        <p:spPr>
          <a:xfrm>
            <a:off x="815975" y="2644775"/>
            <a:ext cx="5200650" cy="1370330"/>
          </a:xfrm>
          <a:prstGeom prst="roundRect">
            <a:avLst>
              <a:gd name="adj" fmla="val 7183"/>
            </a:avLst>
          </a:prstGeom>
          <a:solidFill>
            <a:srgbClr val="FFFFFF"/>
          </a:solidFill>
          <a:ln w="6350">
            <a:solidFill>
              <a:srgbClr val="DEDCD3"/>
            </a:solidFill>
            <a:prstDash val="solid"/>
          </a:ln>
        </p:spPr>
        <p:txBody>
          <a:bodyPr/>
          <a:lstStyle/>
          <a:p>
            <a:endParaRPr/>
          </a:p>
        </p:txBody>
      </p:sp>
      <p:sp>
        <p:nvSpPr>
          <p:cNvPr id="5" name="Text 3"/>
          <p:cNvSpPr/>
          <p:nvPr/>
        </p:nvSpPr>
        <p:spPr>
          <a:xfrm>
            <a:off x="1071880" y="2849879"/>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Integration and acceptance</a:t>
            </a:r>
            <a:endParaRPr lang="en-US" sz="1600" dirty="0"/>
          </a:p>
        </p:txBody>
      </p:sp>
      <p:sp>
        <p:nvSpPr>
          <p:cNvPr id="6" name="Text 4"/>
          <p:cNvSpPr/>
          <p:nvPr/>
        </p:nvSpPr>
        <p:spPr>
          <a:xfrm>
            <a:off x="1071880" y="3169921"/>
            <a:ext cx="482950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Five integration tests exercise real files through the parser, container and serialiser. Three Gherkin scenarios cover CRLF and parse errors.</a:t>
            </a:r>
            <a:endParaRPr lang="en-US" sz="1200" dirty="0"/>
          </a:p>
        </p:txBody>
      </p:sp>
      <p:sp>
        <p:nvSpPr>
          <p:cNvPr id="7" name="Shape 5"/>
          <p:cNvSpPr/>
          <p:nvPr/>
        </p:nvSpPr>
        <p:spPr>
          <a:xfrm>
            <a:off x="6175375" y="2644775"/>
            <a:ext cx="5200650" cy="1370330"/>
          </a:xfrm>
          <a:prstGeom prst="roundRect">
            <a:avLst>
              <a:gd name="adj" fmla="val 7183"/>
            </a:avLst>
          </a:prstGeom>
          <a:solidFill>
            <a:srgbClr val="FFFFFF"/>
          </a:solidFill>
          <a:ln w="6350">
            <a:solidFill>
              <a:srgbClr val="DEDCD3"/>
            </a:solidFill>
            <a:prstDash val="solid"/>
          </a:ln>
        </p:spPr>
        <p:txBody>
          <a:bodyPr/>
          <a:lstStyle/>
          <a:p>
            <a:endParaRPr/>
          </a:p>
        </p:txBody>
      </p:sp>
      <p:sp>
        <p:nvSpPr>
          <p:cNvPr id="8" name="Text 6"/>
          <p:cNvSpPr/>
          <p:nvPr/>
        </p:nvSpPr>
        <p:spPr>
          <a:xfrm>
            <a:off x="6431280" y="2849879"/>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Exploratory testing with an AI co-pilot</a:t>
            </a:r>
            <a:endParaRPr lang="en-US" sz="1600" dirty="0"/>
          </a:p>
        </p:txBody>
      </p:sp>
      <p:sp>
        <p:nvSpPr>
          <p:cNvPr id="9" name="Text 7"/>
          <p:cNvSpPr/>
          <p:nvPr/>
        </p:nvSpPr>
        <p:spPr>
          <a:xfrm>
            <a:off x="6431280" y="3169921"/>
            <a:ext cx="482950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Insert-position comparisons isolated D8 and showed it compounds. One misleading claim: “inserts permanently damage formatting”; deleting the values restored the file.</a:t>
            </a:r>
            <a:endParaRPr lang="en-US" sz="1200" dirty="0"/>
          </a:p>
        </p:txBody>
      </p:sp>
      <p:sp>
        <p:nvSpPr>
          <p:cNvPr id="10" name="Shape 8"/>
          <p:cNvSpPr/>
          <p:nvPr/>
        </p:nvSpPr>
        <p:spPr>
          <a:xfrm>
            <a:off x="815975" y="4173854"/>
            <a:ext cx="5200650" cy="1370330"/>
          </a:xfrm>
          <a:prstGeom prst="roundRect">
            <a:avLst>
              <a:gd name="adj" fmla="val 7183"/>
            </a:avLst>
          </a:prstGeom>
          <a:solidFill>
            <a:srgbClr val="FFFFFF"/>
          </a:solidFill>
          <a:ln w="6350">
            <a:solidFill>
              <a:srgbClr val="DEDCD3"/>
            </a:solidFill>
            <a:prstDash val="solid"/>
          </a:ln>
        </p:spPr>
        <p:txBody>
          <a:bodyPr/>
          <a:lstStyle/>
          <a:p>
            <a:endParaRPr/>
          </a:p>
        </p:txBody>
      </p:sp>
      <p:sp>
        <p:nvSpPr>
          <p:cNvPr id="11" name="Text 9"/>
          <p:cNvSpPr/>
          <p:nvPr/>
        </p:nvSpPr>
        <p:spPr>
          <a:xfrm>
            <a:off x="1071880" y="4378964"/>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Performance</a:t>
            </a:r>
            <a:endParaRPr lang="en-US" sz="1600" dirty="0"/>
          </a:p>
        </p:txBody>
      </p:sp>
      <p:sp>
        <p:nvSpPr>
          <p:cNvPr id="12" name="Text 10"/>
          <p:cNvSpPr/>
          <p:nvPr/>
        </p:nvSpPr>
        <p:spPr>
          <a:xfrm>
            <a:off x="1071880" y="4699000"/>
            <a:ext cx="4829505" cy="4521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A5568"/>
                </a:solidFill>
                <a:latin typeface="IBM Plex Sans" pitchFamily="34" charset="0"/>
                <a:ea typeface="IBM Plex Sans" pitchFamily="34" charset="-122"/>
                <a:cs typeface="IBM Plex Sans" pitchFamily="34" charset="-120"/>
              </a:rPr>
              <a:t>2,386 operations per second for parse, edit, serialise and reparse; all 25,000 round trips were correct (Apple M2, Python 3.14).</a:t>
            </a:r>
            <a:endParaRPr lang="en-US" sz="1200" dirty="0"/>
          </a:p>
        </p:txBody>
      </p:sp>
      <p:sp>
        <p:nvSpPr>
          <p:cNvPr id="13" name="Shape 11"/>
          <p:cNvSpPr/>
          <p:nvPr/>
        </p:nvSpPr>
        <p:spPr>
          <a:xfrm>
            <a:off x="6175375" y="4173854"/>
            <a:ext cx="5200650" cy="1370330"/>
          </a:xfrm>
          <a:prstGeom prst="roundRect">
            <a:avLst>
              <a:gd name="adj" fmla="val 7183"/>
            </a:avLst>
          </a:prstGeom>
          <a:solidFill>
            <a:srgbClr val="FFFFFF"/>
          </a:solidFill>
          <a:ln w="6350">
            <a:solidFill>
              <a:srgbClr val="DEDCD3"/>
            </a:solidFill>
            <a:prstDash val="solid"/>
          </a:ln>
        </p:spPr>
        <p:txBody>
          <a:bodyPr/>
          <a:lstStyle/>
          <a:p>
            <a:endParaRPr/>
          </a:p>
        </p:txBody>
      </p:sp>
      <p:sp>
        <p:nvSpPr>
          <p:cNvPr id="14" name="Text 12"/>
          <p:cNvSpPr/>
          <p:nvPr/>
        </p:nvSpPr>
        <p:spPr>
          <a:xfrm>
            <a:off x="6431280" y="4378964"/>
            <a:ext cx="482950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Usability (Nielsen heuristics)</a:t>
            </a:r>
            <a:endParaRPr lang="en-US" sz="1600" dirty="0"/>
          </a:p>
        </p:txBody>
      </p:sp>
      <p:sp>
        <p:nvSpPr>
          <p:cNvPr id="15" name="Text 13"/>
          <p:cNvSpPr/>
          <p:nvPr/>
        </p:nvSpPr>
        <p:spPr>
          <a:xfrm>
            <a:off x="6431280" y="4699000"/>
            <a:ext cx="4829505"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Strength: precise error messages with line and column. Main issue (medium): inconsistent spacing after insertion at index 0. Two low-severity documentation gaps.</a:t>
            </a:r>
            <a:endParaRPr lang="en-US" sz="1200" dirty="0"/>
          </a:p>
        </p:txBody>
      </p:sp>
      <p:sp>
        <p:nvSpPr>
          <p:cNvPr id="16" name="Text 14"/>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tests_integration/ · tests_bdd/ · docs/week9/</a:t>
            </a:r>
            <a:endParaRPr lang="en-US" sz="1200" dirty="0"/>
          </a:p>
        </p:txBody>
      </p:sp>
      <p:sp>
        <p:nvSpPr>
          <p:cNvPr id="17" name="Text 15"/>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marL="0" indent="0" algn="l">
              <a:lnSpc>
                <a:spcPts val="1675"/>
              </a:lnSpc>
              <a:buNone/>
            </a:pPr>
            <a:r>
              <a:rPr lang="en-US" sz="1196" kern="0" spc="100" dirty="0">
                <a:solidFill>
                  <a:srgbClr val="2B5FB8"/>
                </a:solidFill>
                <a:latin typeface="JetBrains Mono" pitchFamily="49" charset="0"/>
                <a:ea typeface="JetBrains Mono" pitchFamily="49" charset="-122"/>
                <a:cs typeface="JetBrains Mono" pitchFamily="49" charset="-120"/>
              </a:rPr>
              <a:t>FINAL QUALITY DASHBOARD</a:t>
            </a:r>
            <a:endParaRPr lang="en-US" sz="1196" dirty="0"/>
          </a:p>
        </p:txBody>
      </p:sp>
      <p:sp>
        <p:nvSpPr>
          <p:cNvPr id="3" name="Text 1"/>
          <p:cNvSpPr>
            <a:spLocks noGrp="1"/>
          </p:cNvSpPr>
          <p:nvPr>
            <p:ph type="title"/>
          </p:nvPr>
        </p:nvSpPr>
        <p:spPr>
          <a:xfrm>
            <a:off x="812800" y="1327547"/>
            <a:ext cx="10464800" cy="1015206"/>
          </a:xfrm>
          <a:prstGeom prst="rect">
            <a:avLst/>
          </a:prstGeom>
          <a:noFill/>
          <a:ln/>
        </p:spPr>
        <p:txBody>
          <a:bodyPr wrap="square" lIns="0" tIns="0" rIns="0" bIns="0" rtlCol="0" anchor="t">
            <a:normAutofit/>
          </a:bodyPr>
          <a:lstStyle/>
          <a:p>
            <a:pPr marL="0" indent="0" algn="l">
              <a:lnSpc>
                <a:spcPts val="3911"/>
              </a:lnSpc>
              <a:buNone/>
            </a:pPr>
            <a:r>
              <a:rPr lang="en-US" sz="3555" b="1" i="0" dirty="0">
                <a:solidFill>
                  <a:srgbClr val="14213D"/>
                </a:solidFill>
                <a:latin typeface="IBM Plex Sans" pitchFamily="34" charset="0"/>
                <a:ea typeface="IBM Plex Sans" pitchFamily="34" charset="-122"/>
                <a:cs typeface="IBM Plex Sans" pitchFamily="34" charset="-120"/>
              </a:rPr>
              <a:t>The hybrid suite meets the coverage and mutation targets</a:t>
            </a:r>
            <a:endParaRPr lang="en-US" sz="3555" dirty="0"/>
          </a:p>
        </p:txBody>
      </p:sp>
      <p:sp>
        <p:nvSpPr>
          <p:cNvPr id="4" name="Shape 2"/>
          <p:cNvSpPr/>
          <p:nvPr/>
        </p:nvSpPr>
        <p:spPr>
          <a:xfrm>
            <a:off x="815975" y="2625328"/>
            <a:ext cx="2520950" cy="1813243"/>
          </a:xfrm>
          <a:prstGeom prst="roundRect">
            <a:avLst>
              <a:gd name="adj" fmla="val 5428"/>
            </a:avLst>
          </a:prstGeom>
          <a:solidFill>
            <a:srgbClr val="FFFFFF"/>
          </a:solidFill>
          <a:ln w="6350">
            <a:solidFill>
              <a:srgbClr val="DEDCD3"/>
            </a:solidFill>
            <a:prstDash val="solid"/>
          </a:ln>
        </p:spPr>
        <p:txBody>
          <a:bodyPr/>
          <a:lstStyle/>
          <a:p>
            <a:endParaRPr/>
          </a:p>
        </p:txBody>
      </p:sp>
      <p:sp>
        <p:nvSpPr>
          <p:cNvPr id="5" name="Text 3"/>
          <p:cNvSpPr/>
          <p:nvPr/>
        </p:nvSpPr>
        <p:spPr>
          <a:xfrm>
            <a:off x="1071880" y="2855832"/>
            <a:ext cx="2069414" cy="233839"/>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6B7280"/>
                </a:solidFill>
                <a:latin typeface="IBM Plex Sans" pitchFamily="34" charset="0"/>
                <a:ea typeface="IBM Plex Sans" pitchFamily="34" charset="-122"/>
                <a:cs typeface="IBM Plex Sans" pitchFamily="34" charset="-120"/>
              </a:rPr>
              <a:t>Statement coverage</a:t>
            </a:r>
            <a:endParaRPr lang="en-US" sz="1196" dirty="0"/>
          </a:p>
        </p:txBody>
      </p:sp>
      <p:sp>
        <p:nvSpPr>
          <p:cNvPr id="6" name="Text 4"/>
          <p:cNvSpPr/>
          <p:nvPr/>
        </p:nvSpPr>
        <p:spPr>
          <a:xfrm>
            <a:off x="1071880" y="3115072"/>
            <a:ext cx="2069414" cy="650716"/>
          </a:xfrm>
          <a:prstGeom prst="rect">
            <a:avLst/>
          </a:prstGeom>
          <a:noFill/>
          <a:ln/>
        </p:spPr>
        <p:txBody>
          <a:bodyPr wrap="square" lIns="0" tIns="0" rIns="0" bIns="0" rtlCol="0" anchor="t">
            <a:normAutofit/>
          </a:bodyPr>
          <a:lstStyle/>
          <a:p>
            <a:pPr marL="0" indent="0" algn="l">
              <a:lnSpc>
                <a:spcPts val="4914"/>
              </a:lnSpc>
              <a:buNone/>
            </a:pPr>
            <a:r>
              <a:rPr lang="en-US" sz="3510" b="1" dirty="0">
                <a:solidFill>
                  <a:srgbClr val="2B5FB8"/>
                </a:solidFill>
                <a:latin typeface="IBM Plex Sans" pitchFamily="34" charset="0"/>
                <a:ea typeface="IBM Plex Sans" pitchFamily="34" charset="-122"/>
                <a:cs typeface="IBM Plex Sans" pitchFamily="34" charset="-120"/>
              </a:rPr>
              <a:t>91.6%</a:t>
            </a:r>
            <a:endParaRPr lang="en-US" sz="3510" dirty="0"/>
          </a:p>
        </p:txBody>
      </p:sp>
      <p:sp>
        <p:nvSpPr>
          <p:cNvPr id="7" name="Text 5"/>
          <p:cNvSpPr/>
          <p:nvPr/>
        </p:nvSpPr>
        <p:spPr>
          <a:xfrm>
            <a:off x="1071880" y="3791192"/>
            <a:ext cx="2069414" cy="442278"/>
          </a:xfrm>
          <a:prstGeom prst="rect">
            <a:avLst/>
          </a:prstGeom>
          <a:noFill/>
          <a:ln/>
        </p:spPr>
        <p:txBody>
          <a:bodyPr wrap="square" lIns="0" tIns="0" rIns="0" bIns="0" rtlCol="0" anchor="t">
            <a:normAutofit/>
          </a:bodyPr>
          <a:lstStyle/>
          <a:p>
            <a:pPr marL="0" indent="0" algn="l">
              <a:lnSpc>
                <a:spcPts val="1659"/>
              </a:lnSpc>
              <a:buNone/>
            </a:pPr>
            <a:r>
              <a:rPr lang="en-US" sz="1185" dirty="0">
                <a:solidFill>
                  <a:srgbClr val="4A5568"/>
                </a:solidFill>
                <a:latin typeface="IBM Plex Sans" pitchFamily="34" charset="0"/>
                <a:ea typeface="IBM Plex Sans" pitchFamily="34" charset="-122"/>
                <a:cs typeface="IBM Plex Sans" pitchFamily="34" charset="-120"/>
              </a:rPr>
              <a:t>gate 87% · AI-only baseline 81.7%</a:t>
            </a:r>
            <a:endParaRPr lang="en-US" sz="1185" dirty="0"/>
          </a:p>
        </p:txBody>
      </p:sp>
      <p:sp>
        <p:nvSpPr>
          <p:cNvPr id="8" name="Shape 6"/>
          <p:cNvSpPr/>
          <p:nvPr/>
        </p:nvSpPr>
        <p:spPr>
          <a:xfrm>
            <a:off x="3495675" y="2625328"/>
            <a:ext cx="2520950" cy="1813243"/>
          </a:xfrm>
          <a:prstGeom prst="roundRect">
            <a:avLst>
              <a:gd name="adj" fmla="val 5428"/>
            </a:avLst>
          </a:prstGeom>
          <a:solidFill>
            <a:srgbClr val="FFFFFF"/>
          </a:solidFill>
          <a:ln w="6350">
            <a:solidFill>
              <a:srgbClr val="DEDCD3"/>
            </a:solidFill>
            <a:prstDash val="solid"/>
          </a:ln>
        </p:spPr>
        <p:txBody>
          <a:bodyPr/>
          <a:lstStyle/>
          <a:p>
            <a:endParaRPr/>
          </a:p>
        </p:txBody>
      </p:sp>
      <p:sp>
        <p:nvSpPr>
          <p:cNvPr id="9" name="Text 7"/>
          <p:cNvSpPr/>
          <p:nvPr/>
        </p:nvSpPr>
        <p:spPr>
          <a:xfrm>
            <a:off x="3751580" y="2855832"/>
            <a:ext cx="206941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Branch coverage</a:t>
            </a:r>
            <a:endParaRPr lang="en-US" sz="1200" dirty="0"/>
          </a:p>
        </p:txBody>
      </p:sp>
      <p:sp>
        <p:nvSpPr>
          <p:cNvPr id="10" name="Text 8"/>
          <p:cNvSpPr/>
          <p:nvPr/>
        </p:nvSpPr>
        <p:spPr>
          <a:xfrm>
            <a:off x="3751580" y="3119996"/>
            <a:ext cx="2069414"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B5FB8"/>
                </a:solidFill>
                <a:latin typeface="IBM Plex Sans" pitchFamily="34" charset="0"/>
                <a:ea typeface="IBM Plex Sans" pitchFamily="34" charset="-122"/>
                <a:cs typeface="IBM Plex Sans" pitchFamily="34" charset="-120"/>
              </a:rPr>
              <a:t>85.6%</a:t>
            </a:r>
            <a:endParaRPr lang="en-US" sz="3600" dirty="0"/>
          </a:p>
        </p:txBody>
      </p:sp>
      <p:sp>
        <p:nvSpPr>
          <p:cNvPr id="11" name="Text 9"/>
          <p:cNvSpPr/>
          <p:nvPr/>
        </p:nvSpPr>
        <p:spPr>
          <a:xfrm>
            <a:off x="3751580" y="3810874"/>
            <a:ext cx="2069414" cy="238760"/>
          </a:xfrm>
          <a:prstGeom prst="rect">
            <a:avLst/>
          </a:prstGeom>
          <a:noFill/>
          <a:ln/>
        </p:spPr>
        <p:txBody>
          <a:bodyPr wrap="square" lIns="0" tIns="0" rIns="0" bIns="0" rtlCol="0" anchor="t">
            <a:normAutofit fontScale="85000" lnSpcReduction="10000"/>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gate 82% · AI-only baseline 66.3%</a:t>
            </a:r>
            <a:endParaRPr lang="en-US" sz="1200" dirty="0"/>
          </a:p>
        </p:txBody>
      </p:sp>
      <p:sp>
        <p:nvSpPr>
          <p:cNvPr id="12" name="Shape 10"/>
          <p:cNvSpPr/>
          <p:nvPr/>
        </p:nvSpPr>
        <p:spPr>
          <a:xfrm>
            <a:off x="6175375" y="2625328"/>
            <a:ext cx="2520950" cy="1813243"/>
          </a:xfrm>
          <a:prstGeom prst="roundRect">
            <a:avLst>
              <a:gd name="adj" fmla="val 5428"/>
            </a:avLst>
          </a:prstGeom>
          <a:solidFill>
            <a:srgbClr val="FFFFFF"/>
          </a:solidFill>
          <a:ln w="6350">
            <a:solidFill>
              <a:srgbClr val="DEDCD3"/>
            </a:solidFill>
            <a:prstDash val="solid"/>
          </a:ln>
        </p:spPr>
        <p:txBody>
          <a:bodyPr/>
          <a:lstStyle/>
          <a:p>
            <a:endParaRPr/>
          </a:p>
        </p:txBody>
      </p:sp>
      <p:sp>
        <p:nvSpPr>
          <p:cNvPr id="13" name="Text 11"/>
          <p:cNvSpPr/>
          <p:nvPr/>
        </p:nvSpPr>
        <p:spPr>
          <a:xfrm>
            <a:off x="6431280" y="2855832"/>
            <a:ext cx="2069414" cy="233839"/>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6B7280"/>
                </a:solidFill>
                <a:latin typeface="IBM Plex Sans" pitchFamily="34" charset="0"/>
                <a:ea typeface="IBM Plex Sans" pitchFamily="34" charset="-122"/>
                <a:cs typeface="IBM Plex Sans" pitchFamily="34" charset="-120"/>
              </a:rPr>
              <a:t>RTM completeness</a:t>
            </a:r>
            <a:endParaRPr lang="en-US" sz="1196" dirty="0"/>
          </a:p>
        </p:txBody>
      </p:sp>
      <p:sp>
        <p:nvSpPr>
          <p:cNvPr id="14" name="Text 12"/>
          <p:cNvSpPr/>
          <p:nvPr/>
        </p:nvSpPr>
        <p:spPr>
          <a:xfrm>
            <a:off x="6431280" y="3115072"/>
            <a:ext cx="2069414" cy="650716"/>
          </a:xfrm>
          <a:prstGeom prst="rect">
            <a:avLst/>
          </a:prstGeom>
          <a:noFill/>
          <a:ln/>
        </p:spPr>
        <p:txBody>
          <a:bodyPr wrap="square" lIns="0" tIns="0" rIns="0" bIns="0" rtlCol="0" anchor="t">
            <a:normAutofit/>
          </a:bodyPr>
          <a:lstStyle/>
          <a:p>
            <a:pPr marL="0" indent="0" algn="l">
              <a:lnSpc>
                <a:spcPts val="4914"/>
              </a:lnSpc>
              <a:buNone/>
            </a:pPr>
            <a:r>
              <a:rPr lang="en-US" sz="3510" b="1" dirty="0">
                <a:solidFill>
                  <a:srgbClr val="14213D"/>
                </a:solidFill>
                <a:latin typeface="IBM Plex Sans" pitchFamily="34" charset="0"/>
                <a:ea typeface="IBM Plex Sans" pitchFamily="34" charset="-122"/>
                <a:cs typeface="IBM Plex Sans" pitchFamily="34" charset="-120"/>
              </a:rPr>
              <a:t>88%</a:t>
            </a:r>
            <a:endParaRPr lang="en-US" sz="3510" dirty="0"/>
          </a:p>
        </p:txBody>
      </p:sp>
      <p:sp>
        <p:nvSpPr>
          <p:cNvPr id="15" name="Text 13"/>
          <p:cNvSpPr/>
          <p:nvPr/>
        </p:nvSpPr>
        <p:spPr>
          <a:xfrm>
            <a:off x="6431280" y="3791192"/>
            <a:ext cx="2069414" cy="442278"/>
          </a:xfrm>
          <a:prstGeom prst="rect">
            <a:avLst/>
          </a:prstGeom>
          <a:noFill/>
          <a:ln/>
        </p:spPr>
        <p:txBody>
          <a:bodyPr wrap="square" lIns="0" tIns="0" rIns="0" bIns="0" rtlCol="0" anchor="t">
            <a:normAutofit/>
          </a:bodyPr>
          <a:lstStyle/>
          <a:p>
            <a:pPr marL="0" indent="0" algn="l">
              <a:lnSpc>
                <a:spcPts val="1659"/>
              </a:lnSpc>
              <a:buNone/>
            </a:pPr>
            <a:r>
              <a:rPr lang="en-US" sz="1185" dirty="0">
                <a:solidFill>
                  <a:srgbClr val="4A5568"/>
                </a:solidFill>
                <a:latin typeface="IBM Plex Sans" pitchFamily="34" charset="0"/>
                <a:ea typeface="IBM Plex Sans" pitchFamily="34" charset="-122"/>
                <a:cs typeface="IBM Plex Sans" pitchFamily="34" charset="-120"/>
              </a:rPr>
              <a:t>14 of 16 requirements; R15 and R16 open</a:t>
            </a:r>
            <a:endParaRPr lang="en-US" sz="1185" dirty="0"/>
          </a:p>
        </p:txBody>
      </p:sp>
      <p:sp>
        <p:nvSpPr>
          <p:cNvPr id="16" name="Shape 14"/>
          <p:cNvSpPr/>
          <p:nvPr/>
        </p:nvSpPr>
        <p:spPr>
          <a:xfrm>
            <a:off x="8855075" y="2625328"/>
            <a:ext cx="2520950" cy="1813243"/>
          </a:xfrm>
          <a:prstGeom prst="roundRect">
            <a:avLst>
              <a:gd name="adj" fmla="val 5428"/>
            </a:avLst>
          </a:prstGeom>
          <a:solidFill>
            <a:srgbClr val="FFFFFF"/>
          </a:solidFill>
          <a:ln w="6350">
            <a:solidFill>
              <a:srgbClr val="DEDCD3"/>
            </a:solidFill>
            <a:prstDash val="solid"/>
          </a:ln>
        </p:spPr>
        <p:txBody>
          <a:bodyPr/>
          <a:lstStyle/>
          <a:p>
            <a:endParaRPr dirty="0"/>
          </a:p>
        </p:txBody>
      </p:sp>
      <p:sp>
        <p:nvSpPr>
          <p:cNvPr id="17" name="Text 15"/>
          <p:cNvSpPr/>
          <p:nvPr/>
        </p:nvSpPr>
        <p:spPr>
          <a:xfrm>
            <a:off x="9110980" y="2855832"/>
            <a:ext cx="2069414" cy="233839"/>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6B7280"/>
                </a:solidFill>
                <a:latin typeface="IBM Plex Sans" pitchFamily="34" charset="0"/>
                <a:ea typeface="IBM Plex Sans" pitchFamily="34" charset="-122"/>
                <a:cs typeface="IBM Plex Sans" pitchFamily="34" charset="-120"/>
              </a:rPr>
              <a:t>Defect density</a:t>
            </a:r>
            <a:endParaRPr lang="en-US" sz="1196" dirty="0"/>
          </a:p>
        </p:txBody>
      </p:sp>
      <p:sp>
        <p:nvSpPr>
          <p:cNvPr id="18" name="Text 16"/>
          <p:cNvSpPr/>
          <p:nvPr/>
        </p:nvSpPr>
        <p:spPr>
          <a:xfrm>
            <a:off x="9110980" y="3115072"/>
            <a:ext cx="2069414" cy="650716"/>
          </a:xfrm>
          <a:prstGeom prst="rect">
            <a:avLst/>
          </a:prstGeom>
          <a:noFill/>
          <a:ln/>
        </p:spPr>
        <p:txBody>
          <a:bodyPr wrap="square" lIns="0" tIns="0" rIns="0" bIns="0" rtlCol="0" anchor="t">
            <a:normAutofit/>
          </a:bodyPr>
          <a:lstStyle/>
          <a:p>
            <a:pPr marL="0" indent="0" algn="l">
              <a:lnSpc>
                <a:spcPts val="4914"/>
              </a:lnSpc>
              <a:buNone/>
            </a:pPr>
            <a:r>
              <a:rPr lang="en-US" sz="3510" b="1" dirty="0">
                <a:solidFill>
                  <a:srgbClr val="A9480F"/>
                </a:solidFill>
                <a:latin typeface="IBM Plex Sans" pitchFamily="34" charset="0"/>
                <a:ea typeface="IBM Plex Sans" pitchFamily="34" charset="-122"/>
                <a:cs typeface="IBM Plex Sans" pitchFamily="34" charset="-120"/>
              </a:rPr>
              <a:t>1.92</a:t>
            </a:r>
            <a:endParaRPr lang="en-US" sz="3510" dirty="0"/>
          </a:p>
        </p:txBody>
      </p:sp>
      <p:sp>
        <p:nvSpPr>
          <p:cNvPr id="19" name="Text 17"/>
          <p:cNvSpPr/>
          <p:nvPr/>
        </p:nvSpPr>
        <p:spPr>
          <a:xfrm>
            <a:off x="9110980" y="3791192"/>
            <a:ext cx="2069414" cy="442278"/>
          </a:xfrm>
          <a:prstGeom prst="rect">
            <a:avLst/>
          </a:prstGeom>
          <a:noFill/>
          <a:ln/>
        </p:spPr>
        <p:txBody>
          <a:bodyPr wrap="square" lIns="0" tIns="0" rIns="0" bIns="0" rtlCol="0" anchor="t">
            <a:normAutofit/>
          </a:bodyPr>
          <a:lstStyle/>
          <a:p>
            <a:pPr marL="0" indent="0" algn="l">
              <a:lnSpc>
                <a:spcPts val="1659"/>
              </a:lnSpc>
              <a:buNone/>
            </a:pPr>
            <a:r>
              <a:rPr lang="en-US" sz="1185" dirty="0">
                <a:solidFill>
                  <a:srgbClr val="4A5568"/>
                </a:solidFill>
                <a:latin typeface="IBM Plex Sans" pitchFamily="34" charset="0"/>
                <a:ea typeface="IBM Plex Sans" pitchFamily="34" charset="-122"/>
                <a:cs typeface="IBM Plex Sans" pitchFamily="34" charset="-120"/>
              </a:rPr>
              <a:t>per KLOC · 8 defects in 4,158 SLOC</a:t>
            </a:r>
            <a:endParaRPr lang="en-US" sz="1185" dirty="0"/>
          </a:p>
        </p:txBody>
      </p:sp>
      <p:sp>
        <p:nvSpPr>
          <p:cNvPr id="20" name="Shape 18"/>
          <p:cNvSpPr/>
          <p:nvPr/>
        </p:nvSpPr>
        <p:spPr>
          <a:xfrm>
            <a:off x="812800" y="4746544"/>
            <a:ext cx="10566400" cy="1095454"/>
          </a:xfrm>
          <a:prstGeom prst="roundRect">
            <a:avLst>
              <a:gd name="adj" fmla="val 9275"/>
            </a:avLst>
          </a:prstGeom>
          <a:solidFill>
            <a:srgbClr val="ECEAE2"/>
          </a:solidFill>
          <a:ln/>
        </p:spPr>
        <p:txBody>
          <a:bodyPr/>
          <a:lstStyle/>
          <a:p>
            <a:endParaRPr/>
          </a:p>
        </p:txBody>
      </p:sp>
      <p:sp>
        <p:nvSpPr>
          <p:cNvPr id="21" name="Text 19"/>
          <p:cNvSpPr/>
          <p:nvPr/>
        </p:nvSpPr>
        <p:spPr>
          <a:xfrm>
            <a:off x="1066800" y="4924344"/>
            <a:ext cx="10360152" cy="26987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1,502 tests pass across seven suites; five strict xfails pin the open defects.</a:t>
            </a:r>
            <a:endParaRPr lang="en-US" sz="1400" dirty="0"/>
          </a:p>
        </p:txBody>
      </p:sp>
      <p:sp>
        <p:nvSpPr>
          <p:cNvPr id="22" name="Text 20"/>
          <p:cNvSpPr/>
          <p:nvPr/>
        </p:nvSpPr>
        <p:spPr>
          <a:xfrm>
            <a:off x="1066800" y="5245019"/>
            <a:ext cx="10360152" cy="444579"/>
          </a:xfrm>
          <a:prstGeom prst="rect">
            <a:avLst/>
          </a:prstGeom>
          <a:noFill/>
          <a:ln/>
        </p:spPr>
        <p:txBody>
          <a:bodyPr wrap="square" lIns="0" tIns="0" rIns="0" bIns="0" rtlCol="0" anchor="t">
            <a:normAutofit/>
          </a:bodyPr>
          <a:lstStyle/>
          <a:p>
            <a:pPr marL="0" indent="0" algn="l">
              <a:lnSpc>
                <a:spcPts val="1659"/>
              </a:lnSpc>
              <a:buNone/>
            </a:pPr>
            <a:r>
              <a:rPr lang="en-US" sz="1185" dirty="0">
                <a:solidFill>
                  <a:srgbClr val="4A5568"/>
                </a:solidFill>
                <a:latin typeface="IBM Plex Sans" pitchFamily="34" charset="0"/>
                <a:ea typeface="IBM Plex Sans" pitchFamily="34" charset="-122"/>
                <a:cs typeface="IBM Plex Sans" pitchFamily="34" charset="-120"/>
              </a:rPr>
              <a:t>The Week 10 mutation run covered only _types.py (10 mutants: 4 killed, 5 equivalent, 1 genuine gap) and identified a new latent defect, M1. The library-wide v2 run scored 77.4%.</a:t>
            </a:r>
            <a:endParaRPr lang="en-US" sz="1185" dirty="0"/>
          </a:p>
        </p:txBody>
      </p:sp>
      <p:sp>
        <p:nvSpPr>
          <p:cNvPr id="23" name="Text 21"/>
          <p:cNvSpPr/>
          <p:nvPr/>
        </p:nvSpPr>
        <p:spPr>
          <a:xfrm>
            <a:off x="812800" y="6238242"/>
            <a:ext cx="91567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Coverage: all seven test folders, repo .coveragerc · RTM, SLOC: reports/week12/ci-evidence.md</a:t>
            </a:r>
            <a:endParaRPr lang="en-US" sz="1200" dirty="0"/>
          </a:p>
        </p:txBody>
      </p:sp>
      <p:sp>
        <p:nvSpPr>
          <p:cNvPr id="24" name="Text 2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6F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3816" y="1280160"/>
            <a:ext cx="10460736" cy="694944"/>
          </a:xfrm>
        </p:spPr>
        <p:txBody>
          <a:bodyPr wrap="square" lIns="0" tIns="0" rIns="0" bIns="0" anchor="t">
            <a:noAutofit/>
          </a:bodyPr>
          <a:lstStyle/>
          <a:p>
            <a:pPr algn="l"/>
            <a:r>
              <a:rPr sz="3600" b="1" dirty="0">
                <a:solidFill>
                  <a:srgbClr val="14213D"/>
                </a:solidFill>
                <a:latin typeface="IBM Plex Sans"/>
              </a:rPr>
              <a:t>A single CI pipeline runs the hybrid suite</a:t>
            </a:r>
          </a:p>
        </p:txBody>
      </p:sp>
      <p:sp>
        <p:nvSpPr>
          <p:cNvPr id="3" name="TextBox 2"/>
          <p:cNvSpPr txBox="1"/>
          <p:nvPr/>
        </p:nvSpPr>
        <p:spPr>
          <a:xfrm>
            <a:off x="813816" y="813816"/>
            <a:ext cx="10881360" cy="237744"/>
          </a:xfrm>
          <a:prstGeom prst="rect">
            <a:avLst/>
          </a:prstGeom>
          <a:noFill/>
        </p:spPr>
        <p:txBody>
          <a:bodyPr wrap="square" lIns="0" tIns="0" rIns="0" bIns="0" anchor="t">
            <a:spAutoFit/>
          </a:bodyPr>
          <a:lstStyle/>
          <a:p>
            <a:pPr algn="l">
              <a:spcAft>
                <a:spcPts val="0"/>
              </a:spcAft>
            </a:pPr>
            <a:r>
              <a:rPr sz="1200" b="0">
                <a:solidFill>
                  <a:srgbClr val="2B5FB8"/>
                </a:solidFill>
                <a:latin typeface="JetBrains Mono"/>
              </a:rPr>
              <a:t>WEEKS 11–12 · CI/CD PIPELINE</a:t>
            </a:r>
          </a:p>
        </p:txBody>
      </p:sp>
      <p:sp>
        <p:nvSpPr>
          <p:cNvPr id="4" name="TextBox 3"/>
          <p:cNvSpPr txBox="1"/>
          <p:nvPr/>
        </p:nvSpPr>
        <p:spPr>
          <a:xfrm>
            <a:off x="813816" y="1975104"/>
            <a:ext cx="10881360" cy="274320"/>
          </a:xfrm>
          <a:prstGeom prst="rect">
            <a:avLst/>
          </a:prstGeom>
          <a:noFill/>
        </p:spPr>
        <p:txBody>
          <a:bodyPr wrap="square" lIns="0" tIns="0" rIns="0" bIns="0" anchor="t">
            <a:spAutoFit/>
          </a:bodyPr>
          <a:lstStyle/>
          <a:p>
            <a:pPr algn="l">
              <a:spcAft>
                <a:spcPts val="0"/>
              </a:spcAft>
            </a:pPr>
            <a:r>
              <a:rPr sz="1400" b="0">
                <a:solidFill>
                  <a:srgbClr val="4A5568"/>
                </a:solidFill>
                <a:latin typeface="IBM Plex Sans"/>
              </a:rPr>
              <a:t>GitHub Actions runs on every push and pull request: fast checks first, full evidence nightly.</a:t>
            </a:r>
          </a:p>
        </p:txBody>
      </p:sp>
      <p:sp>
        <p:nvSpPr>
          <p:cNvPr id="5" name="TextBox 4"/>
          <p:cNvSpPr txBox="1"/>
          <p:nvPr/>
        </p:nvSpPr>
        <p:spPr>
          <a:xfrm>
            <a:off x="813816" y="2359152"/>
            <a:ext cx="4572000" cy="201168"/>
          </a:xfrm>
          <a:prstGeom prst="rect">
            <a:avLst/>
          </a:prstGeom>
          <a:noFill/>
        </p:spPr>
        <p:txBody>
          <a:bodyPr wrap="square" lIns="0" tIns="0" rIns="0" bIns="0" anchor="t">
            <a:spAutoFit/>
          </a:bodyPr>
          <a:lstStyle/>
          <a:p>
            <a:pPr algn="l">
              <a:spcAft>
                <a:spcPts val="0"/>
              </a:spcAft>
            </a:pPr>
            <a:r>
              <a:rPr sz="1000" b="1">
                <a:solidFill>
                  <a:srgbClr val="6B7280"/>
                </a:solidFill>
                <a:latin typeface="JetBrains Mono"/>
              </a:rPr>
              <a:t>ON EVERY PUSH / PR</a:t>
            </a:r>
          </a:p>
        </p:txBody>
      </p:sp>
      <p:sp>
        <p:nvSpPr>
          <p:cNvPr id="6" name="TextBox 5"/>
          <p:cNvSpPr txBox="1"/>
          <p:nvPr/>
        </p:nvSpPr>
        <p:spPr>
          <a:xfrm>
            <a:off x="813816" y="3694176"/>
            <a:ext cx="5943600" cy="201168"/>
          </a:xfrm>
          <a:prstGeom prst="rect">
            <a:avLst/>
          </a:prstGeom>
          <a:noFill/>
        </p:spPr>
        <p:txBody>
          <a:bodyPr wrap="square" lIns="0" tIns="0" rIns="0" bIns="0" anchor="t">
            <a:spAutoFit/>
          </a:bodyPr>
          <a:lstStyle/>
          <a:p>
            <a:pPr algn="l">
              <a:spcAft>
                <a:spcPts val="0"/>
              </a:spcAft>
            </a:pPr>
            <a:r>
              <a:rPr sz="1000" b="1">
                <a:solidFill>
                  <a:srgbClr val="6B7280"/>
                </a:solidFill>
                <a:latin typeface="JetBrains Mono"/>
              </a:rPr>
              <a:t>NIGHTLY / EVIDENCE (NON-BLOCKING)</a:t>
            </a:r>
          </a:p>
        </p:txBody>
      </p:sp>
      <p:sp>
        <p:nvSpPr>
          <p:cNvPr id="7" name="Rounded Rectangle 6"/>
          <p:cNvSpPr/>
          <p:nvPr/>
        </p:nvSpPr>
        <p:spPr>
          <a:xfrm>
            <a:off x="813816" y="2615184"/>
            <a:ext cx="1600200" cy="868680"/>
          </a:xfrm>
          <a:prstGeom prst="roundRect">
            <a:avLst>
              <a:gd name="adj" fmla="val 16000"/>
            </a:avLst>
          </a:prstGeom>
          <a:solidFill>
            <a:srgbClr val="FFFFFF"/>
          </a:solidFill>
          <a:ln w="6350">
            <a:solidFill>
              <a:srgbClr val="DEDCD3"/>
            </a:solidFill>
          </a:ln>
        </p:spPr>
        <p:style>
          <a:lnRef idx="1">
            <a:schemeClr val="accent1"/>
          </a:lnRef>
          <a:fillRef idx="3">
            <a:schemeClr val="accent1"/>
          </a:fillRef>
          <a:effectRef idx="2">
            <a:schemeClr val="accent1"/>
          </a:effectRef>
          <a:fontRef idx="minor">
            <a:schemeClr val="lt1"/>
          </a:fontRef>
        </p:style>
        <p:txBody>
          <a:bodyPr wrap="square" tIns="27432" rIns="54864" bIns="27432" rtlCol="0" anchor="ctr">
            <a:noAutofit/>
          </a:bodyPr>
          <a:lstStyle/>
          <a:p>
            <a:pPr algn="l">
              <a:spcAft>
                <a:spcPts val="0"/>
              </a:spcAft>
            </a:pPr>
            <a:r>
              <a:rPr sz="1200" b="1">
                <a:solidFill>
                  <a:srgbClr val="14213D"/>
                </a:solidFill>
                <a:latin typeface="IBM Plex Sans"/>
              </a:rPr>
              <a:t>Push / PR</a:t>
            </a:r>
          </a:p>
          <a:p>
            <a:pPr algn="l">
              <a:spcBef>
                <a:spcPts val="100"/>
              </a:spcBef>
              <a:spcAft>
                <a:spcPts val="0"/>
              </a:spcAft>
            </a:pPr>
            <a:r>
              <a:rPr sz="950">
                <a:solidFill>
                  <a:srgbClr val="4A5568"/>
                </a:solidFill>
                <a:latin typeface="IBM Plex Sans"/>
              </a:rPr>
              <a:t>every commit</a:t>
            </a:r>
          </a:p>
        </p:txBody>
      </p:sp>
      <p:sp>
        <p:nvSpPr>
          <p:cNvPr id="8" name="Right Arrow 7"/>
          <p:cNvSpPr/>
          <p:nvPr/>
        </p:nvSpPr>
        <p:spPr>
          <a:xfrm>
            <a:off x="2450592" y="2976372"/>
            <a:ext cx="182880" cy="146304"/>
          </a:xfrm>
          <a:prstGeom prst="rightArrow">
            <a:avLst/>
          </a:prstGeom>
          <a:solidFill>
            <a:srgbClr val="2B5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670048" y="2615184"/>
            <a:ext cx="1600200" cy="868680"/>
          </a:xfrm>
          <a:prstGeom prst="roundRect">
            <a:avLst>
              <a:gd name="adj" fmla="val 16000"/>
            </a:avLst>
          </a:prstGeom>
          <a:solidFill>
            <a:srgbClr val="FFFFFF"/>
          </a:solidFill>
          <a:ln w="6350">
            <a:solidFill>
              <a:srgbClr val="DEDCD3"/>
            </a:solidFill>
          </a:ln>
        </p:spPr>
        <p:style>
          <a:lnRef idx="1">
            <a:schemeClr val="accent1"/>
          </a:lnRef>
          <a:fillRef idx="3">
            <a:schemeClr val="accent1"/>
          </a:fillRef>
          <a:effectRef idx="2">
            <a:schemeClr val="accent1"/>
          </a:effectRef>
          <a:fontRef idx="minor">
            <a:schemeClr val="lt1"/>
          </a:fontRef>
        </p:style>
        <p:txBody>
          <a:bodyPr wrap="square" tIns="27432" rIns="54864" bIns="27432" rtlCol="0" anchor="ctr">
            <a:noAutofit/>
          </a:bodyPr>
          <a:lstStyle/>
          <a:p>
            <a:pPr algn="l">
              <a:spcAft>
                <a:spcPts val="0"/>
              </a:spcAft>
            </a:pPr>
            <a:r>
              <a:rPr sz="1200" b="1">
                <a:solidFill>
                  <a:srgbClr val="14213D"/>
                </a:solidFill>
                <a:latin typeface="IBM Plex Sans"/>
              </a:rPr>
              <a:t>Quality</a:t>
            </a:r>
          </a:p>
          <a:p>
            <a:pPr algn="l">
              <a:spcBef>
                <a:spcPts val="100"/>
              </a:spcBef>
              <a:spcAft>
                <a:spcPts val="0"/>
              </a:spcAft>
            </a:pPr>
            <a:r>
              <a:rPr sz="950">
                <a:solidFill>
                  <a:srgbClr val="4A5568"/>
                </a:solidFill>
                <a:latin typeface="IBM Plex Sans"/>
              </a:rPr>
              <a:t>ruff · mypy</a:t>
            </a:r>
          </a:p>
        </p:txBody>
      </p:sp>
      <p:sp>
        <p:nvSpPr>
          <p:cNvPr id="10" name="Right Arrow 9"/>
          <p:cNvSpPr/>
          <p:nvPr/>
        </p:nvSpPr>
        <p:spPr>
          <a:xfrm>
            <a:off x="4306824" y="2976372"/>
            <a:ext cx="182880" cy="146304"/>
          </a:xfrm>
          <a:prstGeom prst="rightArrow">
            <a:avLst/>
          </a:prstGeom>
          <a:solidFill>
            <a:srgbClr val="2B5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26280" y="2615184"/>
            <a:ext cx="1600200" cy="868680"/>
          </a:xfrm>
          <a:prstGeom prst="roundRect">
            <a:avLst>
              <a:gd name="adj" fmla="val 16000"/>
            </a:avLst>
          </a:prstGeom>
          <a:solidFill>
            <a:srgbClr val="FFFFFF"/>
          </a:solidFill>
          <a:ln w="6350">
            <a:solidFill>
              <a:srgbClr val="DEDCD3"/>
            </a:solidFill>
          </a:ln>
        </p:spPr>
        <p:style>
          <a:lnRef idx="1">
            <a:schemeClr val="accent1"/>
          </a:lnRef>
          <a:fillRef idx="3">
            <a:schemeClr val="accent1"/>
          </a:fillRef>
          <a:effectRef idx="2">
            <a:schemeClr val="accent1"/>
          </a:effectRef>
          <a:fontRef idx="minor">
            <a:schemeClr val="lt1"/>
          </a:fontRef>
        </p:style>
        <p:txBody>
          <a:bodyPr wrap="square" tIns="27432" rIns="54864" bIns="27432" rtlCol="0" anchor="ctr">
            <a:noAutofit/>
          </a:bodyPr>
          <a:lstStyle/>
          <a:p>
            <a:pPr algn="l">
              <a:spcAft>
                <a:spcPts val="0"/>
              </a:spcAft>
            </a:pPr>
            <a:r>
              <a:rPr sz="1200" b="1">
                <a:solidFill>
                  <a:srgbClr val="14213D"/>
                </a:solidFill>
                <a:latin typeface="IBM Plex Sans"/>
              </a:rPr>
              <a:t>Unit matrix</a:t>
            </a:r>
          </a:p>
          <a:p>
            <a:pPr algn="l">
              <a:spcBef>
                <a:spcPts val="100"/>
              </a:spcBef>
              <a:spcAft>
                <a:spcPts val="0"/>
              </a:spcAft>
            </a:pPr>
            <a:r>
              <a:rPr sz="950">
                <a:solidFill>
                  <a:srgbClr val="4A5568"/>
                </a:solidFill>
                <a:latin typeface="IBM Plex Sans"/>
              </a:rPr>
              <a:t>3 OS × 3 Python</a:t>
            </a:r>
          </a:p>
        </p:txBody>
      </p:sp>
      <p:sp>
        <p:nvSpPr>
          <p:cNvPr id="12" name="Right Arrow 11"/>
          <p:cNvSpPr/>
          <p:nvPr/>
        </p:nvSpPr>
        <p:spPr>
          <a:xfrm>
            <a:off x="6163056" y="2976372"/>
            <a:ext cx="182880" cy="146304"/>
          </a:xfrm>
          <a:prstGeom prst="rightArrow">
            <a:avLst/>
          </a:prstGeom>
          <a:solidFill>
            <a:srgbClr val="2B5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382512" y="2615184"/>
            <a:ext cx="1600200" cy="868680"/>
          </a:xfrm>
          <a:prstGeom prst="roundRect">
            <a:avLst>
              <a:gd name="adj" fmla="val 16000"/>
            </a:avLst>
          </a:prstGeom>
          <a:solidFill>
            <a:srgbClr val="FFFFFF"/>
          </a:solidFill>
          <a:ln w="6350">
            <a:solidFill>
              <a:srgbClr val="DEDCD3"/>
            </a:solidFill>
          </a:ln>
        </p:spPr>
        <p:style>
          <a:lnRef idx="1">
            <a:schemeClr val="accent1"/>
          </a:lnRef>
          <a:fillRef idx="3">
            <a:schemeClr val="accent1"/>
          </a:fillRef>
          <a:effectRef idx="2">
            <a:schemeClr val="accent1"/>
          </a:effectRef>
          <a:fontRef idx="minor">
            <a:schemeClr val="lt1"/>
          </a:fontRef>
        </p:style>
        <p:txBody>
          <a:bodyPr wrap="square" tIns="27432" rIns="54864" bIns="27432" rtlCol="0" anchor="ctr">
            <a:noAutofit/>
          </a:bodyPr>
          <a:lstStyle/>
          <a:p>
            <a:pPr algn="l">
              <a:spcAft>
                <a:spcPts val="0"/>
              </a:spcAft>
            </a:pPr>
            <a:r>
              <a:rPr sz="1200" b="1">
                <a:solidFill>
                  <a:srgbClr val="14213D"/>
                </a:solidFill>
                <a:latin typeface="IBM Plex Sans"/>
              </a:rPr>
              <a:t>AI baseline</a:t>
            </a:r>
          </a:p>
          <a:p>
            <a:pPr algn="l">
              <a:spcBef>
                <a:spcPts val="100"/>
              </a:spcBef>
              <a:spcAft>
                <a:spcPts val="0"/>
              </a:spcAft>
            </a:pPr>
            <a:r>
              <a:rPr sz="950">
                <a:solidFill>
                  <a:srgbClr val="4A5568"/>
                </a:solidFill>
                <a:latin typeface="IBM Plex Sans"/>
              </a:rPr>
              <a:t>388 tests</a:t>
            </a:r>
          </a:p>
        </p:txBody>
      </p:sp>
      <p:sp>
        <p:nvSpPr>
          <p:cNvPr id="14" name="Right Arrow 13"/>
          <p:cNvSpPr/>
          <p:nvPr/>
        </p:nvSpPr>
        <p:spPr>
          <a:xfrm>
            <a:off x="8019288" y="2976372"/>
            <a:ext cx="182880" cy="146304"/>
          </a:xfrm>
          <a:prstGeom prst="rightArrow">
            <a:avLst/>
          </a:prstGeom>
          <a:solidFill>
            <a:srgbClr val="2B5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238744" y="2615184"/>
            <a:ext cx="1600200" cy="868680"/>
          </a:xfrm>
          <a:prstGeom prst="roundRect">
            <a:avLst>
              <a:gd name="adj" fmla="val 16000"/>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wrap="square" tIns="27432" rIns="54864" bIns="27432" rtlCol="0" anchor="ctr">
            <a:noAutofit/>
          </a:bodyPr>
          <a:lstStyle/>
          <a:p>
            <a:pPr algn="l">
              <a:spcAft>
                <a:spcPts val="0"/>
              </a:spcAft>
            </a:pPr>
            <a:r>
              <a:rPr sz="1200" b="1">
                <a:solidFill>
                  <a:srgbClr val="FFFFFF"/>
                </a:solidFill>
                <a:latin typeface="IBM Plex Sans"/>
              </a:rPr>
              <a:t>Hybrid suite</a:t>
            </a:r>
          </a:p>
          <a:p>
            <a:pPr algn="l">
              <a:spcBef>
                <a:spcPts val="100"/>
              </a:spcBef>
              <a:spcAft>
                <a:spcPts val="0"/>
              </a:spcAft>
            </a:pPr>
            <a:r>
              <a:rPr sz="950">
                <a:solidFill>
                  <a:srgbClr val="BFCBE0"/>
                </a:solidFill>
                <a:latin typeface="IBM Plex Sans"/>
              </a:rPr>
              <a:t>1,502 · risk-ordered</a:t>
            </a:r>
          </a:p>
        </p:txBody>
      </p:sp>
      <p:sp>
        <p:nvSpPr>
          <p:cNvPr id="16" name="Right Arrow 15"/>
          <p:cNvSpPr/>
          <p:nvPr/>
        </p:nvSpPr>
        <p:spPr>
          <a:xfrm>
            <a:off x="9875520" y="2976372"/>
            <a:ext cx="182880" cy="146304"/>
          </a:xfrm>
          <a:prstGeom prst="rightArrow">
            <a:avLst/>
          </a:prstGeom>
          <a:solidFill>
            <a:srgbClr val="2B5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0094976" y="2615184"/>
            <a:ext cx="1600200" cy="868680"/>
          </a:xfrm>
          <a:prstGeom prst="roundRect">
            <a:avLst>
              <a:gd name="adj" fmla="val 16000"/>
            </a:avLst>
          </a:prstGeom>
          <a:solidFill>
            <a:srgbClr val="FFFFFF"/>
          </a:solidFill>
          <a:ln w="12700">
            <a:solidFill>
              <a:srgbClr val="2B5FB8"/>
            </a:solidFill>
          </a:ln>
        </p:spPr>
        <p:style>
          <a:lnRef idx="1">
            <a:schemeClr val="accent1"/>
          </a:lnRef>
          <a:fillRef idx="3">
            <a:schemeClr val="accent1"/>
          </a:fillRef>
          <a:effectRef idx="2">
            <a:schemeClr val="accent1"/>
          </a:effectRef>
          <a:fontRef idx="minor">
            <a:schemeClr val="lt1"/>
          </a:fontRef>
        </p:style>
        <p:txBody>
          <a:bodyPr wrap="square" tIns="27432" rIns="54864" bIns="27432" rtlCol="0" anchor="ctr">
            <a:noAutofit/>
          </a:bodyPr>
          <a:lstStyle/>
          <a:p>
            <a:pPr algn="l">
              <a:spcAft>
                <a:spcPts val="0"/>
              </a:spcAft>
            </a:pPr>
            <a:r>
              <a:rPr sz="1200" b="1">
                <a:solidFill>
                  <a:srgbClr val="14213D"/>
                </a:solidFill>
                <a:latin typeface="IBM Plex Sans"/>
              </a:rPr>
              <a:t>Gate</a:t>
            </a:r>
          </a:p>
          <a:p>
            <a:pPr algn="l">
              <a:spcBef>
                <a:spcPts val="100"/>
              </a:spcBef>
              <a:spcAft>
                <a:spcPts val="0"/>
              </a:spcAft>
            </a:pPr>
            <a:r>
              <a:rPr sz="950">
                <a:solidFill>
                  <a:srgbClr val="4A5568"/>
                </a:solidFill>
                <a:latin typeface="IBM Plex Sans"/>
              </a:rPr>
              <a:t>coverage + RTM</a:t>
            </a:r>
          </a:p>
        </p:txBody>
      </p:sp>
      <p:sp>
        <p:nvSpPr>
          <p:cNvPr id="18" name="Rounded Rectangle 17"/>
          <p:cNvSpPr/>
          <p:nvPr/>
        </p:nvSpPr>
        <p:spPr>
          <a:xfrm>
            <a:off x="813816" y="3950208"/>
            <a:ext cx="3383280" cy="749808"/>
          </a:xfrm>
          <a:prstGeom prst="roundRect">
            <a:avLst>
              <a:gd name="adj" fmla="val 16000"/>
            </a:avLst>
          </a:prstGeom>
          <a:solidFill>
            <a:srgbClr val="FFFFFF"/>
          </a:solidFill>
          <a:ln w="6350">
            <a:solidFill>
              <a:srgbClr val="DEDCD3"/>
            </a:solidFill>
          </a:ln>
        </p:spPr>
        <p:style>
          <a:lnRef idx="1">
            <a:schemeClr val="accent1"/>
          </a:lnRef>
          <a:fillRef idx="3">
            <a:schemeClr val="accent1"/>
          </a:fillRef>
          <a:effectRef idx="2">
            <a:schemeClr val="accent1"/>
          </a:effectRef>
          <a:fontRef idx="minor">
            <a:schemeClr val="lt1"/>
          </a:fontRef>
        </p:style>
        <p:txBody>
          <a:bodyPr wrap="square" tIns="27432" rIns="54864" bIns="27432" rtlCol="0" anchor="ctr">
            <a:noAutofit/>
          </a:bodyPr>
          <a:lstStyle/>
          <a:p>
            <a:pPr algn="l">
              <a:spcAft>
                <a:spcPts val="0"/>
              </a:spcAft>
            </a:pPr>
            <a:r>
              <a:rPr sz="1200" b="1">
                <a:solidFill>
                  <a:srgbClr val="14213D"/>
                </a:solidFill>
                <a:latin typeface="IBM Plex Sans"/>
              </a:rPr>
              <a:t>Mutation</a:t>
            </a:r>
          </a:p>
          <a:p>
            <a:pPr algn="l">
              <a:spcBef>
                <a:spcPts val="100"/>
              </a:spcBef>
              <a:spcAft>
                <a:spcPts val="0"/>
              </a:spcAft>
            </a:pPr>
            <a:r>
              <a:rPr sz="950">
                <a:solidFill>
                  <a:srgbClr val="4A5568"/>
                </a:solidFill>
                <a:latin typeface="IBM Plex Sans"/>
              </a:rPr>
              <a:t>mutmut 3.8.0 · 77.4%</a:t>
            </a:r>
          </a:p>
        </p:txBody>
      </p:sp>
      <p:sp>
        <p:nvSpPr>
          <p:cNvPr id="19" name="Rounded Rectangle 18"/>
          <p:cNvSpPr/>
          <p:nvPr/>
        </p:nvSpPr>
        <p:spPr>
          <a:xfrm>
            <a:off x="4593790" y="3950208"/>
            <a:ext cx="3383280" cy="749808"/>
          </a:xfrm>
          <a:prstGeom prst="roundRect">
            <a:avLst>
              <a:gd name="adj" fmla="val 16000"/>
            </a:avLst>
          </a:prstGeom>
          <a:solidFill>
            <a:srgbClr val="FFFFFF"/>
          </a:solidFill>
          <a:ln w="6350">
            <a:solidFill>
              <a:srgbClr val="DEDCD3"/>
            </a:solidFill>
          </a:ln>
        </p:spPr>
        <p:style>
          <a:lnRef idx="1">
            <a:schemeClr val="accent1"/>
          </a:lnRef>
          <a:fillRef idx="3">
            <a:schemeClr val="accent1"/>
          </a:fillRef>
          <a:effectRef idx="2">
            <a:schemeClr val="accent1"/>
          </a:effectRef>
          <a:fontRef idx="minor">
            <a:schemeClr val="lt1"/>
          </a:fontRef>
        </p:style>
        <p:txBody>
          <a:bodyPr wrap="square" tIns="27432" rIns="54864" bIns="27432" rtlCol="0" anchor="ctr">
            <a:noAutofit/>
          </a:bodyPr>
          <a:lstStyle/>
          <a:p>
            <a:pPr algn="l">
              <a:spcAft>
                <a:spcPts val="0"/>
              </a:spcAft>
            </a:pPr>
            <a:r>
              <a:rPr sz="1200" b="1">
                <a:solidFill>
                  <a:srgbClr val="14213D"/>
                </a:solidFill>
                <a:latin typeface="IBM Plex Sans"/>
              </a:rPr>
              <a:t>Performance</a:t>
            </a:r>
          </a:p>
          <a:p>
            <a:pPr algn="l">
              <a:spcBef>
                <a:spcPts val="100"/>
              </a:spcBef>
              <a:spcAft>
                <a:spcPts val="0"/>
              </a:spcAft>
            </a:pPr>
            <a:r>
              <a:rPr sz="950">
                <a:solidFill>
                  <a:srgbClr val="4A5568"/>
                </a:solidFill>
                <a:latin typeface="IBM Plex Sans"/>
              </a:rPr>
              <a:t>Locust · 2,386 ops/s</a:t>
            </a:r>
          </a:p>
        </p:txBody>
      </p:sp>
      <p:sp>
        <p:nvSpPr>
          <p:cNvPr id="20" name="Rounded Rectangle 19"/>
          <p:cNvSpPr/>
          <p:nvPr/>
        </p:nvSpPr>
        <p:spPr>
          <a:xfrm>
            <a:off x="8311896" y="3950208"/>
            <a:ext cx="3383280" cy="749808"/>
          </a:xfrm>
          <a:prstGeom prst="roundRect">
            <a:avLst>
              <a:gd name="adj" fmla="val 16000"/>
            </a:avLst>
          </a:prstGeom>
          <a:solidFill>
            <a:srgbClr val="FFFFFF"/>
          </a:solidFill>
          <a:ln w="6350">
            <a:solidFill>
              <a:srgbClr val="DEDCD3"/>
            </a:solidFill>
          </a:ln>
        </p:spPr>
        <p:style>
          <a:lnRef idx="1">
            <a:schemeClr val="accent1"/>
          </a:lnRef>
          <a:fillRef idx="3">
            <a:schemeClr val="accent1"/>
          </a:fillRef>
          <a:effectRef idx="2">
            <a:schemeClr val="accent1"/>
          </a:effectRef>
          <a:fontRef idx="minor">
            <a:schemeClr val="lt1"/>
          </a:fontRef>
        </p:style>
        <p:txBody>
          <a:bodyPr wrap="square" tIns="27432" rIns="54864" bIns="27432" rtlCol="0" anchor="ctr">
            <a:noAutofit/>
          </a:bodyPr>
          <a:lstStyle/>
          <a:p>
            <a:pPr algn="l">
              <a:spcAft>
                <a:spcPts val="0"/>
              </a:spcAft>
            </a:pPr>
            <a:r>
              <a:rPr sz="1200" b="1">
                <a:solidFill>
                  <a:srgbClr val="14213D"/>
                </a:solidFill>
                <a:latin typeface="IBM Plex Sans"/>
              </a:rPr>
              <a:t>Security</a:t>
            </a:r>
          </a:p>
          <a:p>
            <a:pPr algn="l">
              <a:spcBef>
                <a:spcPts val="100"/>
              </a:spcBef>
              <a:spcAft>
                <a:spcPts val="0"/>
              </a:spcAft>
            </a:pPr>
            <a:r>
              <a:rPr sz="950">
                <a:solidFill>
                  <a:srgbClr val="4A5568"/>
                </a:solidFill>
                <a:latin typeface="IBM Plex Sans"/>
              </a:rPr>
              <a:t>pip-audit · bandit</a:t>
            </a:r>
          </a:p>
        </p:txBody>
      </p:sp>
      <p:sp>
        <p:nvSpPr>
          <p:cNvPr id="21" name="Rounded Rectangle 20"/>
          <p:cNvSpPr/>
          <p:nvPr/>
        </p:nvSpPr>
        <p:spPr>
          <a:xfrm>
            <a:off x="813816" y="4956048"/>
            <a:ext cx="10881360" cy="749808"/>
          </a:xfrm>
          <a:prstGeom prst="roundRect">
            <a:avLst>
              <a:gd name="adj" fmla="val 16000"/>
            </a:avLst>
          </a:prstGeom>
          <a:solidFill>
            <a:srgbClr val="FFFFFF"/>
          </a:solidFill>
          <a:ln w="6350">
            <a:solidFill>
              <a:srgbClr val="DEDCD3"/>
            </a:solidFill>
          </a:ln>
        </p:spPr>
        <p:style>
          <a:lnRef idx="1">
            <a:schemeClr val="accent1"/>
          </a:lnRef>
          <a:fillRef idx="3">
            <a:schemeClr val="accent1"/>
          </a:fillRef>
          <a:effectRef idx="2">
            <a:schemeClr val="accent1"/>
          </a:effectRef>
          <a:fontRef idx="minor">
            <a:schemeClr val="lt1"/>
          </a:fontRef>
        </p:style>
        <p:txBody>
          <a:bodyPr wrap="square" tIns="27432" rIns="54864" bIns="27432" rtlCol="0" anchor="ctr">
            <a:noAutofit/>
          </a:bodyPr>
          <a:lstStyle/>
          <a:p>
            <a:pPr algn="l">
              <a:spcAft>
                <a:spcPts val="0"/>
              </a:spcAft>
            </a:pPr>
            <a:endParaRPr/>
          </a:p>
          <a:p>
            <a:pPr algn="l">
              <a:spcBef>
                <a:spcPts val="100"/>
              </a:spcBef>
              <a:spcAft>
                <a:spcPts val="0"/>
              </a:spcAft>
            </a:pPr>
            <a:endParaRPr/>
          </a:p>
        </p:txBody>
      </p:sp>
      <p:sp>
        <p:nvSpPr>
          <p:cNvPr id="22" name="TextBox 21"/>
          <p:cNvSpPr txBox="1"/>
          <p:nvPr/>
        </p:nvSpPr>
        <p:spPr>
          <a:xfrm>
            <a:off x="978408" y="5056632"/>
            <a:ext cx="7223760" cy="182880"/>
          </a:xfrm>
          <a:prstGeom prst="rect">
            <a:avLst/>
          </a:prstGeom>
          <a:noFill/>
        </p:spPr>
        <p:txBody>
          <a:bodyPr wrap="square" lIns="0" tIns="0" rIns="0" bIns="0" anchor="t">
            <a:spAutoFit/>
          </a:bodyPr>
          <a:lstStyle/>
          <a:p>
            <a:pPr algn="l">
              <a:spcAft>
                <a:spcPts val="0"/>
              </a:spcAft>
            </a:pPr>
            <a:r>
              <a:rPr sz="900" b="1">
                <a:solidFill>
                  <a:srgbClr val="6B7280"/>
                </a:solidFill>
                <a:latin typeface="JetBrains Mono"/>
              </a:rPr>
              <a:t>DOWNLOADABLE EVIDENCE</a:t>
            </a:r>
          </a:p>
        </p:txBody>
      </p:sp>
      <p:sp>
        <p:nvSpPr>
          <p:cNvPr id="23" name="TextBox 22"/>
          <p:cNvSpPr txBox="1"/>
          <p:nvPr/>
        </p:nvSpPr>
        <p:spPr>
          <a:xfrm>
            <a:off x="978408" y="5248656"/>
            <a:ext cx="7315200" cy="228600"/>
          </a:xfrm>
          <a:prstGeom prst="rect">
            <a:avLst/>
          </a:prstGeom>
          <a:noFill/>
        </p:spPr>
        <p:txBody>
          <a:bodyPr wrap="square" lIns="0" tIns="0" rIns="0" bIns="0" anchor="t">
            <a:spAutoFit/>
          </a:bodyPr>
          <a:lstStyle/>
          <a:p>
            <a:pPr algn="l">
              <a:spcAft>
                <a:spcPts val="0"/>
              </a:spcAft>
            </a:pPr>
            <a:r>
              <a:rPr sz="1050" b="0" dirty="0">
                <a:solidFill>
                  <a:srgbClr val="14213D"/>
                </a:solidFill>
                <a:latin typeface="IBM Plex Sans"/>
              </a:rPr>
              <a:t>coverage HTML/XML · JUnit XML · mutation summary · RTM JSON · dashboard.md · manifest</a:t>
            </a:r>
          </a:p>
        </p:txBody>
      </p:sp>
      <p:sp>
        <p:nvSpPr>
          <p:cNvPr id="24" name="TextBox 23"/>
          <p:cNvSpPr txBox="1"/>
          <p:nvPr/>
        </p:nvSpPr>
        <p:spPr>
          <a:xfrm>
            <a:off x="8641080" y="5056632"/>
            <a:ext cx="2834640" cy="182880"/>
          </a:xfrm>
          <a:prstGeom prst="rect">
            <a:avLst/>
          </a:prstGeom>
          <a:noFill/>
        </p:spPr>
        <p:txBody>
          <a:bodyPr wrap="square" lIns="0" tIns="0" rIns="0" bIns="0" anchor="t">
            <a:spAutoFit/>
          </a:bodyPr>
          <a:lstStyle/>
          <a:p>
            <a:pPr algn="l">
              <a:spcAft>
                <a:spcPts val="0"/>
              </a:spcAft>
            </a:pPr>
            <a:r>
              <a:rPr sz="900" b="1">
                <a:solidFill>
                  <a:srgbClr val="6B7280"/>
                </a:solidFill>
                <a:latin typeface="JetBrains Mono"/>
              </a:rPr>
              <a:t>GREEN RUN</a:t>
            </a:r>
          </a:p>
        </p:txBody>
      </p:sp>
      <p:sp>
        <p:nvSpPr>
          <p:cNvPr id="25" name="TextBox 24"/>
          <p:cNvSpPr txBox="1"/>
          <p:nvPr/>
        </p:nvSpPr>
        <p:spPr>
          <a:xfrm>
            <a:off x="8641080" y="5248656"/>
            <a:ext cx="2926080" cy="228600"/>
          </a:xfrm>
          <a:prstGeom prst="rect">
            <a:avLst/>
          </a:prstGeom>
          <a:noFill/>
        </p:spPr>
        <p:txBody>
          <a:bodyPr wrap="square" lIns="0" tIns="0" rIns="0" bIns="0" anchor="t">
            <a:spAutoFit/>
          </a:bodyPr>
          <a:lstStyle/>
          <a:p>
            <a:pPr algn="l">
              <a:spcAft>
                <a:spcPts val="0"/>
              </a:spcAft>
            </a:pPr>
            <a:r>
              <a:rPr sz="1050" b="0">
                <a:solidFill>
                  <a:srgbClr val="2B5FB8"/>
                </a:solidFill>
                <a:latin typeface="JetBrains Mono"/>
              </a:rPr>
              <a:t>40412867639 · 30ad2f0 · 15 jobs</a:t>
            </a:r>
          </a:p>
        </p:txBody>
      </p:sp>
      <p:sp>
        <p:nvSpPr>
          <p:cNvPr id="26" name="TextBox 25"/>
          <p:cNvSpPr txBox="1"/>
          <p:nvPr/>
        </p:nvSpPr>
        <p:spPr>
          <a:xfrm>
            <a:off x="813816" y="5852160"/>
            <a:ext cx="10881360" cy="274320"/>
          </a:xfrm>
          <a:prstGeom prst="rect">
            <a:avLst/>
          </a:prstGeom>
          <a:noFill/>
        </p:spPr>
        <p:txBody>
          <a:bodyPr wrap="square" lIns="0" tIns="0" rIns="0" bIns="0" anchor="t">
            <a:spAutoFit/>
          </a:bodyPr>
          <a:lstStyle/>
          <a:p>
            <a:pPr algn="l">
              <a:spcAft>
                <a:spcPts val="0"/>
              </a:spcAft>
            </a:pPr>
            <a:r>
              <a:rPr sz="1300" b="1">
                <a:solidFill>
                  <a:srgbClr val="A9480F"/>
                </a:solidFill>
                <a:latin typeface="IBM Plex Sans"/>
              </a:rPr>
              <a:t>Merge is blocked if statement coverage is below 87%, branch coverage below 82%, any test fails, or an RTM reference is unresolved.</a:t>
            </a:r>
          </a:p>
        </p:txBody>
      </p:sp>
      <p:sp>
        <p:nvSpPr>
          <p:cNvPr id="27" name="TextBox 26"/>
          <p:cNvSpPr txBox="1"/>
          <p:nvPr/>
        </p:nvSpPr>
        <p:spPr>
          <a:xfrm>
            <a:off x="813816" y="6355080"/>
            <a:ext cx="8503920" cy="237744"/>
          </a:xfrm>
          <a:prstGeom prst="rect">
            <a:avLst/>
          </a:prstGeom>
          <a:noFill/>
        </p:spPr>
        <p:txBody>
          <a:bodyPr wrap="square" lIns="0" tIns="0" rIns="0" bIns="0" anchor="t">
            <a:spAutoFit/>
          </a:bodyPr>
          <a:lstStyle/>
          <a:p>
            <a:pPr algn="l">
              <a:spcAft>
                <a:spcPts val="0"/>
              </a:spcAft>
            </a:pPr>
            <a:r>
              <a:rPr sz="1200" b="0">
                <a:solidFill>
                  <a:srgbClr val="6B7280"/>
                </a:solidFill>
                <a:latin typeface="IBM Plex Sans"/>
              </a:rPr>
              <a:t>GitHub Actions · .github/workflows/ci.yml</a:t>
            </a:r>
          </a:p>
        </p:txBody>
      </p:sp>
      <p:sp>
        <p:nvSpPr>
          <p:cNvPr id="28" name="TextBox 27"/>
          <p:cNvSpPr txBox="1"/>
          <p:nvPr/>
        </p:nvSpPr>
        <p:spPr>
          <a:xfrm>
            <a:off x="10058400" y="6355080"/>
            <a:ext cx="1316736" cy="237744"/>
          </a:xfrm>
          <a:prstGeom prst="rect">
            <a:avLst/>
          </a:prstGeom>
          <a:noFill/>
        </p:spPr>
        <p:txBody>
          <a:bodyPr wrap="square" lIns="0" tIns="0" rIns="0" bIns="0" anchor="t">
            <a:spAutoFit/>
          </a:bodyPr>
          <a:lstStyle/>
          <a:p>
            <a:pPr algn="r">
              <a:spcAft>
                <a:spcPts val="0"/>
              </a:spcAft>
            </a:pPr>
            <a:r>
              <a:rPr sz="1200" b="0">
                <a:solidFill>
                  <a:srgbClr val="6B7280"/>
                </a:solidFill>
                <a:latin typeface="IBM Plex Sans"/>
              </a:rPr>
              <a:t>18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7F6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B5FB8"/>
                </a:solidFill>
                <a:latin typeface="JetBrains Mono" pitchFamily="49" charset="0"/>
                <a:ea typeface="JetBrains Mono" pitchFamily="49" charset="-122"/>
                <a:cs typeface="JetBrains Mono" pitchFamily="49" charset="-120"/>
              </a:rPr>
              <a:t>WEEKS 11–12 · QUALITY GATE AND FINAL RESULTS</a:t>
            </a:r>
            <a:endParaRPr lang="en-US" sz="1200" dirty="0"/>
          </a:p>
        </p:txBody>
      </p:sp>
      <p:sp>
        <p:nvSpPr>
          <p:cNvPr id="3" name="Text 1"/>
          <p:cNvSpPr>
            <a:spLocks noGrp="1"/>
          </p:cNvSpPr>
          <p:nvPr>
            <p:ph type="title"/>
          </p:nvPr>
        </p:nvSpPr>
        <p:spPr>
          <a:xfrm>
            <a:off x="812800" y="1330964"/>
            <a:ext cx="10464800" cy="103124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The final suite satisfies every blocking gate</a:t>
            </a:r>
            <a:endParaRPr lang="en-US" sz="3600" dirty="0"/>
          </a:p>
        </p:txBody>
      </p:sp>
      <p:sp>
        <p:nvSpPr>
          <p:cNvPr id="4" name="Text 2"/>
          <p:cNvSpPr/>
          <p:nvPr/>
        </p:nvSpPr>
        <p:spPr>
          <a:xfrm>
            <a:off x="815975" y="2644775"/>
            <a:ext cx="2218690" cy="603250"/>
          </a:xfrm>
          <a:prstGeom prst="roundRect">
            <a:avLst>
              <a:gd name="adj" fmla="val 16316"/>
            </a:avLst>
          </a:prstGeom>
          <a:solidFill>
            <a:srgbClr val="FFFFFF"/>
          </a:solidFill>
          <a:ln w="6350">
            <a:solidFill>
              <a:srgbClr val="DEDCD3"/>
            </a:solidFill>
            <a:prstDash val="solid"/>
          </a:ln>
        </p:spPr>
        <p:txBody>
          <a:bodyPr wrap="square" lIns="176277" tIns="150877" rIns="122023" bIns="125477"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Push / PR</a:t>
            </a:r>
            <a:endParaRPr lang="en-US" sz="1600" dirty="0"/>
          </a:p>
        </p:txBody>
      </p:sp>
      <p:pic>
        <p:nvPicPr>
          <p:cNvPr id="5" name="Image 0" descr="arrow-right"/>
          <p:cNvPicPr>
            <a:picLocks noChangeAspect="1"/>
          </p:cNvPicPr>
          <p:nvPr/>
        </p:nvPicPr>
        <p:blipFill>
          <a:blip r:embed="rId3"/>
          <a:srcRect/>
          <a:stretch/>
        </p:blipFill>
        <p:spPr>
          <a:xfrm>
            <a:off x="3139440" y="2857500"/>
            <a:ext cx="355600" cy="177800"/>
          </a:xfrm>
          <a:prstGeom prst="rect">
            <a:avLst/>
          </a:prstGeom>
        </p:spPr>
      </p:pic>
      <p:sp>
        <p:nvSpPr>
          <p:cNvPr id="6" name="Text 3"/>
          <p:cNvSpPr/>
          <p:nvPr/>
        </p:nvSpPr>
        <p:spPr>
          <a:xfrm>
            <a:off x="3599815" y="2644775"/>
            <a:ext cx="2218690" cy="603250"/>
          </a:xfrm>
          <a:prstGeom prst="roundRect">
            <a:avLst>
              <a:gd name="adj" fmla="val 16316"/>
            </a:avLst>
          </a:prstGeom>
          <a:solidFill>
            <a:srgbClr val="FFFFFF"/>
          </a:solidFill>
          <a:ln w="6350">
            <a:solidFill>
              <a:srgbClr val="DEDCD3"/>
            </a:solidFill>
            <a:prstDash val="solid"/>
          </a:ln>
        </p:spPr>
        <p:txBody>
          <a:bodyPr wrap="square" lIns="176277" tIns="150877" rIns="122023" bIns="125477"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Tests in risk order</a:t>
            </a:r>
            <a:endParaRPr lang="en-US" sz="1600" dirty="0"/>
          </a:p>
        </p:txBody>
      </p:sp>
      <p:pic>
        <p:nvPicPr>
          <p:cNvPr id="7" name="Image 1" descr="arrow-right"/>
          <p:cNvPicPr>
            <a:picLocks noChangeAspect="1"/>
          </p:cNvPicPr>
          <p:nvPr/>
        </p:nvPicPr>
        <p:blipFill>
          <a:blip r:embed="rId3"/>
          <a:srcRect/>
          <a:stretch/>
        </p:blipFill>
        <p:spPr>
          <a:xfrm>
            <a:off x="5923280" y="2857500"/>
            <a:ext cx="355600" cy="177800"/>
          </a:xfrm>
          <a:prstGeom prst="rect">
            <a:avLst/>
          </a:prstGeom>
        </p:spPr>
      </p:pic>
      <p:sp>
        <p:nvSpPr>
          <p:cNvPr id="8" name="Text 4"/>
          <p:cNvSpPr/>
          <p:nvPr/>
        </p:nvSpPr>
        <p:spPr>
          <a:xfrm>
            <a:off x="6383655" y="2644775"/>
            <a:ext cx="2218690" cy="603250"/>
          </a:xfrm>
          <a:prstGeom prst="roundRect">
            <a:avLst>
              <a:gd name="adj" fmla="val 16316"/>
            </a:avLst>
          </a:prstGeom>
          <a:solidFill>
            <a:srgbClr val="FFFFFF"/>
          </a:solidFill>
          <a:ln w="6350">
            <a:solidFill>
              <a:srgbClr val="DEDCD3"/>
            </a:solidFill>
            <a:prstDash val="solid"/>
          </a:ln>
        </p:spPr>
        <p:txBody>
          <a:bodyPr wrap="square" lIns="54864" tIns="18288" rIns="36576" bIns="18288" rtlCol="0" anchor="ctr">
            <a:noAutofit/>
          </a:bodyPr>
          <a:lstStyle/>
          <a:p>
            <a:pPr marL="0" indent="0" algn="l">
              <a:lnSpc>
                <a:spcPct val="90000"/>
              </a:lnSpc>
              <a:spcBef>
                <a:spcPts val="0"/>
              </a:spcBef>
              <a:spcAft>
                <a:spcPts val="0"/>
              </a:spcAft>
              <a:buNone/>
            </a:pPr>
            <a:r>
              <a:rPr lang="en-US" sz="1200" b="1" dirty="0">
                <a:solidFill>
                  <a:srgbClr val="14213D"/>
                </a:solidFill>
                <a:latin typeface="IBM Plex Sans" pitchFamily="34" charset="0"/>
                <a:ea typeface="IBM Plex Sans" pitchFamily="34" charset="-122"/>
                <a:cs typeface="IBM Plex Sans" pitchFamily="34" charset="-120"/>
              </a:rPr>
              <a:t>Coverage ≥ 87% stmt</a:t>
            </a:r>
            <a:endParaRPr lang="en-US" sz="1600" dirty="0"/>
          </a:p>
          <a:p>
            <a:pPr marL="0" indent="0" algn="l">
              <a:lnSpc>
                <a:spcPct val="90000"/>
              </a:lnSpc>
              <a:spcBef>
                <a:spcPts val="0"/>
              </a:spcBef>
              <a:spcAft>
                <a:spcPts val="0"/>
              </a:spcAft>
              <a:buNone/>
            </a:pPr>
            <a:r>
              <a:rPr lang="en-US" sz="1200" b="1" dirty="0">
                <a:solidFill>
                  <a:srgbClr val="14213D"/>
                </a:solidFill>
                <a:latin typeface="IBM Plex Sans" pitchFamily="34" charset="0"/>
                <a:ea typeface="IBM Plex Sans" pitchFamily="34" charset="-122"/>
                <a:cs typeface="IBM Plex Sans" pitchFamily="34" charset="-120"/>
              </a:rPr>
              <a:t>Branch ≥ 82%</a:t>
            </a:r>
            <a:endParaRPr lang="en-US" sz="1600" dirty="0"/>
          </a:p>
        </p:txBody>
      </p:sp>
      <p:pic>
        <p:nvPicPr>
          <p:cNvPr id="9" name="Image 2" descr="arrow-right"/>
          <p:cNvPicPr>
            <a:picLocks noChangeAspect="1"/>
          </p:cNvPicPr>
          <p:nvPr/>
        </p:nvPicPr>
        <p:blipFill>
          <a:blip r:embed="rId3"/>
          <a:srcRect/>
          <a:stretch/>
        </p:blipFill>
        <p:spPr>
          <a:xfrm>
            <a:off x="8707120" y="2857500"/>
            <a:ext cx="355600" cy="177800"/>
          </a:xfrm>
          <a:prstGeom prst="rect">
            <a:avLst/>
          </a:prstGeom>
        </p:spPr>
      </p:pic>
      <p:sp>
        <p:nvSpPr>
          <p:cNvPr id="10" name="Text 5"/>
          <p:cNvSpPr/>
          <p:nvPr/>
        </p:nvSpPr>
        <p:spPr>
          <a:xfrm>
            <a:off x="9164320" y="2646679"/>
            <a:ext cx="2214880" cy="599440"/>
          </a:xfrm>
          <a:prstGeom prst="roundRect">
            <a:avLst>
              <a:gd name="adj" fmla="val 16949"/>
            </a:avLst>
          </a:prstGeom>
          <a:solidFill>
            <a:srgbClr val="14213D"/>
          </a:solidFill>
          <a:ln/>
        </p:spPr>
        <p:txBody>
          <a:bodyPr wrap="square" lIns="54864" tIns="18288" rIns="36576" bIns="18288" rtlCol="0" anchor="ctr">
            <a:noAutofit/>
          </a:bodyPr>
          <a:lstStyle/>
          <a:p>
            <a:pPr marL="0" indent="0" algn="ctr">
              <a:lnSpc>
                <a:spcPct val="90000"/>
              </a:lnSpc>
              <a:spcBef>
                <a:spcPts val="0"/>
              </a:spcBef>
              <a:spcAft>
                <a:spcPts val="0"/>
              </a:spcAft>
              <a:buNone/>
            </a:pPr>
            <a:r>
              <a:rPr lang="en-US" sz="1200" b="1" dirty="0">
                <a:solidFill>
                  <a:srgbClr val="F7F6F1"/>
                </a:solidFill>
                <a:latin typeface="IBM Plex Sans" pitchFamily="34" charset="0"/>
                <a:ea typeface="IBM Plex Sans" pitchFamily="34" charset="-122"/>
                <a:cs typeface="IBM Plex Sans" pitchFamily="34" charset="-120"/>
              </a:rPr>
              <a:t>Mutation ≥ 70%</a:t>
            </a:r>
            <a:endParaRPr lang="en-US" sz="1600" dirty="0"/>
          </a:p>
          <a:p>
            <a:pPr marL="0" indent="0" algn="ctr">
              <a:lnSpc>
                <a:spcPct val="90000"/>
              </a:lnSpc>
              <a:spcBef>
                <a:spcPts val="0"/>
              </a:spcBef>
              <a:spcAft>
                <a:spcPts val="0"/>
              </a:spcAft>
              <a:buNone/>
            </a:pPr>
            <a:r>
              <a:rPr lang="en-US" sz="1200" b="1" dirty="0">
                <a:solidFill>
                  <a:srgbClr val="F7F6F1"/>
                </a:solidFill>
                <a:latin typeface="IBM Plex Sans" pitchFamily="34" charset="0"/>
                <a:ea typeface="IBM Plex Sans" pitchFamily="34" charset="-122"/>
                <a:cs typeface="IBM Plex Sans" pitchFamily="34" charset="-120"/>
              </a:rPr>
              <a:t>(nightly)</a:t>
            </a:r>
            <a:endParaRPr lang="en-US" sz="1600" dirty="0"/>
          </a:p>
        </p:txBody>
      </p:sp>
      <p:sp>
        <p:nvSpPr>
          <p:cNvPr id="11" name="Shape 6"/>
          <p:cNvSpPr/>
          <p:nvPr/>
        </p:nvSpPr>
        <p:spPr>
          <a:xfrm>
            <a:off x="815975" y="3559175"/>
            <a:ext cx="5175250" cy="1578610"/>
          </a:xfrm>
          <a:prstGeom prst="roundRect">
            <a:avLst>
              <a:gd name="adj" fmla="val 6235"/>
            </a:avLst>
          </a:prstGeom>
          <a:solidFill>
            <a:srgbClr val="FFFFFF"/>
          </a:solidFill>
          <a:ln w="6350">
            <a:solidFill>
              <a:srgbClr val="DEDCD3"/>
            </a:solidFill>
            <a:prstDash val="solid"/>
          </a:ln>
        </p:spPr>
        <p:txBody>
          <a:bodyPr/>
          <a:lstStyle/>
          <a:p>
            <a:endParaRPr/>
          </a:p>
        </p:txBody>
      </p:sp>
      <p:sp>
        <p:nvSpPr>
          <p:cNvPr id="12" name="Text 7"/>
          <p:cNvSpPr/>
          <p:nvPr/>
        </p:nvSpPr>
        <p:spPr>
          <a:xfrm>
            <a:off x="1071880" y="3764279"/>
            <a:ext cx="48033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Library-wide mutation score</a:t>
            </a:r>
            <a:endParaRPr lang="en-US" sz="1200" dirty="0"/>
          </a:p>
        </p:txBody>
      </p:sp>
      <p:sp>
        <p:nvSpPr>
          <p:cNvPr id="13" name="Text 8"/>
          <p:cNvSpPr/>
          <p:nvPr/>
        </p:nvSpPr>
        <p:spPr>
          <a:xfrm>
            <a:off x="1071880" y="4028442"/>
            <a:ext cx="4803343"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4213D"/>
                </a:solidFill>
                <a:latin typeface="IBM Plex Sans" pitchFamily="34" charset="0"/>
                <a:ea typeface="IBM Plex Sans" pitchFamily="34" charset="-122"/>
                <a:cs typeface="IBM Plex Sans" pitchFamily="34" charset="-120"/>
              </a:rPr>
              <a:t>57.8% → </a:t>
            </a:r>
            <a:r>
              <a:rPr lang="en-US" sz="3600" b="1" dirty="0">
                <a:solidFill>
                  <a:srgbClr val="2B5FB8"/>
                </a:solidFill>
                <a:latin typeface="IBM Plex Sans" pitchFamily="34" charset="0"/>
                <a:ea typeface="IBM Plex Sans" pitchFamily="34" charset="-122"/>
                <a:cs typeface="IBM Plex Sans" pitchFamily="34" charset="-120"/>
              </a:rPr>
              <a:t>77.4%</a:t>
            </a:r>
            <a:endParaRPr lang="en-US" sz="3600" dirty="0"/>
          </a:p>
        </p:txBody>
      </p:sp>
      <p:sp>
        <p:nvSpPr>
          <p:cNvPr id="14" name="Text 9"/>
          <p:cNvSpPr/>
          <p:nvPr/>
        </p:nvSpPr>
        <p:spPr>
          <a:xfrm>
            <a:off x="1071880" y="4719321"/>
            <a:ext cx="48033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AI-only v1 → hybrid suite v2 (Week 11)</a:t>
            </a:r>
            <a:endParaRPr lang="en-US" sz="1200" dirty="0"/>
          </a:p>
        </p:txBody>
      </p:sp>
      <p:sp>
        <p:nvSpPr>
          <p:cNvPr id="15" name="Shape 10"/>
          <p:cNvSpPr/>
          <p:nvPr/>
        </p:nvSpPr>
        <p:spPr>
          <a:xfrm>
            <a:off x="6200775" y="3559175"/>
            <a:ext cx="5175250" cy="1578610"/>
          </a:xfrm>
          <a:prstGeom prst="roundRect">
            <a:avLst>
              <a:gd name="adj" fmla="val 6235"/>
            </a:avLst>
          </a:prstGeom>
          <a:solidFill>
            <a:srgbClr val="FFFFFF"/>
          </a:solidFill>
          <a:ln w="6350">
            <a:solidFill>
              <a:srgbClr val="DEDCD3"/>
            </a:solidFill>
            <a:prstDash val="solid"/>
          </a:ln>
        </p:spPr>
        <p:txBody>
          <a:bodyPr/>
          <a:lstStyle/>
          <a:p>
            <a:endParaRPr/>
          </a:p>
        </p:txBody>
      </p:sp>
      <p:sp>
        <p:nvSpPr>
          <p:cNvPr id="16" name="Text 11"/>
          <p:cNvSpPr/>
          <p:nvPr/>
        </p:nvSpPr>
        <p:spPr>
          <a:xfrm>
            <a:off x="6456680" y="3764279"/>
            <a:ext cx="48033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Defects fixed</a:t>
            </a:r>
            <a:endParaRPr lang="en-US" sz="1200" dirty="0"/>
          </a:p>
        </p:txBody>
      </p:sp>
      <p:sp>
        <p:nvSpPr>
          <p:cNvPr id="17" name="Text 12"/>
          <p:cNvSpPr/>
          <p:nvPr/>
        </p:nvSpPr>
        <p:spPr>
          <a:xfrm>
            <a:off x="6456680" y="4028442"/>
            <a:ext cx="4803343"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14213D"/>
                </a:solidFill>
                <a:latin typeface="IBM Plex Sans" pitchFamily="34" charset="0"/>
                <a:ea typeface="IBM Plex Sans" pitchFamily="34" charset="-122"/>
                <a:cs typeface="IBM Plex Sans" pitchFamily="34" charset="-120"/>
              </a:rPr>
              <a:t>3 of 8 resolved</a:t>
            </a:r>
            <a:endParaRPr lang="en-US" sz="3600" dirty="0"/>
          </a:p>
        </p:txBody>
      </p:sp>
      <p:sp>
        <p:nvSpPr>
          <p:cNvPr id="18" name="Text 13"/>
          <p:cNvSpPr/>
          <p:nvPr/>
        </p:nvSpPr>
        <p:spPr>
          <a:xfrm>
            <a:off x="6456680" y="4719321"/>
            <a:ext cx="480334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TDD fixes: D1, D6 and D7</a:t>
            </a:r>
            <a:endParaRPr lang="en-US" sz="1200" dirty="0"/>
          </a:p>
        </p:txBody>
      </p:sp>
      <p:sp>
        <p:nvSpPr>
          <p:cNvPr id="19" name="Text 14"/>
          <p:cNvSpPr/>
          <p:nvPr/>
        </p:nvSpPr>
        <p:spPr>
          <a:xfrm>
            <a:off x="812800" y="544576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9480F"/>
                </a:solidFill>
                <a:latin typeface="IBM Plex Sans" pitchFamily="34" charset="0"/>
                <a:ea typeface="IBM Plex Sans" pitchFamily="34" charset="-122"/>
                <a:cs typeface="IBM Plex Sans" pitchFamily="34" charset="-120"/>
              </a:rPr>
              <a:t>Demonstration: a seeded regression is blocked by the coverage gate.</a:t>
            </a:r>
            <a:endParaRPr lang="en-US" sz="1400" dirty="0"/>
          </a:p>
        </p:txBody>
      </p:sp>
      <p:sp>
        <p:nvSpPr>
          <p:cNvPr id="20" name="Text 15"/>
          <p:cNvSpPr/>
          <p:nvPr/>
        </p:nvSpPr>
        <p:spPr>
          <a:xfrm>
            <a:off x="812800" y="6238242"/>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IBM Plex Sans" pitchFamily="34" charset="0"/>
                <a:ea typeface="IBM Plex Sans" pitchFamily="34" charset="-122"/>
                <a:cs typeface="IBM Plex Sans" pitchFamily="34" charset="-120"/>
              </a:rPr>
              <a:t>GitHub Actions: .github/workflows/ci.yml · run 40412867639</a:t>
            </a:r>
            <a:endParaRPr lang="en-US" sz="1200" dirty="0"/>
          </a:p>
        </p:txBody>
      </p:sp>
      <p:sp>
        <p:nvSpPr>
          <p:cNvPr id="21" name="Text 16"/>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FB3F0"/>
                </a:solidFill>
                <a:latin typeface="JetBrains Mono" pitchFamily="49" charset="0"/>
                <a:ea typeface="JetBrains Mono" pitchFamily="49" charset="-122"/>
                <a:cs typeface="JetBrains Mono" pitchFamily="49" charset="-120"/>
              </a:rPr>
              <a:t>WHAT WE LEARNED</a:t>
            </a:r>
            <a:endParaRPr lang="en-US" sz="1200" dirty="0"/>
          </a:p>
        </p:txBody>
      </p:sp>
      <p:sp>
        <p:nvSpPr>
          <p:cNvPr id="3" name="Text 1"/>
          <p:cNvSpPr>
            <a:spLocks noGrp="1"/>
          </p:cNvSpPr>
          <p:nvPr>
            <p:ph type="title"/>
          </p:nvPr>
        </p:nvSpPr>
        <p:spPr>
          <a:xfrm>
            <a:off x="812800" y="1381758"/>
            <a:ext cx="10464800"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6F1"/>
                </a:solidFill>
                <a:latin typeface="IBM Plex Sans" pitchFamily="34" charset="0"/>
                <a:ea typeface="IBM Plex Sans" pitchFamily="34" charset="-122"/>
                <a:cs typeface="IBM Plex Sans" pitchFamily="34" charset="-120"/>
              </a:rPr>
              <a:t>AI tests are a first draft, not ground truth</a:t>
            </a:r>
            <a:endParaRPr lang="en-US" sz="3600" dirty="0"/>
          </a:p>
        </p:txBody>
      </p:sp>
      <p:sp>
        <p:nvSpPr>
          <p:cNvPr id="4" name="Shape 2"/>
          <p:cNvSpPr/>
          <p:nvPr/>
        </p:nvSpPr>
        <p:spPr>
          <a:xfrm>
            <a:off x="812800" y="2249810"/>
            <a:ext cx="3386614" cy="0"/>
          </a:xfrm>
          <a:prstGeom prst="line">
            <a:avLst/>
          </a:prstGeom>
          <a:noFill/>
          <a:ln w="19050">
            <a:solidFill>
              <a:srgbClr val="8FB3F0"/>
            </a:solidFill>
            <a:prstDash val="solid"/>
          </a:ln>
        </p:spPr>
        <p:txBody>
          <a:bodyPr/>
          <a:lstStyle/>
          <a:p>
            <a:endParaRPr/>
          </a:p>
        </p:txBody>
      </p:sp>
      <p:sp>
        <p:nvSpPr>
          <p:cNvPr id="5" name="Text 3"/>
          <p:cNvSpPr/>
          <p:nvPr/>
        </p:nvSpPr>
        <p:spPr>
          <a:xfrm>
            <a:off x="812800" y="2458727"/>
            <a:ext cx="34882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1"/>
                </a:solidFill>
                <a:latin typeface="IBM Plex Sans" pitchFamily="34" charset="0"/>
                <a:ea typeface="IBM Plex Sans" pitchFamily="34" charset="-122"/>
                <a:cs typeface="IBM Plex Sans" pitchFamily="34" charset="-120"/>
              </a:rPr>
              <a:t>Productivity improved</a:t>
            </a:r>
            <a:endParaRPr lang="en-US" sz="1600" dirty="0"/>
          </a:p>
        </p:txBody>
      </p:sp>
      <p:sp>
        <p:nvSpPr>
          <p:cNvPr id="6" name="Text 4"/>
          <p:cNvSpPr/>
          <p:nvPr/>
        </p:nvSpPr>
        <p:spPr>
          <a:xfrm>
            <a:off x="812800" y="2804158"/>
            <a:ext cx="348821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E0"/>
                </a:solidFill>
                <a:latin typeface="IBM Plex Sans" pitchFamily="34" charset="0"/>
                <a:ea typeface="IBM Plex Sans" pitchFamily="34" charset="-122"/>
                <a:cs typeface="IBM Plex Sans" pitchFamily="34" charset="-120"/>
              </a:rPr>
              <a:t>388 tests in minutes, 81.7% statement coverage and 3 confirmed defects on the first run.</a:t>
            </a:r>
            <a:endParaRPr lang="en-US" sz="1400" dirty="0"/>
          </a:p>
        </p:txBody>
      </p:sp>
      <p:sp>
        <p:nvSpPr>
          <p:cNvPr id="7" name="Shape 5"/>
          <p:cNvSpPr/>
          <p:nvPr/>
        </p:nvSpPr>
        <p:spPr>
          <a:xfrm>
            <a:off x="4402614" y="2249810"/>
            <a:ext cx="3386693" cy="0"/>
          </a:xfrm>
          <a:prstGeom prst="line">
            <a:avLst/>
          </a:prstGeom>
          <a:noFill/>
          <a:ln w="19050">
            <a:solidFill>
              <a:srgbClr val="E8A35C"/>
            </a:solidFill>
            <a:prstDash val="solid"/>
          </a:ln>
        </p:spPr>
        <p:txBody>
          <a:bodyPr/>
          <a:lstStyle/>
          <a:p>
            <a:endParaRPr/>
          </a:p>
        </p:txBody>
      </p:sp>
      <p:sp>
        <p:nvSpPr>
          <p:cNvPr id="8" name="Text 6"/>
          <p:cNvSpPr/>
          <p:nvPr/>
        </p:nvSpPr>
        <p:spPr>
          <a:xfrm>
            <a:off x="4402614" y="2458727"/>
            <a:ext cx="34882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1"/>
                </a:solidFill>
                <a:latin typeface="IBM Plex Sans" pitchFamily="34" charset="0"/>
                <a:ea typeface="IBM Plex Sans" pitchFamily="34" charset="-122"/>
                <a:cs typeface="IBM Plex Sans" pitchFamily="34" charset="-120"/>
              </a:rPr>
              <a:t>Coverage masks weak tests</a:t>
            </a:r>
            <a:endParaRPr lang="en-US" sz="1600" dirty="0"/>
          </a:p>
        </p:txBody>
      </p:sp>
      <p:sp>
        <p:nvSpPr>
          <p:cNvPr id="9" name="Text 7"/>
          <p:cNvSpPr/>
          <p:nvPr/>
        </p:nvSpPr>
        <p:spPr>
          <a:xfrm>
            <a:off x="4402614" y="2804158"/>
            <a:ext cx="348829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E0"/>
                </a:solidFill>
                <a:latin typeface="IBM Plex Sans" pitchFamily="34" charset="0"/>
                <a:ea typeface="IBM Plex Sans" pitchFamily="34" charset="-122"/>
                <a:cs typeface="IBM Plex Sans" pitchFamily="34" charset="-120"/>
              </a:rPr>
              <a:t>Mutation testing showed that 42% of planted mutants survived, mostly in the most complex code.</a:t>
            </a:r>
            <a:endParaRPr lang="en-US" sz="1400" dirty="0"/>
          </a:p>
        </p:txBody>
      </p:sp>
      <p:sp>
        <p:nvSpPr>
          <p:cNvPr id="10" name="Shape 8"/>
          <p:cNvSpPr/>
          <p:nvPr/>
        </p:nvSpPr>
        <p:spPr>
          <a:xfrm>
            <a:off x="7992507" y="2249810"/>
            <a:ext cx="3386693" cy="0"/>
          </a:xfrm>
          <a:prstGeom prst="line">
            <a:avLst/>
          </a:prstGeom>
          <a:noFill/>
          <a:ln w="19050">
            <a:solidFill>
              <a:srgbClr val="8FB3F0"/>
            </a:solidFill>
            <a:prstDash val="solid"/>
          </a:ln>
        </p:spPr>
        <p:txBody>
          <a:bodyPr/>
          <a:lstStyle/>
          <a:p>
            <a:endParaRPr/>
          </a:p>
        </p:txBody>
      </p:sp>
      <p:sp>
        <p:nvSpPr>
          <p:cNvPr id="11" name="Text 9"/>
          <p:cNvSpPr/>
          <p:nvPr/>
        </p:nvSpPr>
        <p:spPr>
          <a:xfrm>
            <a:off x="7992507" y="2458727"/>
            <a:ext cx="34882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6F1"/>
                </a:solidFill>
                <a:latin typeface="IBM Plex Sans" pitchFamily="34" charset="0"/>
                <a:ea typeface="IBM Plex Sans" pitchFamily="34" charset="-122"/>
                <a:cs typeface="IBM Plex Sans" pitchFamily="34" charset="-120"/>
              </a:rPr>
              <a:t>Design outweighed volume</a:t>
            </a:r>
            <a:endParaRPr lang="en-US" sz="1600" dirty="0"/>
          </a:p>
        </p:txBody>
      </p:sp>
      <p:sp>
        <p:nvSpPr>
          <p:cNvPr id="12" name="Text 10"/>
          <p:cNvSpPr/>
          <p:nvPr/>
        </p:nvSpPr>
        <p:spPr>
          <a:xfrm>
            <a:off x="7992507" y="2804158"/>
            <a:ext cx="3488294"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BE0"/>
                </a:solidFill>
                <a:latin typeface="IBM Plex Sans" pitchFamily="34" charset="0"/>
                <a:ea typeface="IBM Plex Sans" pitchFamily="34" charset="-122"/>
                <a:cs typeface="IBM Plex Sans" pitchFamily="34" charset="-120"/>
              </a:rPr>
              <a:t>Eleven targeted tests closed 11 representative survivors; Hypothesis found a defect within seconds.</a:t>
            </a:r>
            <a:endParaRPr lang="en-US" sz="1400" dirty="0"/>
          </a:p>
        </p:txBody>
      </p:sp>
      <p:sp>
        <p:nvSpPr>
          <p:cNvPr id="13" name="Text 11"/>
          <p:cNvSpPr/>
          <p:nvPr/>
        </p:nvSpPr>
        <p:spPr>
          <a:xfrm>
            <a:off x="812800" y="3906527"/>
            <a:ext cx="1046480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7F6F1"/>
                </a:solidFill>
                <a:latin typeface="IBM Plex Sans" pitchFamily="34" charset="0"/>
                <a:ea typeface="IBM Plex Sans" pitchFamily="34" charset="-122"/>
                <a:cs typeface="IBM Plex Sans" pitchFamily="34" charset="-120"/>
              </a:rPr>
              <a:t>Our working practice is to use AI for drafting, then apply mutation scores, properties and test-design techniques to judge completeness.</a:t>
            </a:r>
            <a:endParaRPr lang="en-US" sz="16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97B0"/>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7F6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3828374" y="741679"/>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14213D"/>
                </a:solidFill>
                <a:latin typeface="IBM Plex Sans" pitchFamily="34" charset="0"/>
                <a:ea typeface="IBM Plex Sans" pitchFamily="34" charset="-122"/>
                <a:cs typeface="IBM Plex Sans" pitchFamily="34" charset="-120"/>
              </a:rPr>
              <a:t>Questions</a:t>
            </a:r>
            <a:endParaRPr lang="en-US" sz="6000" dirty="0"/>
          </a:p>
        </p:txBody>
      </p:sp>
      <p:sp>
        <p:nvSpPr>
          <p:cNvPr id="3" name="Text 1"/>
          <p:cNvSpPr/>
          <p:nvPr/>
        </p:nvSpPr>
        <p:spPr>
          <a:xfrm>
            <a:off x="3828374" y="192024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2B5FB8"/>
                </a:solidFill>
                <a:latin typeface="JetBrains Mono" pitchFamily="49" charset="0"/>
                <a:ea typeface="JetBrains Mono" pitchFamily="49" charset="-122"/>
                <a:cs typeface="JetBrains Mono" pitchFamily="49" charset="-120"/>
              </a:rPr>
              <a:t>github.com/the-dezeray/tomlkit</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373407540"/>
              </p:ext>
            </p:extLst>
          </p:nvPr>
        </p:nvGraphicFramePr>
        <p:xfrm>
          <a:off x="822960" y="3540760"/>
          <a:ext cx="10556240" cy="2301240"/>
        </p:xfrm>
        <a:graphic>
          <a:graphicData uri="http://schemas.openxmlformats.org/drawingml/2006/table">
            <a:tbl>
              <a:tblPr>
                <a:tableStyleId>{EB9631B5-78F2-41C9-869B-9F39066F8104}</a:tableStyleId>
              </a:tblPr>
              <a:tblGrid>
                <a:gridCol w="3166872">
                  <a:extLst>
                    <a:ext uri="{9D8B030D-6E8A-4147-A177-3AD203B41FA5}">
                      <a16:colId xmlns:a16="http://schemas.microsoft.com/office/drawing/2014/main" val="20000"/>
                    </a:ext>
                  </a:extLst>
                </a:gridCol>
                <a:gridCol w="2322373">
                  <a:extLst>
                    <a:ext uri="{9D8B030D-6E8A-4147-A177-3AD203B41FA5}">
                      <a16:colId xmlns:a16="http://schemas.microsoft.com/office/drawing/2014/main" val="20001"/>
                    </a:ext>
                  </a:extLst>
                </a:gridCol>
                <a:gridCol w="5066995">
                  <a:extLst>
                    <a:ext uri="{9D8B030D-6E8A-4147-A177-3AD203B41FA5}">
                      <a16:colId xmlns:a16="http://schemas.microsoft.com/office/drawing/2014/main" val="20002"/>
                    </a:ext>
                  </a:extLst>
                </a:gridCol>
              </a:tblGrid>
              <a:tr h="383540">
                <a:tc>
                  <a:txBody>
                    <a:bodyPr/>
                    <a:lstStyle/>
                    <a:p>
                      <a:pPr marL="0" indent="0">
                        <a:lnSpc>
                          <a:spcPts val="1960"/>
                        </a:lnSpc>
                        <a:buNone/>
                      </a:pPr>
                      <a:r>
                        <a:rPr lang="en-US" sz="1400" b="1" dirty="0">
                          <a:solidFill>
                            <a:srgbClr val="14213D"/>
                          </a:solidFill>
                        </a:rPr>
                        <a:t>Team member</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b="1" dirty="0">
                          <a:solidFill>
                            <a:srgbClr val="14213D"/>
                          </a:solidFill>
                        </a:rPr>
                        <a:t>Presented</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b="1" dirty="0">
                          <a:solidFill>
                            <a:srgbClr val="14213D"/>
                          </a:solidFill>
                        </a:rPr>
                        <a:t>Role</a:t>
                      </a:r>
                      <a:endParaRPr lang="en-US" sz="1400" dirty="0">
                        <a:latin typeface="IBM Plex Sans" charset="0"/>
                        <a:ea typeface="IBM Plex Sans" charset="0"/>
                        <a:cs typeface="IBM Plex Sans" charset="0"/>
                      </a:endParaRPr>
                    </a:p>
                  </a:txBody>
                  <a:tcPr marL="62230" marR="62230" marT="62230" marB="62230"/>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rPr>
                        <a:t>Motheo Mmolawa</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dirty="0">
                          <a:solidFill>
                            <a:srgbClr val="14213D"/>
                          </a:solidFill>
                        </a:rPr>
                        <a:t>Week 10</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dirty="0">
                          <a:solidFill>
                            <a:srgbClr val="14213D"/>
                          </a:solidFill>
                        </a:rPr>
                        <a:t>Test lead and coordinator</a:t>
                      </a:r>
                      <a:endParaRPr lang="en-US" sz="1400" dirty="0">
                        <a:latin typeface="IBM Plex Sans" charset="0"/>
                        <a:ea typeface="IBM Plex Sans" charset="0"/>
                        <a:cs typeface="IBM Plex Sans" charset="0"/>
                      </a:endParaRPr>
                    </a:p>
                  </a:txBody>
                  <a:tcPr marL="62230" marR="62230" marT="62230" marB="62230"/>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rPr>
                        <a:t>Desiree Chingwaru</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dirty="0">
                          <a:solidFill>
                            <a:srgbClr val="14213D"/>
                          </a:solidFill>
                        </a:rPr>
                        <a:t>Week 12</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dirty="0">
                          <a:solidFill>
                            <a:srgbClr val="14213D"/>
                          </a:solidFill>
                        </a:rPr>
                        <a:t>Automation and CI/CD engineer</a:t>
                      </a:r>
                      <a:endParaRPr lang="en-US" sz="1400" dirty="0">
                        <a:latin typeface="IBM Plex Sans" charset="0"/>
                        <a:ea typeface="IBM Plex Sans" charset="0"/>
                        <a:cs typeface="IBM Plex Sans" charset="0"/>
                      </a:endParaRPr>
                    </a:p>
                  </a:txBody>
                  <a:tcPr marL="62230" marR="62230" marT="62230" marB="62230"/>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rPr>
                        <a:t>Pako J. Motsumi</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dirty="0">
                          <a:solidFill>
                            <a:srgbClr val="14213D"/>
                          </a:solidFill>
                        </a:rPr>
                        <a:t>Week 6</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dirty="0">
                          <a:solidFill>
                            <a:srgbClr val="14213D"/>
                          </a:solidFill>
                        </a:rPr>
                        <a:t>AI test engineer</a:t>
                      </a:r>
                      <a:endParaRPr lang="en-US" sz="1400" dirty="0">
                        <a:latin typeface="IBM Plex Sans" charset="0"/>
                        <a:ea typeface="IBM Plex Sans" charset="0"/>
                        <a:cs typeface="IBM Plex Sans" charset="0"/>
                      </a:endParaRPr>
                    </a:p>
                  </a:txBody>
                  <a:tcPr marL="62230" marR="62230" marT="62230" marB="62230"/>
                </a:tc>
                <a:extLst>
                  <a:ext uri="{0D108BD9-81ED-4DB2-BD59-A6C34878D82A}">
                    <a16:rowId xmlns:a16="http://schemas.microsoft.com/office/drawing/2014/main" val="10003"/>
                  </a:ext>
                </a:extLst>
              </a:tr>
              <a:tr h="383540">
                <a:tc>
                  <a:txBody>
                    <a:bodyPr/>
                    <a:lstStyle/>
                    <a:p>
                      <a:pPr marL="0" indent="0">
                        <a:lnSpc>
                          <a:spcPts val="1960"/>
                        </a:lnSpc>
                        <a:buNone/>
                      </a:pPr>
                      <a:r>
                        <a:rPr lang="en-US" sz="1400" dirty="0">
                          <a:solidFill>
                            <a:srgbClr val="14213D"/>
                          </a:solidFill>
                        </a:rPr>
                        <a:t>Isago Isaacs</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dirty="0">
                          <a:solidFill>
                            <a:srgbClr val="14213D"/>
                          </a:solidFill>
                        </a:rPr>
                        <a:t>Week 9</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dirty="0">
                          <a:solidFill>
                            <a:srgbClr val="14213D"/>
                          </a:solidFill>
                        </a:rPr>
                        <a:t>Specialist track officer</a:t>
                      </a:r>
                      <a:endParaRPr lang="en-US" sz="1400" dirty="0">
                        <a:latin typeface="IBM Plex Sans" charset="0"/>
                        <a:ea typeface="IBM Plex Sans" charset="0"/>
                        <a:cs typeface="IBM Plex Sans" charset="0"/>
                      </a:endParaRPr>
                    </a:p>
                  </a:txBody>
                  <a:tcPr marL="62230" marR="62230" marT="62230" marB="62230"/>
                </a:tc>
                <a:extLst>
                  <a:ext uri="{0D108BD9-81ED-4DB2-BD59-A6C34878D82A}">
                    <a16:rowId xmlns:a16="http://schemas.microsoft.com/office/drawing/2014/main" val="10004"/>
                  </a:ext>
                </a:extLst>
              </a:tr>
              <a:tr h="383540">
                <a:tc>
                  <a:txBody>
                    <a:bodyPr/>
                    <a:lstStyle/>
                    <a:p>
                      <a:pPr marL="0" indent="0">
                        <a:lnSpc>
                          <a:spcPts val="1960"/>
                        </a:lnSpc>
                        <a:buNone/>
                      </a:pPr>
                      <a:r>
                        <a:rPr lang="en-US" sz="1400" dirty="0">
                          <a:solidFill>
                            <a:srgbClr val="14213D"/>
                          </a:solidFill>
                        </a:rPr>
                        <a:t>Lethabo P. Machailo</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dirty="0">
                          <a:solidFill>
                            <a:srgbClr val="14213D"/>
                          </a:solidFill>
                        </a:rPr>
                        <a:t>Week 12</a:t>
                      </a:r>
                      <a:endParaRPr lang="en-US" sz="1400" dirty="0">
                        <a:latin typeface="IBM Plex Sans" charset="0"/>
                        <a:ea typeface="IBM Plex Sans" charset="0"/>
                        <a:cs typeface="IBM Plex Sans" charset="0"/>
                      </a:endParaRPr>
                    </a:p>
                  </a:txBody>
                  <a:tcPr marL="62230" marR="62230" marT="62230" marB="62230"/>
                </a:tc>
                <a:tc>
                  <a:txBody>
                    <a:bodyPr/>
                    <a:lstStyle/>
                    <a:p>
                      <a:pPr marL="0" indent="0">
                        <a:lnSpc>
                          <a:spcPts val="1960"/>
                        </a:lnSpc>
                        <a:buNone/>
                      </a:pPr>
                      <a:r>
                        <a:rPr lang="en-US" sz="1400" dirty="0">
                          <a:solidFill>
                            <a:srgbClr val="14213D"/>
                          </a:solidFill>
                        </a:rPr>
                        <a:t>Documentation and report lead</a:t>
                      </a:r>
                      <a:endParaRPr lang="en-US" sz="1400" dirty="0">
                        <a:latin typeface="IBM Plex Sans" charset="0"/>
                        <a:ea typeface="IBM Plex Sans" charset="0"/>
                        <a:cs typeface="IBM Plex Sans" charset="0"/>
                      </a:endParaRPr>
                    </a:p>
                  </a:txBody>
                  <a:tcPr marL="62230" marR="62230" marT="62230" marB="62230"/>
                </a:tc>
                <a:extLst>
                  <a:ext uri="{0D108BD9-81ED-4DB2-BD59-A6C34878D82A}">
                    <a16:rowId xmlns:a16="http://schemas.microsoft.com/office/drawing/2014/main" val="10005"/>
                  </a:ext>
                </a:extLst>
              </a:tr>
            </a:tbl>
          </a:graphicData>
        </a:graphic>
      </p:graphicFrame>
      <p:sp>
        <p:nvSpPr>
          <p:cNvPr id="5" name="Text 2"/>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80"/>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theme/theme1.xml><?xml version="1.0" encoding="utf-8"?>
<a:theme xmlns:a="http://schemas.openxmlformats.org/drawingml/2006/main" name="COMP 441 Group A – AI-Augmented Testing of TOML Kit">
  <a:themeElements>
    <a:clrScheme name="COMP 441 Group A – AI-Augmented Testing of TOML Kit">
      <a:dk1>
        <a:srgbClr val="14213D"/>
      </a:dk1>
      <a:lt1>
        <a:srgbClr val="F7F6F1"/>
      </a:lt1>
      <a:dk2>
        <a:srgbClr val="4D566A"/>
      </a:dk2>
      <a:lt2>
        <a:srgbClr val="E0E1DF"/>
      </a:lt2>
      <a:accent1>
        <a:srgbClr val="2B5FB8"/>
      </a:accent1>
      <a:accent2>
        <a:srgbClr val="8FB3F0"/>
      </a:accent2>
      <a:accent3>
        <a:srgbClr val="5B6B8A"/>
      </a:accent3>
      <a:accent4>
        <a:srgbClr val="F6D8C6"/>
      </a:accent4>
      <a:accent5>
        <a:srgbClr val="A9480F"/>
      </a:accent5>
      <a:accent6>
        <a:srgbClr val="7A2E06"/>
      </a:accent6>
      <a:hlink>
        <a:srgbClr val="0563C1"/>
      </a:hlink>
      <a:folHlink>
        <a:srgbClr val="954F72"/>
      </a:folHlink>
    </a:clrScheme>
    <a:fontScheme name="COMP 441 Group A – AI-Augmented Testing of TOML Ki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TotalTime>
  <Words>3526</Words>
  <Application>Microsoft Office PowerPoint</Application>
  <PresentationFormat>Widescreen</PresentationFormat>
  <Paragraphs>377</Paragraphs>
  <Slides>22</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JetBrains Mono</vt:lpstr>
      <vt:lpstr>IBM Plex Sans</vt:lpstr>
      <vt:lpstr>COMP 441 Group A – AI-Augmented Testing of TOML Kit</vt:lpstr>
      <vt:lpstr>PowerPoint Presentation</vt:lpstr>
      <vt:lpstr>We used an AI to draft an initial test suite, then quantified its limitations</vt:lpstr>
      <vt:lpstr>We treated the AI-generated tests as a first draft and measured their limitations</vt:lpstr>
      <vt:lpstr>The AI suite covered most of the code but under-tested its most complex paths</vt:lpstr>
      <vt:lpstr>One in six tests used assertions too weak to detect incorrect behaviour</vt:lpstr>
      <vt:lpstr>Static analysis found style issues; tests and symbolic execution found the defects</vt:lpstr>
      <vt:lpstr>PowerPoint Presentation</vt:lpstr>
      <vt:lpstr>PowerPoint Presentation</vt:lpstr>
      <vt:lpstr>PowerPoint Presentation</vt:lpstr>
      <vt:lpstr>The baseline suite relied on representative examples rather than designed inputs</vt:lpstr>
      <vt:lpstr>PowerPoint Presentation</vt:lpstr>
      <vt:lpstr>Hypothesis identified a defect that no example-based test had exercised</vt:lpstr>
      <vt:lpstr>Risk-based ordering detects regressions approximately three times sooner</vt:lpstr>
      <vt:lpstr>PowerPoint Presentation</vt:lpstr>
      <vt:lpstr>Eight confirmed defects in 1,058 passing tests</vt:lpstr>
      <vt:lpstr>We corrected three defects test-first, with one commit per red–green–refactor step</vt:lpstr>
      <vt:lpstr>Testing tomlkit through realistic developer workflows</vt:lpstr>
      <vt:lpstr>The hybrid suite meets the coverage and mutation targets</vt:lpstr>
      <vt:lpstr>A single CI pipeline runs the hybrid suite</vt:lpstr>
      <vt:lpstr>The final suite satisfies every blocking gate</vt:lpstr>
      <vt:lpstr>AI tests are a first draft, not ground truth</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441 Group A – AI-Augmented Testing of TOML Kit</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Desiree Chingwaru</cp:lastModifiedBy>
  <cp:revision>3</cp:revision>
  <dcterms:created xsi:type="dcterms:W3CDTF">2026-10-26T20:50:25Z</dcterms:created>
  <dcterms:modified xsi:type="dcterms:W3CDTF">2026-10-27T01:33:31Z</dcterms:modified>
</cp:coreProperties>
</file>