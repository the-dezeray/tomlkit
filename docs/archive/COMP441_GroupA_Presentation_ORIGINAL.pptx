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JetBrains Mono" panose="02000009000000000000" pitchFamily="49" charset="0"/>
      <p:regular r:id="rId24"/>
      <p:bold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[opening presenter, e.g. Motheo as Test Lead]. About 30 seconds. Introduce the team and the question we set out to answer: are AI-generated tests good enough, and if not, where exactly do they fall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[opening presenter]. About 40 seconds. TOML Kit is what Poetry uses to edit pyproject.toml without scrambling it. It is small enough to mutation-test, but its editing code is genuinely complex. The maintainers' own 1,058 tests gave us an honest "before AI"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[opening presenter]. About 40 seconds. Walk the pipeline left to right. The key design choice: the AI never saw the maintainers' tests, so its suite is a true AI-only baseline, and it was frozen before mutation testing so the comparison is fair. Hand over to Pako for Week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Pako (Week 6). About 50 seconds. The AI matched the maintainers on simple, documented functions, and even beat them on api.py. It fell behind on the private editing machinery. Prompts asked for the public API, so the AI tested what it could see. Mention that 3 of its 8 first-run failures were real library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Pako (Week 6). About 40 seconds. Coverage says a line ran; it does not say anything was checked. 40 negative tests only asserted that a ParseError happened, while the parser actually raises 8 different subclasses. That predicted exactly where mutation testing would find survivors.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Pako (Week 6). About 45 seconds. Close the Week 6 section on the comparison: deterministic tools are fast and repeatable but only see patterns; the LLM read intent, and CrossHair searched the input space systematically. The RTM is the thread that later weeks pick up: the three failing requirements became the TDD fixes in Week 8. Hand over to the Week 7 presenter.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[Week 7 presenter]. About 50 seconds. Mutation testing plants small bugs, like flipping &lt; to &lt;=, and checks whether any test fails. A surviving mutant is a bug our tests would let through. The pattern matches Week 6: the editing machinery in container.py and items.py is where the AI suite is weakest. Note for the group: Lethabo's later re-run on the Week 8 code gave 57.8% of 5,389. Agree which figure to present, ideally the pre-TDD baseline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[Week 7 presenter]. About 50 seconds. Pick one example to tell in detail; the timezone one lands well: the AI used +05:30 and -08:00. A mutant that read the hour from the wrong position still produced 5 and 8, so nothing failed. +10:00 kills it immediately. Mention that not every survivor is killable: about 15% change nothing observable. Hand over to the property-based testing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[Week 7 presenter] (property-based testing was delivered in Week 7). About 50 seconds. This is the Track D deep dive. The key point is shrinking: Hypothesis didn't just fail, it reduced the failing input to the smallest possible case, a single \r. That made the defect obvious to fix in Week 8. Also mention CrossHair, a symbolic-execution tool, independently produced a counterexample for D1.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[Week 7 presenter]. About 45 seconds. APFD measures how early an ordering catches faults; 1.0 is perfect. Because we built the order without looking at mutation results, the mutants are a fair test of it. In CI with stop-at-first-failure this means regressions surface after seconds, not after the whole suite. Note: Lethabo's re-run gives APFD 0.772 but maps only 149 of 388 tests; agree on one figure. Hand over to the Week 8 presenter.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[Week 8 presenter], as the lead-in to the TDD fixes. About 45 seconds. Point out the spread of techniques: no single method found everything. AI tests found three, the LLM review found two the linters missed, Hypothesis one, mutation analysis one, and the Week 10 mutation run added M1. Three are already fixed test-first. M1 is latent: only the internal base class is affected, not documents or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[Week 8 presenter]. About 45 seconds. Each cycle has a commit with only the failing test, a commit with the smallest fix, and a refactor commit with no behaviour change; the commit history is the evidence. The BDD scenario is acceptance level: a real file on disk, edited through the public API. Be ready to explain red-green-refactor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[Week 9 presenter] (Isago committed this work). About 50 seconds. Note for the group before presenting: the brief asks for a 45–60 minute exploratory session, and the logged session ran 13:12 to 13:16. It also asks for a load test with 20–50 concurrent users (Locust, JMeter or Gatling), while ours is a single-process benchmark. Either redo both or be ready to explain the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Motheo (Week 10). About 50 seconds. Walk the four tiles left to right, then the bottom note. Before presenting, the group should reconcile two numbers with reports/week10/dashboard.csv: (1) the dashboard's coverage (89.4% / 84.2%) was measured on the maintainers' tests/ folder only, while the brief asks for the final hybrid suite; the figures here are all seven test folders. (2) The dashboard counts 8 defects and 1.92 per KLOC because it leaves out D4 (end-of-file marker in an error message, recorded in the Week 6 report); with D4 and M1 the count is 9, giving 2.16 per KLOC. M1 only affects the internal _CustomDict base class: documents, tables and inline tables all override copy(), so | works for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[Weeks 11–12 presenter] (CI/CD sits with Desiree’s role), then the live CI/CD demo (about 2 minutes, budget it). Everything in brackets is a placeholder to fill once the Week 11 mutation v2 run and the CI workflow exist. Suggested demo: open a PR that removes one of the K-tests, show the mutation gate turning red, revert, show it green. Rehearse with a cached run in case the network is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[closing presenter]. About 40 seconds. Three takeaways, then the rule we would follow next time. If time is short, this slide alone summarises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[closing presenter]. Open the floor. Likely questions and who answers: How do you know the AI suite is AI-only? (Pako, Week 6: prompt log; the AI never saw tests/.) Are surviving mutants all real gaps? (Week 7 presenter: about 15% are equivalent.) Why a risk heuristic, not ML? (Week 7 presenter: no reliable defect labels in the history.) What would you do with more time? (Closing presenter: drive the hybrid suite past 70% and fix D2, D3, D5, D8 test-first.)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64"/>
            <a:ext cx="10160000" cy="100584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641604"/>
            <a:ext cx="10566400" cy="3403596"/>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64"/>
            <a:ext cx="10160000" cy="100584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641604"/>
            <a:ext cx="10566400" cy="3403596"/>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spc="100" kern="0" dirty="0">
                <a:solidFill>
                  <a:srgbClr val="8FB3F0"/>
                </a:solidFill>
                <a:latin typeface="JetBrains Mono" pitchFamily="49" charset="0"/>
                <a:ea typeface="JetBrains Mono" pitchFamily="49" charset="-122"/>
                <a:cs typeface="JetBrains Mono" pitchFamily="49" charset="-120"/>
              </a:rPr>
              <a:t>COMP 441 · GROUP A · TRACK D</a:t>
            </a:r>
            <a:endParaRPr lang="en-US" sz="1600" dirty="0"/>
          </a:p>
        </p:txBody>
      </p:sp>
      <p:sp>
        <p:nvSpPr>
          <p:cNvPr id="3" name="Text 1"/>
          <p:cNvSpPr/>
          <p:nvPr>
            <p:ph type="title"/>
          </p:nvPr>
        </p:nvSpPr>
        <p:spPr>
          <a:xfrm>
            <a:off x="812800" y="199390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6F1"/>
                </a:solidFill>
                <a:latin typeface="IBM Plex Sans" pitchFamily="34" charset="0"/>
                <a:ea typeface="IBM Plex Sans" pitchFamily="34" charset="-122"/>
                <a:cs typeface="IBM Plex Sans" pitchFamily="34" charset="-120"/>
              </a:rPr>
              <a:t>Can AI write</a:t>
            </a:r>
            <a:endParaRPr lang="en-US" sz="6000" dirty="0"/>
          </a:p>
          <a:p>
            <a:pPr algn="l" indent="0" marL="0">
              <a:lnSpc>
                <a:spcPts val="6300"/>
              </a:lnSpc>
              <a:buNone/>
            </a:pPr>
            <a:r>
              <a:rPr lang="en-US" sz="6000" b="1" i="0" dirty="0">
                <a:solidFill>
                  <a:srgbClr val="F7F6F1"/>
                </a:solidFill>
                <a:latin typeface="IBM Plex Sans" pitchFamily="34" charset="0"/>
                <a:ea typeface="IBM Plex Sans" pitchFamily="34" charset="-122"/>
                <a:cs typeface="IBM Plex Sans" pitchFamily="34" charset="-120"/>
              </a:rPr>
              <a:t>our tests?</a:t>
            </a:r>
            <a:endParaRPr lang="en-US" sz="6000" dirty="0"/>
          </a:p>
        </p:txBody>
      </p:sp>
      <p:sp>
        <p:nvSpPr>
          <p:cNvPr id="4" name="Text 2"/>
          <p:cNvSpPr/>
          <p:nvPr/>
        </p:nvSpPr>
        <p:spPr>
          <a:xfrm>
            <a:off x="812800" y="3848100"/>
            <a:ext cx="850265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CBE0"/>
                </a:solidFill>
                <a:latin typeface="IBM Plex Sans" pitchFamily="34" charset="0"/>
                <a:ea typeface="IBM Plex Sans" pitchFamily="34" charset="-122"/>
                <a:cs typeface="IBM Plex Sans" pitchFamily="34" charset="-120"/>
              </a:rPr>
              <a:t>AI-augmented testing of TOML Kit, a style-preserving TOML library for Python</a:t>
            </a:r>
            <a:endParaRPr lang="en-US" sz="2200" dirty="0"/>
          </a:p>
        </p:txBody>
      </p:sp>
      <p:sp>
        <p:nvSpPr>
          <p:cNvPr id="5" name="Text 3"/>
          <p:cNvSpPr/>
          <p:nvPr/>
        </p:nvSpPr>
        <p:spPr>
          <a:xfrm>
            <a:off x="812800" y="547116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1"/>
                </a:solidFill>
                <a:latin typeface="IBM Plex Sans" pitchFamily="34" charset="0"/>
                <a:ea typeface="IBM Plex Sans" pitchFamily="34" charset="-122"/>
                <a:cs typeface="IBM Plex Sans" pitchFamily="34" charset="-120"/>
              </a:rPr>
              <a:t>Motheo Mmolawa · Desiree Chingwaru · Pako J. Motsumi · Isago Isaacs · Lethabo P. Machailo</a:t>
            </a:r>
            <a:endParaRPr lang="en-US" sz="1600" dirty="0"/>
          </a:p>
        </p:txBody>
      </p:sp>
      <p:sp>
        <p:nvSpPr>
          <p:cNvPr id="6" name="Text 4"/>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7B0"/>
                </a:solidFill>
                <a:latin typeface="IBM Plex Sans" pitchFamily="34" charset="0"/>
                <a:ea typeface="IBM Plex Sans" pitchFamily="34" charset="-122"/>
                <a:cs typeface="IBM Plex Sans" pitchFamily="34" charset="-120"/>
              </a:rPr>
              <a:t>Module coordinator: Dr Kabo Nkabiti · 17 November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B8"/>
                </a:solidFill>
                <a:latin typeface="JetBrains Mono" pitchFamily="49" charset="0"/>
                <a:ea typeface="JetBrains Mono" pitchFamily="49" charset="-122"/>
                <a:cs typeface="JetBrains Mono" pitchFamily="49" charset="-120"/>
              </a:rPr>
              <a:t>THE PROJECT</a:t>
            </a:r>
            <a:endParaRPr lang="en-US" sz="1200" dirty="0"/>
          </a:p>
        </p:txBody>
      </p:sp>
      <p:sp>
        <p:nvSpPr>
          <p:cNvPr id="3" name="Text 1"/>
          <p:cNvSpPr/>
          <p:nvPr>
            <p:ph type="title"/>
          </p:nvPr>
        </p:nvSpPr>
        <p:spPr>
          <a:xfrm>
            <a:off x="812800" y="1381760"/>
            <a:ext cx="9810750"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We let an AI write the first test suite for a real library, then measured what it missed</a:t>
            </a:r>
            <a:endParaRPr lang="en-US" sz="3600" dirty="0"/>
          </a:p>
        </p:txBody>
      </p:sp>
      <p:sp>
        <p:nvSpPr>
          <p:cNvPr id="4" name="Shape 2"/>
          <p:cNvSpPr/>
          <p:nvPr/>
        </p:nvSpPr>
        <p:spPr>
          <a:xfrm>
            <a:off x="815975" y="2746375"/>
            <a:ext cx="3380264" cy="2051050"/>
          </a:xfrm>
          <a:prstGeom prst="roundRect">
            <a:avLst>
              <a:gd name="adj" fmla="val 4799"/>
            </a:avLst>
          </a:prstGeom>
          <a:solidFill>
            <a:srgbClr val="FFFFFF"/>
          </a:solidFill>
          <a:ln w="6350">
            <a:solidFill>
              <a:srgbClr val="DEDCD3"/>
            </a:solidFill>
            <a:prstDash val="solid"/>
          </a:ln>
        </p:spPr>
      </p:sp>
      <p:sp>
        <p:nvSpPr>
          <p:cNvPr id="5" name="Text 3"/>
          <p:cNvSpPr/>
          <p:nvPr/>
        </p:nvSpPr>
        <p:spPr>
          <a:xfrm>
            <a:off x="1071880" y="3002280"/>
            <a:ext cx="2954507"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4213D"/>
                </a:solidFill>
                <a:latin typeface="IBM Plex Sans" pitchFamily="34" charset="0"/>
                <a:ea typeface="IBM Plex Sans" pitchFamily="34" charset="-122"/>
                <a:cs typeface="IBM Plex Sans" pitchFamily="34" charset="-120"/>
              </a:rPr>
              <a:t>TOML Kit</a:t>
            </a:r>
            <a:endParaRPr lang="en-US" sz="3600" dirty="0"/>
          </a:p>
        </p:txBody>
      </p:sp>
      <p:sp>
        <p:nvSpPr>
          <p:cNvPr id="6" name="Text 4"/>
          <p:cNvSpPr/>
          <p:nvPr/>
        </p:nvSpPr>
        <p:spPr>
          <a:xfrm>
            <a:off x="1071880" y="3718560"/>
            <a:ext cx="2954507"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Reads and edits TOML config files while keeping every comment and space</a:t>
            </a:r>
            <a:endParaRPr lang="en-US" sz="1600" dirty="0"/>
          </a:p>
        </p:txBody>
      </p:sp>
      <p:sp>
        <p:nvSpPr>
          <p:cNvPr id="7" name="Shape 5"/>
          <p:cNvSpPr/>
          <p:nvPr/>
        </p:nvSpPr>
        <p:spPr>
          <a:xfrm>
            <a:off x="4405789" y="2746375"/>
            <a:ext cx="3380343" cy="2051050"/>
          </a:xfrm>
          <a:prstGeom prst="roundRect">
            <a:avLst>
              <a:gd name="adj" fmla="val 4799"/>
            </a:avLst>
          </a:prstGeom>
          <a:solidFill>
            <a:srgbClr val="FFFFFF"/>
          </a:solidFill>
          <a:ln w="6350">
            <a:solidFill>
              <a:srgbClr val="DEDCD3"/>
            </a:solidFill>
            <a:prstDash val="solid"/>
          </a:ln>
        </p:spPr>
      </p:sp>
      <p:sp>
        <p:nvSpPr>
          <p:cNvPr id="8" name="Text 6"/>
          <p:cNvSpPr/>
          <p:nvPr/>
        </p:nvSpPr>
        <p:spPr>
          <a:xfrm>
            <a:off x="4661694" y="3002280"/>
            <a:ext cx="2954589"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4213D"/>
                </a:solidFill>
                <a:latin typeface="IBM Plex Sans" pitchFamily="34" charset="0"/>
                <a:ea typeface="IBM Plex Sans" pitchFamily="34" charset="-122"/>
                <a:cs typeface="IBM Plex Sans" pitchFamily="34" charset="-120"/>
              </a:rPr>
              <a:t>3,970</a:t>
            </a:r>
            <a:endParaRPr lang="en-US" sz="3600" dirty="0"/>
          </a:p>
        </p:txBody>
      </p:sp>
      <p:sp>
        <p:nvSpPr>
          <p:cNvPr id="9" name="Text 7"/>
          <p:cNvSpPr/>
          <p:nvPr/>
        </p:nvSpPr>
        <p:spPr>
          <a:xfrm>
            <a:off x="4661694" y="3718560"/>
            <a:ext cx="2954589"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lines of Python source, plus 1,058 tests written by the maintainers</a:t>
            </a:r>
            <a:endParaRPr lang="en-US" sz="1600" dirty="0"/>
          </a:p>
        </p:txBody>
      </p:sp>
      <p:sp>
        <p:nvSpPr>
          <p:cNvPr id="10" name="Shape 8"/>
          <p:cNvSpPr/>
          <p:nvPr/>
        </p:nvSpPr>
        <p:spPr>
          <a:xfrm>
            <a:off x="7995682" y="2746375"/>
            <a:ext cx="3380343" cy="2051050"/>
          </a:xfrm>
          <a:prstGeom prst="roundRect">
            <a:avLst>
              <a:gd name="adj" fmla="val 4799"/>
            </a:avLst>
          </a:prstGeom>
          <a:solidFill>
            <a:srgbClr val="FFFFFF"/>
          </a:solidFill>
          <a:ln w="6350">
            <a:solidFill>
              <a:srgbClr val="DEDCD3"/>
            </a:solidFill>
            <a:prstDash val="solid"/>
          </a:ln>
        </p:spPr>
      </p:sp>
      <p:sp>
        <p:nvSpPr>
          <p:cNvPr id="11" name="Text 9"/>
          <p:cNvSpPr/>
          <p:nvPr/>
        </p:nvSpPr>
        <p:spPr>
          <a:xfrm>
            <a:off x="8251587" y="3002280"/>
            <a:ext cx="2954589"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4213D"/>
                </a:solidFill>
                <a:latin typeface="IBM Plex Sans" pitchFamily="34" charset="0"/>
                <a:ea typeface="IBM Plex Sans" pitchFamily="34" charset="-122"/>
                <a:cs typeface="IBM Plex Sans" pitchFamily="34" charset="-120"/>
              </a:rPr>
              <a:t>Track D</a:t>
            </a:r>
            <a:endParaRPr lang="en-US" sz="3600" dirty="0"/>
          </a:p>
        </p:txBody>
      </p:sp>
      <p:sp>
        <p:nvSpPr>
          <p:cNvPr id="12" name="Text 10"/>
          <p:cNvSpPr/>
          <p:nvPr/>
        </p:nvSpPr>
        <p:spPr>
          <a:xfrm>
            <a:off x="8251587" y="3718560"/>
            <a:ext cx="2954589"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Developer library: property-based testing with Hypothesis</a:t>
            </a:r>
            <a:endParaRPr lang="en-US" sz="1600" dirty="0"/>
          </a:p>
        </p:txBody>
      </p:sp>
      <p:sp>
        <p:nvSpPr>
          <p:cNvPr id="13" name="Text 11"/>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Repo: the-dezeray/tomlkit (fork of python-poetry/tomlkit) · base commit 8c959b5</a:t>
            </a:r>
            <a:endParaRPr lang="en-US" sz="1200" dirty="0"/>
          </a:p>
        </p:txBody>
      </p:sp>
      <p:sp>
        <p:nvSpPr>
          <p:cNvPr id="14" name="Text 12"/>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B8"/>
                </a:solidFill>
                <a:latin typeface="JetBrains Mono" pitchFamily="49" charset="0"/>
                <a:ea typeface="JetBrains Mono" pitchFamily="49" charset="-122"/>
                <a:cs typeface="JetBrains Mono" pitchFamily="49" charset="-120"/>
              </a:rPr>
              <a:t>OUR APPROACH</a:t>
            </a:r>
            <a:endParaRPr lang="en-US" sz="1200" dirty="0"/>
          </a:p>
        </p:txBody>
      </p:sp>
      <p:sp>
        <p:nvSpPr>
          <p:cNvPr id="3" name="Text 1"/>
          <p:cNvSpPr/>
          <p:nvPr>
            <p:ph type="title"/>
          </p:nvPr>
        </p:nvSpPr>
        <p:spPr>
          <a:xfrm>
            <a:off x="812800" y="1381761"/>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Treat AI tests as a first draft, then prove where they fail</a:t>
            </a:r>
            <a:endParaRPr lang="en-US" sz="3600" dirty="0"/>
          </a:p>
        </p:txBody>
      </p:sp>
      <p:sp>
        <p:nvSpPr>
          <p:cNvPr id="4" name="Shape 2"/>
          <p:cNvSpPr/>
          <p:nvPr/>
        </p:nvSpPr>
        <p:spPr>
          <a:xfrm>
            <a:off x="812800" y="2743200"/>
            <a:ext cx="2023824" cy="1671320"/>
          </a:xfrm>
          <a:prstGeom prst="roundRect">
            <a:avLst>
              <a:gd name="adj" fmla="val 6079"/>
            </a:avLst>
          </a:prstGeom>
          <a:solidFill>
            <a:srgbClr val="14213D"/>
          </a:solidFill>
          <a:ln/>
        </p:spPr>
      </p:sp>
      <p:sp>
        <p:nvSpPr>
          <p:cNvPr id="5" name="Text 3"/>
          <p:cNvSpPr/>
          <p:nvPr/>
        </p:nvSpPr>
        <p:spPr>
          <a:xfrm>
            <a:off x="1016000" y="2946400"/>
            <a:ext cx="16682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B3F0"/>
                </a:solidFill>
                <a:latin typeface="JetBrains Mono" pitchFamily="49" charset="0"/>
                <a:ea typeface="JetBrains Mono" pitchFamily="49" charset="-122"/>
                <a:cs typeface="JetBrains Mono" pitchFamily="49" charset="-120"/>
              </a:rPr>
              <a:t>WEEK 6</a:t>
            </a:r>
            <a:endParaRPr lang="en-US" sz="1200" dirty="0"/>
          </a:p>
        </p:txBody>
      </p:sp>
      <p:sp>
        <p:nvSpPr>
          <p:cNvPr id="6" name="Text 4"/>
          <p:cNvSpPr/>
          <p:nvPr/>
        </p:nvSpPr>
        <p:spPr>
          <a:xfrm>
            <a:off x="1016000" y="3235961"/>
            <a:ext cx="1668224"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IBM Plex Sans" pitchFamily="34" charset="0"/>
                <a:ea typeface="IBM Plex Sans" pitchFamily="34" charset="-122"/>
                <a:cs typeface="IBM Plex Sans" pitchFamily="34" charset="-120"/>
              </a:rPr>
              <a:t>AI writes the baseline</a:t>
            </a:r>
            <a:endParaRPr lang="en-US" sz="1600" dirty="0"/>
          </a:p>
        </p:txBody>
      </p:sp>
      <p:sp>
        <p:nvSpPr>
          <p:cNvPr id="7" name="Text 5"/>
          <p:cNvSpPr/>
          <p:nvPr/>
        </p:nvSpPr>
        <p:spPr>
          <a:xfrm>
            <a:off x="1016000" y="3799841"/>
            <a:ext cx="166822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CBE0"/>
                </a:solidFill>
                <a:latin typeface="IBM Plex Sans" pitchFamily="34" charset="0"/>
                <a:ea typeface="IBM Plex Sans" pitchFamily="34" charset="-122"/>
                <a:cs typeface="IBM Plex Sans" pitchFamily="34" charset="-120"/>
              </a:rPr>
              <a:t>388 tests from 7 logged prompts</a:t>
            </a:r>
            <a:endParaRPr lang="en-US" sz="1200" dirty="0"/>
          </a:p>
        </p:txBody>
      </p:sp>
      <p:sp>
        <p:nvSpPr>
          <p:cNvPr id="8" name="Shape 6"/>
          <p:cNvSpPr/>
          <p:nvPr/>
        </p:nvSpPr>
        <p:spPr>
          <a:xfrm>
            <a:off x="2941399" y="2746375"/>
            <a:ext cx="2027714" cy="1664970"/>
          </a:xfrm>
          <a:prstGeom prst="roundRect">
            <a:avLst>
              <a:gd name="adj" fmla="val 5912"/>
            </a:avLst>
          </a:prstGeom>
          <a:solidFill>
            <a:srgbClr val="FFFFFF"/>
          </a:solidFill>
          <a:ln w="6350">
            <a:solidFill>
              <a:srgbClr val="DEDCD3"/>
            </a:solidFill>
            <a:prstDash val="solid"/>
          </a:ln>
        </p:spPr>
      </p:sp>
      <p:sp>
        <p:nvSpPr>
          <p:cNvPr id="9" name="Text 7"/>
          <p:cNvSpPr/>
          <p:nvPr/>
        </p:nvSpPr>
        <p:spPr>
          <a:xfrm>
            <a:off x="3146504" y="2951480"/>
            <a:ext cx="16683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B8"/>
                </a:solidFill>
                <a:latin typeface="JetBrains Mono" pitchFamily="49" charset="0"/>
                <a:ea typeface="JetBrains Mono" pitchFamily="49" charset="-122"/>
                <a:cs typeface="JetBrains Mono" pitchFamily="49" charset="-120"/>
              </a:rPr>
              <a:t>WEEK 6</a:t>
            </a:r>
            <a:endParaRPr lang="en-US" sz="1200" dirty="0"/>
          </a:p>
        </p:txBody>
      </p:sp>
      <p:sp>
        <p:nvSpPr>
          <p:cNvPr id="10" name="Text 8"/>
          <p:cNvSpPr/>
          <p:nvPr/>
        </p:nvSpPr>
        <p:spPr>
          <a:xfrm>
            <a:off x="3146504" y="3241041"/>
            <a:ext cx="166830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Measure it</a:t>
            </a:r>
            <a:endParaRPr lang="en-US" sz="1600" dirty="0"/>
          </a:p>
        </p:txBody>
      </p:sp>
      <p:sp>
        <p:nvSpPr>
          <p:cNvPr id="11" name="Text 9"/>
          <p:cNvSpPr/>
          <p:nvPr/>
        </p:nvSpPr>
        <p:spPr>
          <a:xfrm>
            <a:off x="3146504" y="3561080"/>
            <a:ext cx="166830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Coverage, assertion audit, static analysis</a:t>
            </a:r>
            <a:endParaRPr lang="en-US" sz="1200" dirty="0"/>
          </a:p>
        </p:txBody>
      </p:sp>
      <p:sp>
        <p:nvSpPr>
          <p:cNvPr id="12" name="Shape 10"/>
          <p:cNvSpPr/>
          <p:nvPr/>
        </p:nvSpPr>
        <p:spPr>
          <a:xfrm>
            <a:off x="5077063" y="2746375"/>
            <a:ext cx="2027634" cy="1664970"/>
          </a:xfrm>
          <a:prstGeom prst="roundRect">
            <a:avLst>
              <a:gd name="adj" fmla="val 5912"/>
            </a:avLst>
          </a:prstGeom>
          <a:solidFill>
            <a:srgbClr val="FFFFFF"/>
          </a:solidFill>
          <a:ln w="6350">
            <a:solidFill>
              <a:srgbClr val="DEDCD3"/>
            </a:solidFill>
            <a:prstDash val="solid"/>
          </a:ln>
        </p:spPr>
      </p:sp>
      <p:sp>
        <p:nvSpPr>
          <p:cNvPr id="13" name="Text 11"/>
          <p:cNvSpPr/>
          <p:nvPr/>
        </p:nvSpPr>
        <p:spPr>
          <a:xfrm>
            <a:off x="5282168" y="2951480"/>
            <a:ext cx="16682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B8"/>
                </a:solidFill>
                <a:latin typeface="JetBrains Mono" pitchFamily="49" charset="0"/>
                <a:ea typeface="JetBrains Mono" pitchFamily="49" charset="-122"/>
                <a:cs typeface="JetBrains Mono" pitchFamily="49" charset="-120"/>
              </a:rPr>
              <a:t>WEEK 7</a:t>
            </a:r>
            <a:endParaRPr lang="en-US" sz="1200" dirty="0"/>
          </a:p>
        </p:txBody>
      </p:sp>
      <p:sp>
        <p:nvSpPr>
          <p:cNvPr id="14" name="Text 12"/>
          <p:cNvSpPr/>
          <p:nvPr/>
        </p:nvSpPr>
        <p:spPr>
          <a:xfrm>
            <a:off x="5282168" y="3241041"/>
            <a:ext cx="166822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Mutation test</a:t>
            </a:r>
            <a:endParaRPr lang="en-US" sz="1600" dirty="0"/>
          </a:p>
        </p:txBody>
      </p:sp>
      <p:sp>
        <p:nvSpPr>
          <p:cNvPr id="15" name="Text 13"/>
          <p:cNvSpPr/>
          <p:nvPr/>
        </p:nvSpPr>
        <p:spPr>
          <a:xfrm>
            <a:off x="5282168" y="3561080"/>
            <a:ext cx="166822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5,355 small bugs planted by mutmut</a:t>
            </a:r>
            <a:endParaRPr lang="en-US" sz="1200" dirty="0"/>
          </a:p>
        </p:txBody>
      </p:sp>
      <p:sp>
        <p:nvSpPr>
          <p:cNvPr id="16" name="Shape 14"/>
          <p:cNvSpPr/>
          <p:nvPr/>
        </p:nvSpPr>
        <p:spPr>
          <a:xfrm>
            <a:off x="7212647" y="2746375"/>
            <a:ext cx="2027714" cy="1664970"/>
          </a:xfrm>
          <a:prstGeom prst="roundRect">
            <a:avLst>
              <a:gd name="adj" fmla="val 5912"/>
            </a:avLst>
          </a:prstGeom>
          <a:solidFill>
            <a:srgbClr val="FFFFFF"/>
          </a:solidFill>
          <a:ln w="6350">
            <a:solidFill>
              <a:srgbClr val="DEDCD3"/>
            </a:solidFill>
            <a:prstDash val="solid"/>
          </a:ln>
        </p:spPr>
      </p:sp>
      <p:sp>
        <p:nvSpPr>
          <p:cNvPr id="17" name="Text 15"/>
          <p:cNvSpPr/>
          <p:nvPr/>
        </p:nvSpPr>
        <p:spPr>
          <a:xfrm>
            <a:off x="7417753" y="2951480"/>
            <a:ext cx="16683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B8"/>
                </a:solidFill>
                <a:latin typeface="JetBrains Mono" pitchFamily="49" charset="0"/>
                <a:ea typeface="JetBrains Mono" pitchFamily="49" charset="-122"/>
                <a:cs typeface="JetBrains Mono" pitchFamily="49" charset="-120"/>
              </a:rPr>
              <a:t>WEEKS 7–9</a:t>
            </a:r>
            <a:endParaRPr lang="en-US" sz="1200" dirty="0"/>
          </a:p>
        </p:txBody>
      </p:sp>
      <p:sp>
        <p:nvSpPr>
          <p:cNvPr id="18" name="Text 16"/>
          <p:cNvSpPr/>
          <p:nvPr/>
        </p:nvSpPr>
        <p:spPr>
          <a:xfrm>
            <a:off x="7417753" y="3241041"/>
            <a:ext cx="166830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Close the gaps</a:t>
            </a:r>
            <a:endParaRPr lang="en-US" sz="1600" dirty="0"/>
          </a:p>
        </p:txBody>
      </p:sp>
      <p:sp>
        <p:nvSpPr>
          <p:cNvPr id="19" name="Text 17"/>
          <p:cNvSpPr/>
          <p:nvPr/>
        </p:nvSpPr>
        <p:spPr>
          <a:xfrm>
            <a:off x="7417753" y="3561080"/>
            <a:ext cx="1668304"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Manual, property, TDD, BDD, integration tests</a:t>
            </a:r>
            <a:endParaRPr lang="en-US" sz="1200" dirty="0"/>
          </a:p>
        </p:txBody>
      </p:sp>
      <p:sp>
        <p:nvSpPr>
          <p:cNvPr id="20" name="Shape 18"/>
          <p:cNvSpPr/>
          <p:nvPr/>
        </p:nvSpPr>
        <p:spPr>
          <a:xfrm>
            <a:off x="9348312" y="2746375"/>
            <a:ext cx="2027714" cy="1664970"/>
          </a:xfrm>
          <a:prstGeom prst="roundRect">
            <a:avLst>
              <a:gd name="adj" fmla="val 5912"/>
            </a:avLst>
          </a:prstGeom>
          <a:solidFill>
            <a:srgbClr val="FFFFFF"/>
          </a:solidFill>
          <a:ln w="6350">
            <a:solidFill>
              <a:srgbClr val="DEDCD3"/>
            </a:solidFill>
            <a:prstDash val="solid"/>
          </a:ln>
        </p:spPr>
      </p:sp>
      <p:sp>
        <p:nvSpPr>
          <p:cNvPr id="21" name="Text 19"/>
          <p:cNvSpPr/>
          <p:nvPr/>
        </p:nvSpPr>
        <p:spPr>
          <a:xfrm>
            <a:off x="9553416" y="2951480"/>
            <a:ext cx="16683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B8"/>
                </a:solidFill>
                <a:latin typeface="JetBrains Mono" pitchFamily="49" charset="0"/>
                <a:ea typeface="JetBrains Mono" pitchFamily="49" charset="-122"/>
                <a:cs typeface="JetBrains Mono" pitchFamily="49" charset="-120"/>
              </a:rPr>
              <a:t>WEEKS 10–12</a:t>
            </a:r>
            <a:endParaRPr lang="en-US" sz="1200" dirty="0"/>
          </a:p>
        </p:txBody>
      </p:sp>
      <p:sp>
        <p:nvSpPr>
          <p:cNvPr id="22" name="Text 20"/>
          <p:cNvSpPr/>
          <p:nvPr/>
        </p:nvSpPr>
        <p:spPr>
          <a:xfrm>
            <a:off x="9553416" y="3241041"/>
            <a:ext cx="166830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Gate it in CI</a:t>
            </a:r>
            <a:endParaRPr lang="en-US" sz="1600" dirty="0"/>
          </a:p>
        </p:txBody>
      </p:sp>
      <p:sp>
        <p:nvSpPr>
          <p:cNvPr id="23" name="Text 21"/>
          <p:cNvSpPr/>
          <p:nvPr/>
        </p:nvSpPr>
        <p:spPr>
          <a:xfrm>
            <a:off x="9553416" y="3561080"/>
            <a:ext cx="1668304"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Coverage and mutation thresholds block the build</a:t>
            </a:r>
            <a:endParaRPr lang="en-US" sz="1200" dirty="0"/>
          </a:p>
        </p:txBody>
      </p:sp>
      <p:sp>
        <p:nvSpPr>
          <p:cNvPr id="24" name="Text 22"/>
          <p:cNvSpPr/>
          <p:nvPr/>
        </p:nvSpPr>
        <p:spPr>
          <a:xfrm>
            <a:off x="812800" y="4770120"/>
            <a:ext cx="98107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Every claim on the next slides comes from a re-runnable script in the repo, not from the AI’s own description of its tests.</a:t>
            </a:r>
            <a:endParaRPr lang="en-US" sz="1600" dirty="0"/>
          </a:p>
        </p:txBody>
      </p:sp>
      <p:sp>
        <p:nvSpPr>
          <p:cNvPr id="25" name="Text 23"/>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B8"/>
                </a:solidFill>
                <a:latin typeface="JetBrains Mono" pitchFamily="49" charset="0"/>
                <a:ea typeface="JetBrains Mono" pitchFamily="49" charset="-122"/>
                <a:cs typeface="JetBrains Mono" pitchFamily="49" charset="-120"/>
              </a:rPr>
              <a:t>WEEK 6 · AI BASELINE</a:t>
            </a:r>
            <a:endParaRPr lang="en-US" sz="1200" dirty="0"/>
          </a:p>
        </p:txBody>
      </p:sp>
      <p:sp>
        <p:nvSpPr>
          <p:cNvPr id="3" name="Text 1"/>
          <p:cNvSpPr/>
          <p:nvPr>
            <p:ph type="title"/>
          </p:nvPr>
        </p:nvSpPr>
        <p:spPr>
          <a:xfrm>
            <a:off x="812800" y="1330961"/>
            <a:ext cx="10464800"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The AI covered most of the code, but least of the code that matters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651760"/>
          <a:ext cx="4866640" cy="2032000"/>
        </p:xfrm>
        <a:graphic>
          <a:graphicData uri="http://schemas.openxmlformats.org/drawingml/2006/table">
            <a:tbl>
              <a:tblPr/>
              <a:tblGrid>
                <a:gridCol w="2216490"/>
                <a:gridCol w="1300983"/>
                <a:gridCol w="1349168"/>
              </a:tblGrid>
              <a:tr h="43688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Coverage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AI-only</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Maintainers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Statements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81.7%</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89.5%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Branches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66.3%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83.1%</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72136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container.py branches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algn="r" indent="0" marL="0">
                        <a:lnSpc>
                          <a:spcPts val="2240"/>
                        </a:lnSpc>
                        <a:buNone/>
                      </a:pPr>
                      <a:r>
                        <a:rPr lang="en-US" sz="1600" dirty="0">
                          <a:solidFill>
                            <a:srgbClr val="A9480F"/>
                          </a:solidFill>
                          <a:latin typeface="IBM Plex Sans" pitchFamily="34" charset="0"/>
                          <a:ea typeface="IBM Plex Sans" pitchFamily="34" charset="-122"/>
                          <a:cs typeface="IBM Plex Sans" pitchFamily="34" charset="-120"/>
                        </a:rPr>
                        <a:t>58.2%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algn="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83.6%</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Text 2"/>
          <p:cNvSpPr/>
          <p:nvPr/>
        </p:nvSpPr>
        <p:spPr>
          <a:xfrm>
            <a:off x="812800" y="4836161"/>
            <a:ext cx="502310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388 tests · 379 of 387 passed on the first run · tool: Claude, 7 prompts in tests_ai/PROMPT_LOG.md</a:t>
            </a:r>
            <a:endParaRPr lang="en-US" sz="1200" dirty="0"/>
          </a:p>
        </p:txBody>
      </p:sp>
      <p:sp>
        <p:nvSpPr>
          <p:cNvPr id="6" name="Shape 3"/>
          <p:cNvSpPr/>
          <p:nvPr/>
        </p:nvSpPr>
        <p:spPr>
          <a:xfrm>
            <a:off x="5994400" y="2641600"/>
            <a:ext cx="5384800" cy="2839720"/>
          </a:xfrm>
          <a:prstGeom prst="roundRect">
            <a:avLst>
              <a:gd name="adj" fmla="val 3578"/>
            </a:avLst>
          </a:prstGeom>
          <a:solidFill>
            <a:srgbClr val="14213D"/>
          </a:solidFill>
          <a:ln/>
        </p:spPr>
      </p:sp>
      <p:sp>
        <p:nvSpPr>
          <p:cNvPr id="7" name="Text 4"/>
          <p:cNvSpPr/>
          <p:nvPr/>
        </p:nvSpPr>
        <p:spPr>
          <a:xfrm>
            <a:off x="6248400" y="2895600"/>
            <a:ext cx="50231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B3F0"/>
                </a:solidFill>
                <a:latin typeface="JetBrains Mono" pitchFamily="49" charset="0"/>
                <a:ea typeface="JetBrains Mono" pitchFamily="49" charset="-122"/>
                <a:cs typeface="JetBrains Mono" pitchFamily="49" charset="-120"/>
              </a:rPr>
              <a:t>BIGGEST GAP</a:t>
            </a:r>
            <a:endParaRPr lang="en-US" sz="1200" dirty="0"/>
          </a:p>
        </p:txBody>
      </p:sp>
      <p:sp>
        <p:nvSpPr>
          <p:cNvPr id="8" name="Text 5"/>
          <p:cNvSpPr/>
          <p:nvPr/>
        </p:nvSpPr>
        <p:spPr>
          <a:xfrm>
            <a:off x="6248400" y="3210561"/>
            <a:ext cx="502310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7F6F1"/>
                </a:solidFill>
                <a:latin typeface="JetBrains Mono" pitchFamily="49" charset="0"/>
                <a:ea typeface="JetBrains Mono" pitchFamily="49" charset="-122"/>
                <a:cs typeface="JetBrains Mono" pitchFamily="49" charset="-120"/>
              </a:rPr>
              <a:t>Container.append</a:t>
            </a:r>
            <a:endParaRPr lang="en-US" sz="2200" dirty="0"/>
          </a:p>
        </p:txBody>
      </p:sp>
      <p:sp>
        <p:nvSpPr>
          <p:cNvPr id="9" name="Text 6"/>
          <p:cNvSpPr/>
          <p:nvPr/>
        </p:nvSpPr>
        <p:spPr>
          <a:xfrm>
            <a:off x="6248400" y="3703320"/>
            <a:ext cx="5023104"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BE0"/>
                </a:solidFill>
                <a:latin typeface="IBM Plex Sans" pitchFamily="34" charset="0"/>
                <a:ea typeface="IBM Plex Sans" pitchFamily="34" charset="-122"/>
                <a:cs typeface="IBM Plex Sans" pitchFamily="34" charset="-120"/>
              </a:rPr>
              <a:t>Cyclomatic complexity 74, the most complex function in the library. 32 of its lines never ran under the AI suite.</a:t>
            </a:r>
            <a:endParaRPr lang="en-US" sz="1600" dirty="0"/>
          </a:p>
        </p:txBody>
      </p:sp>
      <p:sp>
        <p:nvSpPr>
          <p:cNvPr id="10" name="Text 7"/>
          <p:cNvSpPr/>
          <p:nvPr/>
        </p:nvSpPr>
        <p:spPr>
          <a:xfrm>
            <a:off x="6248400" y="4658361"/>
            <a:ext cx="502310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BE0"/>
                </a:solidFill>
                <a:latin typeface="IBM Plex Sans" pitchFamily="34" charset="0"/>
                <a:ea typeface="IBM Plex Sans" pitchFamily="34" charset="-122"/>
                <a:cs typeface="IBM Plex Sans" pitchFamily="34" charset="-120"/>
              </a:rPr>
              <a:t>It is the code that keeps formatting intact when you edit a document.</a:t>
            </a:r>
            <a:endParaRPr lang="en-US" sz="1600" dirty="0"/>
          </a:p>
        </p:txBody>
      </p:sp>
      <p:sp>
        <p:nvSpPr>
          <p:cNvPr id="11" name="Text 8"/>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pytest-cov 7.1, branch coverage, separate runs of tests_ai/ and tests/ · week6/cov_ai.json</a:t>
            </a:r>
            <a:endParaRPr lang="en-US" sz="1200" dirty="0"/>
          </a:p>
        </p:txBody>
      </p:sp>
      <p:sp>
        <p:nvSpPr>
          <p:cNvPr id="12" name="Text 9"/>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25504"/>
          </a:xfrm>
          <a:prstGeom prst="rect">
            <a:avLst/>
          </a:prstGeom>
          <a:noFill/>
          <a:ln/>
        </p:spPr>
        <p:txBody>
          <a:bodyPr wrap="square" lIns="0" tIns="0" rIns="0" bIns="0" rtlCol="0" anchor="t">
            <a:normAutofit/>
          </a:bodyPr>
          <a:lstStyle/>
          <a:p>
            <a:pPr algn="l" indent="0" marL="0">
              <a:lnSpc>
                <a:spcPts val="1622"/>
              </a:lnSpc>
              <a:buNone/>
            </a:pPr>
            <a:r>
              <a:rPr lang="en-US" sz="1159" spc="100" kern="0" dirty="0">
                <a:solidFill>
                  <a:srgbClr val="2B5FB8"/>
                </a:solidFill>
                <a:latin typeface="JetBrains Mono" pitchFamily="49" charset="0"/>
                <a:ea typeface="JetBrains Mono" pitchFamily="49" charset="-122"/>
                <a:cs typeface="JetBrains Mono" pitchFamily="49" charset="-120"/>
              </a:rPr>
              <a:t>WEEK 6 · ASSERTION QUALITY</a:t>
            </a:r>
            <a:endParaRPr lang="en-US" sz="1159" dirty="0"/>
          </a:p>
        </p:txBody>
      </p:sp>
      <p:sp>
        <p:nvSpPr>
          <p:cNvPr id="3" name="Text 1"/>
          <p:cNvSpPr/>
          <p:nvPr>
            <p:ph type="title"/>
          </p:nvPr>
        </p:nvSpPr>
        <p:spPr>
          <a:xfrm>
            <a:off x="812800" y="1317706"/>
            <a:ext cx="10464800" cy="968772"/>
          </a:xfrm>
          <a:prstGeom prst="rect">
            <a:avLst/>
          </a:prstGeom>
          <a:noFill/>
          <a:ln/>
        </p:spPr>
        <p:txBody>
          <a:bodyPr wrap="square" lIns="0" tIns="0" rIns="0" bIns="0" rtlCol="0" anchor="t">
            <a:normAutofit/>
          </a:bodyPr>
          <a:lstStyle/>
          <a:p>
            <a:pPr algn="l" indent="0" marL="0">
              <a:lnSpc>
                <a:spcPts val="3737"/>
              </a:lnSpc>
              <a:buNone/>
            </a:pPr>
            <a:r>
              <a:rPr lang="en-US" sz="3398" b="1" i="0" dirty="0">
                <a:solidFill>
                  <a:srgbClr val="14213D"/>
                </a:solidFill>
                <a:latin typeface="IBM Plex Sans" pitchFamily="34" charset="0"/>
                <a:ea typeface="IBM Plex Sans" pitchFamily="34" charset="-122"/>
                <a:cs typeface="IBM Plex Sans" pitchFamily="34" charset="-120"/>
              </a:rPr>
              <a:t>One test in six checked too little to catch a wrong answer</a:t>
            </a:r>
            <a:endParaRPr lang="en-US" sz="3398" dirty="0"/>
          </a:p>
        </p:txBody>
      </p:sp>
      <p:sp>
        <p:nvSpPr>
          <p:cNvPr id="4" name="Shape 2"/>
          <p:cNvSpPr/>
          <p:nvPr/>
        </p:nvSpPr>
        <p:spPr>
          <a:xfrm>
            <a:off x="815975" y="2569052"/>
            <a:ext cx="3380264" cy="1804194"/>
          </a:xfrm>
          <a:prstGeom prst="roundRect">
            <a:avLst>
              <a:gd name="adj" fmla="val 5455"/>
            </a:avLst>
          </a:prstGeom>
          <a:solidFill>
            <a:srgbClr val="FFFFFF"/>
          </a:solidFill>
          <a:ln w="6350">
            <a:solidFill>
              <a:srgbClr val="DEDCD3"/>
            </a:solidFill>
            <a:prstDash val="solid"/>
          </a:ln>
        </p:spPr>
      </p:sp>
      <p:sp>
        <p:nvSpPr>
          <p:cNvPr id="5" name="Text 3"/>
          <p:cNvSpPr/>
          <p:nvPr/>
        </p:nvSpPr>
        <p:spPr>
          <a:xfrm>
            <a:off x="1071880" y="2824956"/>
            <a:ext cx="2954507" cy="606981"/>
          </a:xfrm>
          <a:prstGeom prst="rect">
            <a:avLst/>
          </a:prstGeom>
          <a:noFill/>
          <a:ln/>
        </p:spPr>
        <p:txBody>
          <a:bodyPr wrap="square" lIns="0" tIns="0" rIns="0" bIns="0" rtlCol="0" anchor="t">
            <a:normAutofit/>
          </a:bodyPr>
          <a:lstStyle/>
          <a:p>
            <a:pPr algn="l" indent="0" marL="0">
              <a:lnSpc>
                <a:spcPts val="4615"/>
              </a:lnSpc>
              <a:buNone/>
            </a:pPr>
            <a:r>
              <a:rPr lang="en-US" sz="3296" b="1" dirty="0">
                <a:solidFill>
                  <a:srgbClr val="2B5FB8"/>
                </a:solidFill>
                <a:latin typeface="IBM Plex Sans" pitchFamily="34" charset="0"/>
                <a:ea typeface="IBM Plex Sans" pitchFamily="34" charset="-122"/>
                <a:cs typeface="IBM Plex Sans" pitchFamily="34" charset="-120"/>
              </a:rPr>
              <a:t>69%</a:t>
            </a:r>
            <a:endParaRPr lang="en-US" sz="3296" dirty="0"/>
          </a:p>
        </p:txBody>
      </p:sp>
      <p:sp>
        <p:nvSpPr>
          <p:cNvPr id="6" name="Text 4"/>
          <p:cNvSpPr/>
          <p:nvPr/>
        </p:nvSpPr>
        <p:spPr>
          <a:xfrm>
            <a:off x="1071880" y="3457336"/>
            <a:ext cx="2954507" cy="246936"/>
          </a:xfrm>
          <a:prstGeom prst="rect">
            <a:avLst/>
          </a:prstGeom>
          <a:noFill/>
          <a:ln/>
        </p:spPr>
        <p:txBody>
          <a:bodyPr wrap="square" lIns="0" tIns="0" rIns="0" bIns="0" rtlCol="0" anchor="t">
            <a:normAutofit/>
          </a:bodyPr>
          <a:lstStyle/>
          <a:p>
            <a:pPr algn="l" indent="0" marL="0">
              <a:lnSpc>
                <a:spcPts val="1770"/>
              </a:lnSpc>
              <a:buNone/>
            </a:pPr>
            <a:r>
              <a:rPr lang="en-US" sz="1475" b="1" dirty="0">
                <a:solidFill>
                  <a:srgbClr val="14213D"/>
                </a:solidFill>
                <a:latin typeface="IBM Plex Sans" pitchFamily="34" charset="0"/>
                <a:ea typeface="IBM Plex Sans" pitchFamily="34" charset="-122"/>
                <a:cs typeface="IBM Plex Sans" pitchFamily="34" charset="-120"/>
              </a:rPr>
              <a:t>Strong</a:t>
            </a:r>
            <a:endParaRPr lang="en-US" sz="1475" dirty="0"/>
          </a:p>
        </p:txBody>
      </p:sp>
      <p:sp>
        <p:nvSpPr>
          <p:cNvPr id="7" name="Text 5"/>
          <p:cNvSpPr/>
          <p:nvPr/>
        </p:nvSpPr>
        <p:spPr>
          <a:xfrm>
            <a:off x="1071880" y="3729673"/>
            <a:ext cx="2954507" cy="413067"/>
          </a:xfrm>
          <a:prstGeom prst="rect">
            <a:avLst/>
          </a:prstGeom>
          <a:noFill/>
          <a:ln/>
        </p:spPr>
        <p:txBody>
          <a:bodyPr wrap="square" lIns="0" tIns="0" rIns="0" bIns="0" rtlCol="0" anchor="t">
            <a:normAutofit/>
          </a:bodyPr>
          <a:lstStyle/>
          <a:p>
            <a:pPr algn="l" indent="0" marL="0">
              <a:lnSpc>
                <a:spcPts val="1533"/>
              </a:lnSpc>
              <a:buNone/>
            </a:pPr>
            <a:r>
              <a:rPr lang="en-US" sz="1095" dirty="0">
                <a:solidFill>
                  <a:srgbClr val="4A5568"/>
                </a:solidFill>
                <a:latin typeface="IBM Plex Sans" pitchFamily="34" charset="0"/>
                <a:ea typeface="IBM Plex Sans" pitchFamily="34" charset="-122"/>
                <a:cs typeface="IBM Plex Sans" pitchFamily="34" charset="-120"/>
              </a:rPr>
              <a:t>Exact value, exact output or the exact exception</a:t>
            </a:r>
            <a:endParaRPr lang="en-US" sz="1095" dirty="0"/>
          </a:p>
        </p:txBody>
      </p:sp>
      <p:sp>
        <p:nvSpPr>
          <p:cNvPr id="8" name="Shape 6"/>
          <p:cNvSpPr/>
          <p:nvPr/>
        </p:nvSpPr>
        <p:spPr>
          <a:xfrm>
            <a:off x="4405789" y="2569052"/>
            <a:ext cx="3380343" cy="1804194"/>
          </a:xfrm>
          <a:prstGeom prst="roundRect">
            <a:avLst>
              <a:gd name="adj" fmla="val 5455"/>
            </a:avLst>
          </a:prstGeom>
          <a:solidFill>
            <a:srgbClr val="FFFFFF"/>
          </a:solidFill>
          <a:ln w="6350">
            <a:solidFill>
              <a:srgbClr val="DEDCD3"/>
            </a:solidFill>
            <a:prstDash val="solid"/>
          </a:ln>
        </p:spPr>
      </p:sp>
      <p:sp>
        <p:nvSpPr>
          <p:cNvPr id="9" name="Text 7"/>
          <p:cNvSpPr/>
          <p:nvPr/>
        </p:nvSpPr>
        <p:spPr>
          <a:xfrm>
            <a:off x="4661694" y="2824956"/>
            <a:ext cx="2954589" cy="606981"/>
          </a:xfrm>
          <a:prstGeom prst="rect">
            <a:avLst/>
          </a:prstGeom>
          <a:noFill/>
          <a:ln/>
        </p:spPr>
        <p:txBody>
          <a:bodyPr wrap="square" lIns="0" tIns="0" rIns="0" bIns="0" rtlCol="0" anchor="t">
            <a:normAutofit/>
          </a:bodyPr>
          <a:lstStyle/>
          <a:p>
            <a:pPr algn="l" indent="0" marL="0">
              <a:lnSpc>
                <a:spcPts val="4615"/>
              </a:lnSpc>
              <a:buNone/>
            </a:pPr>
            <a:r>
              <a:rPr lang="en-US" sz="3296" b="1" dirty="0">
                <a:solidFill>
                  <a:srgbClr val="14213D"/>
                </a:solidFill>
                <a:latin typeface="IBM Plex Sans" pitchFamily="34" charset="0"/>
                <a:ea typeface="IBM Plex Sans" pitchFamily="34" charset="-122"/>
                <a:cs typeface="IBM Plex Sans" pitchFamily="34" charset="-120"/>
              </a:rPr>
              <a:t>15%</a:t>
            </a:r>
            <a:endParaRPr lang="en-US" sz="3296" dirty="0"/>
          </a:p>
        </p:txBody>
      </p:sp>
      <p:sp>
        <p:nvSpPr>
          <p:cNvPr id="10" name="Text 8"/>
          <p:cNvSpPr/>
          <p:nvPr/>
        </p:nvSpPr>
        <p:spPr>
          <a:xfrm>
            <a:off x="4661694" y="3457336"/>
            <a:ext cx="2954589" cy="246936"/>
          </a:xfrm>
          <a:prstGeom prst="rect">
            <a:avLst/>
          </a:prstGeom>
          <a:noFill/>
          <a:ln/>
        </p:spPr>
        <p:txBody>
          <a:bodyPr wrap="square" lIns="0" tIns="0" rIns="0" bIns="0" rtlCol="0" anchor="t">
            <a:normAutofit/>
          </a:bodyPr>
          <a:lstStyle/>
          <a:p>
            <a:pPr algn="l" indent="0" marL="0">
              <a:lnSpc>
                <a:spcPts val="1770"/>
              </a:lnSpc>
              <a:buNone/>
            </a:pPr>
            <a:r>
              <a:rPr lang="en-US" sz="1475" b="1" dirty="0">
                <a:solidFill>
                  <a:srgbClr val="14213D"/>
                </a:solidFill>
                <a:latin typeface="IBM Plex Sans" pitchFamily="34" charset="0"/>
                <a:ea typeface="IBM Plex Sans" pitchFamily="34" charset="-122"/>
                <a:cs typeface="IBM Plex Sans" pitchFamily="34" charset="-120"/>
              </a:rPr>
              <a:t>Partial</a:t>
            </a:r>
            <a:endParaRPr lang="en-US" sz="1475" dirty="0"/>
          </a:p>
        </p:txBody>
      </p:sp>
      <p:sp>
        <p:nvSpPr>
          <p:cNvPr id="11" name="Text 9"/>
          <p:cNvSpPr/>
          <p:nvPr/>
        </p:nvSpPr>
        <p:spPr>
          <a:xfrm>
            <a:off x="4661694" y="3729673"/>
            <a:ext cx="2954589" cy="413067"/>
          </a:xfrm>
          <a:prstGeom prst="rect">
            <a:avLst/>
          </a:prstGeom>
          <a:noFill/>
          <a:ln/>
        </p:spPr>
        <p:txBody>
          <a:bodyPr wrap="square" lIns="0" tIns="0" rIns="0" bIns="0" rtlCol="0" anchor="t">
            <a:normAutofit/>
          </a:bodyPr>
          <a:lstStyle/>
          <a:p>
            <a:pPr algn="l" indent="0" marL="0">
              <a:lnSpc>
                <a:spcPts val="1533"/>
              </a:lnSpc>
              <a:buNone/>
            </a:pPr>
            <a:r>
              <a:rPr lang="en-US" sz="1095" dirty="0">
                <a:solidFill>
                  <a:srgbClr val="4A5568"/>
                </a:solidFill>
                <a:latin typeface="IBM Plex Sans" pitchFamily="34" charset="0"/>
                <a:ea typeface="IBM Plex Sans" pitchFamily="34" charset="-122"/>
                <a:cs typeface="IBM Plex Sans" pitchFamily="34" charset="-120"/>
              </a:rPr>
              <a:t>One exact check padded with type or substring checks</a:t>
            </a:r>
            <a:endParaRPr lang="en-US" sz="1095" dirty="0"/>
          </a:p>
        </p:txBody>
      </p:sp>
      <p:sp>
        <p:nvSpPr>
          <p:cNvPr id="12" name="Shape 10"/>
          <p:cNvSpPr/>
          <p:nvPr/>
        </p:nvSpPr>
        <p:spPr>
          <a:xfrm>
            <a:off x="7995682" y="2569052"/>
            <a:ext cx="3380343" cy="1804194"/>
          </a:xfrm>
          <a:prstGeom prst="roundRect">
            <a:avLst>
              <a:gd name="adj" fmla="val 5455"/>
            </a:avLst>
          </a:prstGeom>
          <a:solidFill>
            <a:srgbClr val="FFFFFF"/>
          </a:solidFill>
          <a:ln w="6350">
            <a:solidFill>
              <a:srgbClr val="DEDCD3"/>
            </a:solidFill>
            <a:prstDash val="solid"/>
          </a:ln>
        </p:spPr>
      </p:sp>
      <p:sp>
        <p:nvSpPr>
          <p:cNvPr id="13" name="Text 11"/>
          <p:cNvSpPr/>
          <p:nvPr/>
        </p:nvSpPr>
        <p:spPr>
          <a:xfrm>
            <a:off x="8251587" y="2824956"/>
            <a:ext cx="2954589" cy="606981"/>
          </a:xfrm>
          <a:prstGeom prst="rect">
            <a:avLst/>
          </a:prstGeom>
          <a:noFill/>
          <a:ln/>
        </p:spPr>
        <p:txBody>
          <a:bodyPr wrap="square" lIns="0" tIns="0" rIns="0" bIns="0" rtlCol="0" anchor="t">
            <a:normAutofit/>
          </a:bodyPr>
          <a:lstStyle/>
          <a:p>
            <a:pPr algn="l" indent="0" marL="0">
              <a:lnSpc>
                <a:spcPts val="4615"/>
              </a:lnSpc>
              <a:buNone/>
            </a:pPr>
            <a:r>
              <a:rPr lang="en-US" sz="3296" b="1" dirty="0">
                <a:solidFill>
                  <a:srgbClr val="A9480F"/>
                </a:solidFill>
                <a:latin typeface="IBM Plex Sans" pitchFamily="34" charset="0"/>
                <a:ea typeface="IBM Plex Sans" pitchFamily="34" charset="-122"/>
                <a:cs typeface="IBM Plex Sans" pitchFamily="34" charset="-120"/>
              </a:rPr>
              <a:t>16%</a:t>
            </a:r>
            <a:endParaRPr lang="en-US" sz="3296" dirty="0"/>
          </a:p>
        </p:txBody>
      </p:sp>
      <p:sp>
        <p:nvSpPr>
          <p:cNvPr id="14" name="Text 12"/>
          <p:cNvSpPr/>
          <p:nvPr/>
        </p:nvSpPr>
        <p:spPr>
          <a:xfrm>
            <a:off x="8251587" y="3457336"/>
            <a:ext cx="2954589" cy="246936"/>
          </a:xfrm>
          <a:prstGeom prst="rect">
            <a:avLst/>
          </a:prstGeom>
          <a:noFill/>
          <a:ln/>
        </p:spPr>
        <p:txBody>
          <a:bodyPr wrap="square" lIns="0" tIns="0" rIns="0" bIns="0" rtlCol="0" anchor="t">
            <a:normAutofit/>
          </a:bodyPr>
          <a:lstStyle/>
          <a:p>
            <a:pPr algn="l" indent="0" marL="0">
              <a:lnSpc>
                <a:spcPts val="1770"/>
              </a:lnSpc>
              <a:buNone/>
            </a:pPr>
            <a:r>
              <a:rPr lang="en-US" sz="1475" b="1" dirty="0">
                <a:solidFill>
                  <a:srgbClr val="14213D"/>
                </a:solidFill>
                <a:latin typeface="IBM Plex Sans" pitchFamily="34" charset="0"/>
                <a:ea typeface="IBM Plex Sans" pitchFamily="34" charset="-122"/>
                <a:cs typeface="IBM Plex Sans" pitchFamily="34" charset="-120"/>
              </a:rPr>
              <a:t>Weak</a:t>
            </a:r>
            <a:endParaRPr lang="en-US" sz="1475" dirty="0"/>
          </a:p>
        </p:txBody>
      </p:sp>
      <p:sp>
        <p:nvSpPr>
          <p:cNvPr id="15" name="Text 13"/>
          <p:cNvSpPr/>
          <p:nvPr/>
        </p:nvSpPr>
        <p:spPr>
          <a:xfrm>
            <a:off x="8251587" y="3729673"/>
            <a:ext cx="2954589" cy="413067"/>
          </a:xfrm>
          <a:prstGeom prst="rect">
            <a:avLst/>
          </a:prstGeom>
          <a:noFill/>
          <a:ln/>
        </p:spPr>
        <p:txBody>
          <a:bodyPr wrap="square" lIns="0" tIns="0" rIns="0" bIns="0" rtlCol="0" anchor="t">
            <a:normAutofit/>
          </a:bodyPr>
          <a:lstStyle/>
          <a:p>
            <a:pPr algn="l" indent="0" marL="0">
              <a:lnSpc>
                <a:spcPts val="1533"/>
              </a:lnSpc>
              <a:buNone/>
            </a:pPr>
            <a:r>
              <a:rPr lang="en-US" sz="1095" dirty="0">
                <a:solidFill>
                  <a:srgbClr val="4A5568"/>
                </a:solidFill>
                <a:latin typeface="IBM Plex Sans" pitchFamily="34" charset="0"/>
                <a:ea typeface="IBM Plex Sans" pitchFamily="34" charset="-122"/>
                <a:cs typeface="IBM Plex Sans" pitchFamily="34" charset="-120"/>
              </a:rPr>
              <a:t>Only “some ParseError was raised”, a type, or a substring</a:t>
            </a:r>
            <a:endParaRPr lang="en-US" sz="1095" dirty="0"/>
          </a:p>
        </p:txBody>
      </p:sp>
      <p:sp>
        <p:nvSpPr>
          <p:cNvPr id="16" name="Shape 14"/>
          <p:cNvSpPr/>
          <p:nvPr/>
        </p:nvSpPr>
        <p:spPr>
          <a:xfrm>
            <a:off x="812800" y="4681221"/>
            <a:ext cx="10566400" cy="1160780"/>
          </a:xfrm>
          <a:prstGeom prst="roundRect">
            <a:avLst>
              <a:gd name="adj" fmla="val 8753"/>
            </a:avLst>
          </a:prstGeom>
          <a:solidFill>
            <a:srgbClr val="ECEAE2"/>
          </a:solidFill>
          <a:ln/>
        </p:spPr>
      </p:sp>
      <p:sp>
        <p:nvSpPr>
          <p:cNvPr id="17" name="Text 15"/>
          <p:cNvSpPr/>
          <p:nvPr/>
        </p:nvSpPr>
        <p:spPr>
          <a:xfrm>
            <a:off x="1066800" y="4859021"/>
            <a:ext cx="10360152" cy="290513"/>
          </a:xfrm>
          <a:prstGeom prst="rect">
            <a:avLst/>
          </a:prstGeom>
          <a:noFill/>
          <a:ln/>
        </p:spPr>
        <p:txBody>
          <a:bodyPr wrap="square" lIns="0" tIns="0" rIns="0" bIns="0" rtlCol="0" anchor="t">
            <a:normAutofit/>
          </a:bodyPr>
          <a:lstStyle/>
          <a:p>
            <a:pPr algn="l" indent="0" marL="0">
              <a:lnSpc>
                <a:spcPts val="2121"/>
              </a:lnSpc>
              <a:buNone/>
            </a:pPr>
            <a:r>
              <a:rPr lang="en-US" sz="1515" dirty="0">
                <a:solidFill>
                  <a:srgbClr val="14213D"/>
                </a:solidFill>
                <a:latin typeface="JetBrains Mono" pitchFamily="49" charset="0"/>
                <a:ea typeface="JetBrains Mono" pitchFamily="49" charset="-122"/>
                <a:cs typeface="JetBrains Mono" pitchFamily="49" charset="-120"/>
              </a:rPr>
              <a:t>assert boolean("yes") is False</a:t>
            </a:r>
            <a:endParaRPr lang="en-US" sz="1515" dirty="0"/>
          </a:p>
        </p:txBody>
      </p:sp>
      <p:sp>
        <p:nvSpPr>
          <p:cNvPr id="18" name="Text 16"/>
          <p:cNvSpPr/>
          <p:nvPr/>
        </p:nvSpPr>
        <p:spPr>
          <a:xfrm>
            <a:off x="1066800" y="5200334"/>
            <a:ext cx="10360152" cy="489268"/>
          </a:xfrm>
          <a:prstGeom prst="rect">
            <a:avLst/>
          </a:prstGeom>
          <a:noFill/>
          <a:ln/>
        </p:spPr>
        <p:txBody>
          <a:bodyPr wrap="square" lIns="0" tIns="0" rIns="0" bIns="0" rtlCol="0" anchor="t">
            <a:normAutofit/>
          </a:bodyPr>
          <a:lstStyle/>
          <a:p>
            <a:pPr algn="l" indent="0" marL="0">
              <a:lnSpc>
                <a:spcPts val="1831"/>
              </a:lnSpc>
              <a:buNone/>
            </a:pPr>
            <a:r>
              <a:rPr lang="en-US" sz="1308" dirty="0">
                <a:solidFill>
                  <a:srgbClr val="4A5568"/>
                </a:solidFill>
                <a:latin typeface="IBM Plex Sans" pitchFamily="34" charset="0"/>
                <a:ea typeface="IBM Plex Sans" pitchFamily="34" charset="-122"/>
                <a:cs typeface="IBM Plex Sans" pitchFamily="34" charset="-120"/>
              </a:rPr>
              <a:t>The AI turned questionable behaviour into an expectation: any unknown string silently becomes False. AI tests record what code does, not what it should do.</a:t>
            </a:r>
            <a:endParaRPr lang="en-US" sz="1308" dirty="0"/>
          </a:p>
        </p:txBody>
      </p:sp>
      <p:sp>
        <p:nvSpPr>
          <p:cNvPr id="19" name="Text 17"/>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305 test functions classified by an AST script · week6/assertion_audit.csv</a:t>
            </a:r>
            <a:endParaRPr lang="en-US" sz="1200" dirty="0"/>
          </a:p>
        </p:txBody>
      </p:sp>
      <p:sp>
        <p:nvSpPr>
          <p:cNvPr id="20" name="Text 18"/>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B8"/>
                </a:solidFill>
                <a:latin typeface="JetBrains Mono" pitchFamily="49" charset="0"/>
                <a:ea typeface="JetBrains Mono" pitchFamily="49" charset="-122"/>
                <a:cs typeface="JetBrains Mono" pitchFamily="49" charset="-120"/>
              </a:rPr>
              <a:t>WEEK 6 · STATIC ANALYSIS AND REQUIREMENTS</a:t>
            </a:r>
            <a:endParaRPr lang="en-US" sz="1200" dirty="0"/>
          </a:p>
        </p:txBody>
      </p:sp>
      <p:sp>
        <p:nvSpPr>
          <p:cNvPr id="3" name="Text 1"/>
          <p:cNvSpPr/>
          <p:nvPr>
            <p:ph type="title"/>
          </p:nvPr>
        </p:nvSpPr>
        <p:spPr>
          <a:xfrm>
            <a:off x="812800" y="1330961"/>
            <a:ext cx="10464800"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Linters found style problems; the LLM review and CrossHair found bugs</a:t>
            </a:r>
            <a:endParaRPr lang="en-US" sz="3600" dirty="0"/>
          </a:p>
        </p:txBody>
      </p:sp>
      <p:sp>
        <p:nvSpPr>
          <p:cNvPr id="4" name="Shape 2"/>
          <p:cNvSpPr/>
          <p:nvPr/>
        </p:nvSpPr>
        <p:spPr>
          <a:xfrm>
            <a:off x="815975" y="2644775"/>
            <a:ext cx="3414157" cy="1583690"/>
          </a:xfrm>
          <a:prstGeom prst="roundRect">
            <a:avLst>
              <a:gd name="adj" fmla="val 6215"/>
            </a:avLst>
          </a:prstGeom>
          <a:solidFill>
            <a:srgbClr val="FFFFFF"/>
          </a:solidFill>
          <a:ln w="6350">
            <a:solidFill>
              <a:srgbClr val="DEDCD3"/>
            </a:solidFill>
            <a:prstDash val="solid"/>
          </a:ln>
        </p:spPr>
      </p:sp>
      <p:sp>
        <p:nvSpPr>
          <p:cNvPr id="5" name="Text 3"/>
          <p:cNvSpPr/>
          <p:nvPr/>
        </p:nvSpPr>
        <p:spPr>
          <a:xfrm>
            <a:off x="1071880" y="2849882"/>
            <a:ext cx="29894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Complexity hot-spots</a:t>
            </a:r>
            <a:endParaRPr lang="en-US" sz="1600" dirty="0"/>
          </a:p>
        </p:txBody>
      </p:sp>
      <p:sp>
        <p:nvSpPr>
          <p:cNvPr id="6" name="Text 4"/>
          <p:cNvSpPr/>
          <p:nvPr/>
        </p:nvSpPr>
        <p:spPr>
          <a:xfrm>
            <a:off x="1071880" y="3169921"/>
            <a:ext cx="298941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Average complexity is 3.0, but 13 functions rank D to F. The worst, Container.append at 74, is also the AI suite’s biggest coverage gap.</a:t>
            </a:r>
            <a:endParaRPr lang="en-US" sz="1200" dirty="0"/>
          </a:p>
        </p:txBody>
      </p:sp>
      <p:sp>
        <p:nvSpPr>
          <p:cNvPr id="7" name="Shape 5"/>
          <p:cNvSpPr/>
          <p:nvPr/>
        </p:nvSpPr>
        <p:spPr>
          <a:xfrm>
            <a:off x="4388882" y="2644775"/>
            <a:ext cx="3414157" cy="1583690"/>
          </a:xfrm>
          <a:prstGeom prst="roundRect">
            <a:avLst>
              <a:gd name="adj" fmla="val 6215"/>
            </a:avLst>
          </a:prstGeom>
          <a:solidFill>
            <a:srgbClr val="FFFFFF"/>
          </a:solidFill>
          <a:ln w="6350">
            <a:solidFill>
              <a:srgbClr val="DEDCD3"/>
            </a:solidFill>
            <a:prstDash val="solid"/>
          </a:ln>
        </p:spPr>
      </p:sp>
      <p:sp>
        <p:nvSpPr>
          <p:cNvPr id="8" name="Text 6"/>
          <p:cNvSpPr/>
          <p:nvPr/>
        </p:nvSpPr>
        <p:spPr>
          <a:xfrm>
            <a:off x="4644787" y="2849882"/>
            <a:ext cx="29894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Linter vs LLM review</a:t>
            </a:r>
            <a:endParaRPr lang="en-US" sz="1600" dirty="0"/>
          </a:p>
        </p:txBody>
      </p:sp>
      <p:sp>
        <p:nvSpPr>
          <p:cNvPr id="9" name="Text 7"/>
          <p:cNvSpPr/>
          <p:nvPr/>
        </p:nvSpPr>
        <p:spPr>
          <a:xfrm>
            <a:off x="4644787" y="3169921"/>
            <a:ext cx="298941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On api.py, ruff and pylint raised 27 style findings. The LLM review found 2 real defects (D5, D6) and explained why the date() check was wrong.</a:t>
            </a:r>
            <a:endParaRPr lang="en-US" sz="1200" dirty="0"/>
          </a:p>
        </p:txBody>
      </p:sp>
      <p:sp>
        <p:nvSpPr>
          <p:cNvPr id="10" name="Shape 8"/>
          <p:cNvSpPr/>
          <p:nvPr/>
        </p:nvSpPr>
        <p:spPr>
          <a:xfrm>
            <a:off x="7961789" y="2644775"/>
            <a:ext cx="3414157" cy="1583690"/>
          </a:xfrm>
          <a:prstGeom prst="roundRect">
            <a:avLst>
              <a:gd name="adj" fmla="val 6215"/>
            </a:avLst>
          </a:prstGeom>
          <a:solidFill>
            <a:srgbClr val="FFFFFF"/>
          </a:solidFill>
          <a:ln w="6350">
            <a:solidFill>
              <a:srgbClr val="DEDCD3"/>
            </a:solidFill>
            <a:prstDash val="solid"/>
          </a:ln>
        </p:spPr>
      </p:sp>
      <p:sp>
        <p:nvSpPr>
          <p:cNvPr id="11" name="Text 9"/>
          <p:cNvSpPr/>
          <p:nvPr/>
        </p:nvSpPr>
        <p:spPr>
          <a:xfrm>
            <a:off x="8217694" y="2849882"/>
            <a:ext cx="29894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Symbolic execution</a:t>
            </a:r>
            <a:endParaRPr lang="en-US" sz="1600" dirty="0"/>
          </a:p>
        </p:txBody>
      </p:sp>
      <p:sp>
        <p:nvSpPr>
          <p:cNvPr id="12" name="Text 10"/>
          <p:cNvSpPr/>
          <p:nvPr/>
        </p:nvSpPr>
        <p:spPr>
          <a:xfrm>
            <a:off x="8217694" y="3169921"/>
            <a:ext cx="298941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CrossHair broke the rule “date() never returns a datetime” within 60 seconds, with </a:t>
            </a:r>
            <a:r>
              <a:rPr lang="en-US" sz="1200" dirty="0">
                <a:solidFill>
                  <a:srgbClr val="14213D"/>
                </a:solidFill>
                <a:latin typeface="IBM Plex Sans" pitchFamily="34" charset="0"/>
                <a:ea typeface="IBM Plex Sans" pitchFamily="34" charset="-122"/>
                <a:cs typeface="IBM Plex Sans" pitchFamily="34" charset="-120"/>
              </a:rPr>
              <a:t>'0001-10-30 00:00'</a:t>
            </a:r>
            <a:r>
              <a:rPr lang="en-US" sz="1200" dirty="0">
                <a:solidFill>
                  <a:srgbClr val="4A5568"/>
                </a:solidFill>
                <a:latin typeface="IBM Plex Sans" pitchFamily="34" charset="0"/>
                <a:ea typeface="IBM Plex Sans" pitchFamily="34" charset="-122"/>
                <a:cs typeface="IBM Plex Sans" pitchFamily="34" charset="-120"/>
              </a:rPr>
              <a:t>: a corner no example test tried.</a:t>
            </a:r>
            <a:endParaRPr lang="en-US" sz="1200" dirty="0"/>
          </a:p>
        </p:txBody>
      </p:sp>
      <p:sp>
        <p:nvSpPr>
          <p:cNvPr id="13" name="Shape 11"/>
          <p:cNvSpPr/>
          <p:nvPr/>
        </p:nvSpPr>
        <p:spPr>
          <a:xfrm>
            <a:off x="812800" y="4536439"/>
            <a:ext cx="10566400" cy="1046480"/>
          </a:xfrm>
          <a:prstGeom prst="roundRect">
            <a:avLst>
              <a:gd name="adj" fmla="val 9709"/>
            </a:avLst>
          </a:prstGeom>
          <a:solidFill>
            <a:srgbClr val="14213D"/>
          </a:solidFill>
          <a:ln/>
        </p:spPr>
      </p:sp>
      <p:sp>
        <p:nvSpPr>
          <p:cNvPr id="14" name="Text 12"/>
          <p:cNvSpPr/>
          <p:nvPr/>
        </p:nvSpPr>
        <p:spPr>
          <a:xfrm>
            <a:off x="1066800" y="4739639"/>
            <a:ext cx="749300"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7F6F1"/>
                </a:solidFill>
                <a:latin typeface="IBM Plex Sans" pitchFamily="34" charset="0"/>
                <a:ea typeface="IBM Plex Sans" pitchFamily="34" charset="-122"/>
                <a:cs typeface="IBM Plex Sans" pitchFamily="34" charset="-120"/>
              </a:rPr>
              <a:t>16</a:t>
            </a:r>
            <a:endParaRPr lang="en-US" sz="3600" dirty="0"/>
          </a:p>
        </p:txBody>
      </p:sp>
      <p:sp>
        <p:nvSpPr>
          <p:cNvPr id="15" name="Text 13"/>
          <p:cNvSpPr/>
          <p:nvPr/>
        </p:nvSpPr>
        <p:spPr>
          <a:xfrm>
            <a:off x="1968500" y="4810761"/>
            <a:ext cx="943140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E0"/>
                </a:solidFill>
                <a:latin typeface="IBM Plex Sans" pitchFamily="34" charset="0"/>
                <a:ea typeface="IBM Plex Sans" pitchFamily="34" charset="-122"/>
                <a:cs typeface="IBM Plex Sans" pitchFamily="34" charset="-120"/>
              </a:rPr>
              <a:t>requirements traced from the README, docstrings, changelog and code. After the AI baseline: </a:t>
            </a:r>
            <a:r>
              <a:rPr lang="en-US" sz="1400" dirty="0">
                <a:solidFill>
                  <a:srgbClr val="F7F6F1"/>
                </a:solidFill>
                <a:latin typeface="IBM Plex Sans" pitchFamily="34" charset="0"/>
                <a:ea typeface="IBM Plex Sans" pitchFamily="34" charset="-122"/>
                <a:cs typeface="IBM Plex Sans" pitchFamily="34" charset="-120"/>
              </a:rPr>
              <a:t>8 covered, 4 partly, 3 failing, 1 untested.</a:t>
            </a:r>
            <a:endParaRPr lang="en-US" sz="1400" dirty="0"/>
          </a:p>
        </p:txBody>
      </p:sp>
      <p:sp>
        <p:nvSpPr>
          <p:cNvPr id="16" name="Text 14"/>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radon 6.0, pylint 4.1 (9.33/10), ruff 0.17, CrossHair · week6/ and week6/rtm/rtm_week6.csv</a:t>
            </a:r>
            <a:endParaRPr lang="en-US" sz="1200" dirty="0"/>
          </a:p>
        </p:txBody>
      </p:sp>
      <p:sp>
        <p:nvSpPr>
          <p:cNvPr id="17" name="Text 1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B3F0"/>
                </a:solidFill>
                <a:latin typeface="JetBrains Mono" pitchFamily="49" charset="0"/>
                <a:ea typeface="JetBrains Mono" pitchFamily="49" charset="-122"/>
                <a:cs typeface="JetBrains Mono" pitchFamily="49" charset="-120"/>
              </a:rPr>
              <a:t>WEEK 7 · MUTATION TESTING v1</a:t>
            </a:r>
            <a:endParaRPr lang="en-US" sz="1200" dirty="0"/>
          </a:p>
        </p:txBody>
      </p:sp>
      <p:sp>
        <p:nvSpPr>
          <p:cNvPr id="3" name="Text 1"/>
          <p:cNvSpPr/>
          <p:nvPr/>
        </p:nvSpPr>
        <p:spPr>
          <a:xfrm>
            <a:off x="812800" y="1617982"/>
            <a:ext cx="4013200" cy="1168400"/>
          </a:xfrm>
          <a:prstGeom prst="rect">
            <a:avLst/>
          </a:prstGeom>
          <a:noFill/>
          <a:ln/>
        </p:spPr>
        <p:txBody>
          <a:bodyPr wrap="square" lIns="0" tIns="0" rIns="0" bIns="0" rtlCol="0" anchor="t">
            <a:normAutofit/>
          </a:bodyPr>
          <a:lstStyle/>
          <a:p>
            <a:pPr algn="l" indent="0" marL="0">
              <a:lnSpc>
                <a:spcPts val="9000"/>
              </a:lnSpc>
              <a:buNone/>
            </a:pPr>
            <a:r>
              <a:rPr lang="en-US" sz="9000" b="1" dirty="0">
                <a:solidFill>
                  <a:srgbClr val="F7F6F1"/>
                </a:solidFill>
                <a:latin typeface="IBM Plex Sans" pitchFamily="34" charset="0"/>
                <a:ea typeface="IBM Plex Sans" pitchFamily="34" charset="-122"/>
                <a:cs typeface="IBM Plex Sans" pitchFamily="34" charset="-120"/>
              </a:rPr>
              <a:t>57.7%</a:t>
            </a:r>
            <a:endParaRPr lang="en-US" sz="9000" dirty="0"/>
          </a:p>
        </p:txBody>
      </p:sp>
      <p:sp>
        <p:nvSpPr>
          <p:cNvPr id="4" name="Text 2"/>
          <p:cNvSpPr/>
          <p:nvPr/>
        </p:nvSpPr>
        <p:spPr>
          <a:xfrm>
            <a:off x="812800" y="2862582"/>
            <a:ext cx="366268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BE0"/>
                </a:solidFill>
                <a:latin typeface="IBM Plex Sans" pitchFamily="34" charset="0"/>
                <a:ea typeface="IBM Plex Sans" pitchFamily="34" charset="-122"/>
                <a:cs typeface="IBM Plex Sans" pitchFamily="34" charset="-120"/>
              </a:rPr>
              <a:t>of 5,355 planted bugs caught by the AI-only suite. Target: 70%.</a:t>
            </a:r>
            <a:endParaRPr lang="en-US" sz="1600" dirty="0"/>
          </a:p>
        </p:txBody>
      </p:sp>
      <p:sp>
        <p:nvSpPr>
          <p:cNvPr id="5" name="Text 3"/>
          <p:cNvSpPr/>
          <p:nvPr/>
        </p:nvSpPr>
        <p:spPr>
          <a:xfrm>
            <a:off x="812800" y="3533139"/>
            <a:ext cx="3662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7B0"/>
                </a:solidFill>
                <a:latin typeface="IBM Plex Sans" pitchFamily="34" charset="0"/>
                <a:ea typeface="IBM Plex Sans" pitchFamily="34" charset="-122"/>
                <a:cs typeface="IBM Plex Sans" pitchFamily="34" charset="-120"/>
              </a:rPr>
              <a:t>1,878 survived · 386 in code no AI test runs</a:t>
            </a:r>
            <a:endParaRPr lang="en-US" sz="1200" dirty="0"/>
          </a:p>
        </p:txBody>
      </p:sp>
      <p:sp>
        <p:nvSpPr>
          <p:cNvPr id="6" name="Text 4"/>
          <p:cNvSpPr/>
          <p:nvPr/>
        </p:nvSpPr>
        <p:spPr>
          <a:xfrm>
            <a:off x="4826000" y="1330961"/>
            <a:ext cx="15748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BFCBE0"/>
                </a:solidFill>
                <a:latin typeface="IBM Plex Sans" pitchFamily="34" charset="0"/>
                <a:ea typeface="IBM Plex Sans" pitchFamily="34" charset="-122"/>
                <a:cs typeface="IBM Plex Sans" pitchFamily="34" charset="-120"/>
              </a:rPr>
              <a:t>_utils.py</a:t>
            </a:r>
            <a:endParaRPr lang="en-US" sz="1400" dirty="0"/>
          </a:p>
        </p:txBody>
      </p:sp>
      <p:sp>
        <p:nvSpPr>
          <p:cNvPr id="7" name="Shape 5"/>
          <p:cNvSpPr/>
          <p:nvPr/>
        </p:nvSpPr>
        <p:spPr>
          <a:xfrm>
            <a:off x="6553200" y="1341121"/>
            <a:ext cx="3924300" cy="228600"/>
          </a:xfrm>
          <a:prstGeom prst="roundRect">
            <a:avLst>
              <a:gd name="adj" fmla="val 11111"/>
            </a:avLst>
          </a:prstGeom>
          <a:solidFill>
            <a:srgbClr val="5B6B8A"/>
          </a:solidFill>
          <a:ln/>
        </p:spPr>
      </p:sp>
      <p:sp>
        <p:nvSpPr>
          <p:cNvPr id="8" name="Text 6"/>
          <p:cNvSpPr/>
          <p:nvPr/>
        </p:nvSpPr>
        <p:spPr>
          <a:xfrm>
            <a:off x="10629900" y="1330961"/>
            <a:ext cx="6398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1"/>
                </a:solidFill>
                <a:latin typeface="IBM Plex Sans" pitchFamily="34" charset="0"/>
                <a:ea typeface="IBM Plex Sans" pitchFamily="34" charset="-122"/>
                <a:cs typeface="IBM Plex Sans" pitchFamily="34" charset="-120"/>
              </a:rPr>
              <a:t>95.0%</a:t>
            </a:r>
            <a:endParaRPr lang="en-US" sz="1400" dirty="0"/>
          </a:p>
        </p:txBody>
      </p:sp>
      <p:sp>
        <p:nvSpPr>
          <p:cNvPr id="9" name="Text 7"/>
          <p:cNvSpPr/>
          <p:nvPr/>
        </p:nvSpPr>
        <p:spPr>
          <a:xfrm>
            <a:off x="4826000" y="1681482"/>
            <a:ext cx="15748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BFCBE0"/>
                </a:solidFill>
                <a:latin typeface="IBM Plex Sans" pitchFamily="34" charset="0"/>
                <a:ea typeface="IBM Plex Sans" pitchFamily="34" charset="-122"/>
                <a:cs typeface="IBM Plex Sans" pitchFamily="34" charset="-120"/>
              </a:rPr>
              <a:t>api.py</a:t>
            </a:r>
            <a:endParaRPr lang="en-US" sz="1400" dirty="0"/>
          </a:p>
        </p:txBody>
      </p:sp>
      <p:sp>
        <p:nvSpPr>
          <p:cNvPr id="10" name="Shape 8"/>
          <p:cNvSpPr/>
          <p:nvPr/>
        </p:nvSpPr>
        <p:spPr>
          <a:xfrm>
            <a:off x="6553200" y="1691639"/>
            <a:ext cx="3416300" cy="228600"/>
          </a:xfrm>
          <a:prstGeom prst="roundRect">
            <a:avLst>
              <a:gd name="adj" fmla="val 11111"/>
            </a:avLst>
          </a:prstGeom>
          <a:solidFill>
            <a:srgbClr val="5B6B8A"/>
          </a:solidFill>
          <a:ln/>
        </p:spPr>
      </p:sp>
      <p:sp>
        <p:nvSpPr>
          <p:cNvPr id="11" name="Text 9"/>
          <p:cNvSpPr/>
          <p:nvPr/>
        </p:nvSpPr>
        <p:spPr>
          <a:xfrm>
            <a:off x="10121900" y="1681482"/>
            <a:ext cx="6398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1"/>
                </a:solidFill>
                <a:latin typeface="IBM Plex Sans" pitchFamily="34" charset="0"/>
                <a:ea typeface="IBM Plex Sans" pitchFamily="34" charset="-122"/>
                <a:cs typeface="IBM Plex Sans" pitchFamily="34" charset="-120"/>
              </a:rPr>
              <a:t>82.7%</a:t>
            </a:r>
            <a:endParaRPr lang="en-US" sz="1400" dirty="0"/>
          </a:p>
        </p:txBody>
      </p:sp>
      <p:sp>
        <p:nvSpPr>
          <p:cNvPr id="12" name="Text 10"/>
          <p:cNvSpPr/>
          <p:nvPr/>
        </p:nvSpPr>
        <p:spPr>
          <a:xfrm>
            <a:off x="4826000" y="2032000"/>
            <a:ext cx="15748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BFCBE0"/>
                </a:solidFill>
                <a:latin typeface="IBM Plex Sans" pitchFamily="34" charset="0"/>
                <a:ea typeface="IBM Plex Sans" pitchFamily="34" charset="-122"/>
                <a:cs typeface="IBM Plex Sans" pitchFamily="34" charset="-120"/>
              </a:rPr>
              <a:t>source.py</a:t>
            </a:r>
            <a:endParaRPr lang="en-US" sz="1400" dirty="0"/>
          </a:p>
        </p:txBody>
      </p:sp>
      <p:sp>
        <p:nvSpPr>
          <p:cNvPr id="13" name="Shape 11"/>
          <p:cNvSpPr/>
          <p:nvPr/>
        </p:nvSpPr>
        <p:spPr>
          <a:xfrm>
            <a:off x="6553200" y="2042161"/>
            <a:ext cx="3416300" cy="228600"/>
          </a:xfrm>
          <a:prstGeom prst="roundRect">
            <a:avLst>
              <a:gd name="adj" fmla="val 11111"/>
            </a:avLst>
          </a:prstGeom>
          <a:solidFill>
            <a:srgbClr val="5B6B8A"/>
          </a:solidFill>
          <a:ln/>
        </p:spPr>
      </p:sp>
      <p:sp>
        <p:nvSpPr>
          <p:cNvPr id="14" name="Text 12"/>
          <p:cNvSpPr/>
          <p:nvPr/>
        </p:nvSpPr>
        <p:spPr>
          <a:xfrm>
            <a:off x="10121900" y="2032000"/>
            <a:ext cx="6398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1"/>
                </a:solidFill>
                <a:latin typeface="IBM Plex Sans" pitchFamily="34" charset="0"/>
                <a:ea typeface="IBM Plex Sans" pitchFamily="34" charset="-122"/>
                <a:cs typeface="IBM Plex Sans" pitchFamily="34" charset="-120"/>
              </a:rPr>
              <a:t>82.7%</a:t>
            </a:r>
            <a:endParaRPr lang="en-US" sz="1400" dirty="0"/>
          </a:p>
        </p:txBody>
      </p:sp>
      <p:sp>
        <p:nvSpPr>
          <p:cNvPr id="15" name="Text 13"/>
          <p:cNvSpPr/>
          <p:nvPr/>
        </p:nvSpPr>
        <p:spPr>
          <a:xfrm>
            <a:off x="4826000" y="2382521"/>
            <a:ext cx="15748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BFCBE0"/>
                </a:solidFill>
                <a:latin typeface="IBM Plex Sans" pitchFamily="34" charset="0"/>
                <a:ea typeface="IBM Plex Sans" pitchFamily="34" charset="-122"/>
                <a:cs typeface="IBM Plex Sans" pitchFamily="34" charset="-120"/>
              </a:rPr>
              <a:t>toml_file.py</a:t>
            </a:r>
            <a:endParaRPr lang="en-US" sz="1400" dirty="0"/>
          </a:p>
        </p:txBody>
      </p:sp>
      <p:sp>
        <p:nvSpPr>
          <p:cNvPr id="16" name="Shape 14"/>
          <p:cNvSpPr/>
          <p:nvPr/>
        </p:nvSpPr>
        <p:spPr>
          <a:xfrm>
            <a:off x="6553200" y="2392682"/>
            <a:ext cx="2997200" cy="228600"/>
          </a:xfrm>
          <a:prstGeom prst="roundRect">
            <a:avLst>
              <a:gd name="adj" fmla="val 11111"/>
            </a:avLst>
          </a:prstGeom>
          <a:solidFill>
            <a:srgbClr val="5B6B8A"/>
          </a:solidFill>
          <a:ln/>
        </p:spPr>
      </p:sp>
      <p:sp>
        <p:nvSpPr>
          <p:cNvPr id="17" name="Text 15"/>
          <p:cNvSpPr/>
          <p:nvPr/>
        </p:nvSpPr>
        <p:spPr>
          <a:xfrm>
            <a:off x="9702800" y="2382521"/>
            <a:ext cx="6398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1"/>
                </a:solidFill>
                <a:latin typeface="IBM Plex Sans" pitchFamily="34" charset="0"/>
                <a:ea typeface="IBM Plex Sans" pitchFamily="34" charset="-122"/>
                <a:cs typeface="IBM Plex Sans" pitchFamily="34" charset="-120"/>
              </a:rPr>
              <a:t>72.6%</a:t>
            </a:r>
            <a:endParaRPr lang="en-US" sz="1400" dirty="0"/>
          </a:p>
        </p:txBody>
      </p:sp>
      <p:sp>
        <p:nvSpPr>
          <p:cNvPr id="18" name="Text 16"/>
          <p:cNvSpPr/>
          <p:nvPr/>
        </p:nvSpPr>
        <p:spPr>
          <a:xfrm>
            <a:off x="4826000" y="2733039"/>
            <a:ext cx="1574800"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F7F6F1"/>
                </a:solidFill>
                <a:latin typeface="IBM Plex Sans" pitchFamily="34" charset="0"/>
                <a:ea typeface="IBM Plex Sans" pitchFamily="34" charset="-122"/>
                <a:cs typeface="IBM Plex Sans" pitchFamily="34" charset="-120"/>
              </a:rPr>
              <a:t>parser.py</a:t>
            </a:r>
            <a:endParaRPr lang="en-US" sz="1400" dirty="0"/>
          </a:p>
        </p:txBody>
      </p:sp>
      <p:sp>
        <p:nvSpPr>
          <p:cNvPr id="19" name="Shape 17"/>
          <p:cNvSpPr/>
          <p:nvPr/>
        </p:nvSpPr>
        <p:spPr>
          <a:xfrm>
            <a:off x="6553200" y="2743200"/>
            <a:ext cx="2641600" cy="228600"/>
          </a:xfrm>
          <a:prstGeom prst="roundRect">
            <a:avLst>
              <a:gd name="adj" fmla="val 11111"/>
            </a:avLst>
          </a:prstGeom>
          <a:solidFill>
            <a:srgbClr val="8FB3F0"/>
          </a:solidFill>
          <a:ln/>
        </p:spPr>
      </p:sp>
      <p:sp>
        <p:nvSpPr>
          <p:cNvPr id="20" name="Text 18"/>
          <p:cNvSpPr/>
          <p:nvPr/>
        </p:nvSpPr>
        <p:spPr>
          <a:xfrm>
            <a:off x="9347200" y="2733039"/>
            <a:ext cx="6398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1"/>
                </a:solidFill>
                <a:latin typeface="IBM Plex Sans" pitchFamily="34" charset="0"/>
                <a:ea typeface="IBM Plex Sans" pitchFamily="34" charset="-122"/>
                <a:cs typeface="IBM Plex Sans" pitchFamily="34" charset="-120"/>
              </a:rPr>
              <a:t>64.0%</a:t>
            </a:r>
            <a:endParaRPr lang="en-US" sz="1400" dirty="0"/>
          </a:p>
        </p:txBody>
      </p:sp>
      <p:sp>
        <p:nvSpPr>
          <p:cNvPr id="21" name="Text 19"/>
          <p:cNvSpPr/>
          <p:nvPr/>
        </p:nvSpPr>
        <p:spPr>
          <a:xfrm>
            <a:off x="4826000" y="3083561"/>
            <a:ext cx="1574800"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F7F6F1"/>
                </a:solidFill>
                <a:latin typeface="IBM Plex Sans" pitchFamily="34" charset="0"/>
                <a:ea typeface="IBM Plex Sans" pitchFamily="34" charset="-122"/>
                <a:cs typeface="IBM Plex Sans" pitchFamily="34" charset="-120"/>
              </a:rPr>
              <a:t>items.py</a:t>
            </a:r>
            <a:endParaRPr lang="en-US" sz="1400" dirty="0"/>
          </a:p>
        </p:txBody>
      </p:sp>
      <p:sp>
        <p:nvSpPr>
          <p:cNvPr id="22" name="Shape 20"/>
          <p:cNvSpPr/>
          <p:nvPr/>
        </p:nvSpPr>
        <p:spPr>
          <a:xfrm>
            <a:off x="6553200" y="3093721"/>
            <a:ext cx="2241550" cy="228600"/>
          </a:xfrm>
          <a:prstGeom prst="roundRect">
            <a:avLst>
              <a:gd name="adj" fmla="val 11111"/>
            </a:avLst>
          </a:prstGeom>
          <a:solidFill>
            <a:srgbClr val="8FB3F0"/>
          </a:solidFill>
          <a:ln/>
        </p:spPr>
      </p:sp>
      <p:sp>
        <p:nvSpPr>
          <p:cNvPr id="23" name="Text 21"/>
          <p:cNvSpPr/>
          <p:nvPr/>
        </p:nvSpPr>
        <p:spPr>
          <a:xfrm>
            <a:off x="8947150" y="3083561"/>
            <a:ext cx="6398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1"/>
                </a:solidFill>
                <a:latin typeface="IBM Plex Sans" pitchFamily="34" charset="0"/>
                <a:ea typeface="IBM Plex Sans" pitchFamily="34" charset="-122"/>
                <a:cs typeface="IBM Plex Sans" pitchFamily="34" charset="-120"/>
              </a:rPr>
              <a:t>54.3%</a:t>
            </a:r>
            <a:endParaRPr lang="en-US" sz="1400" dirty="0"/>
          </a:p>
        </p:txBody>
      </p:sp>
      <p:sp>
        <p:nvSpPr>
          <p:cNvPr id="24" name="Text 22"/>
          <p:cNvSpPr/>
          <p:nvPr/>
        </p:nvSpPr>
        <p:spPr>
          <a:xfrm>
            <a:off x="4826000" y="3434082"/>
            <a:ext cx="1574800"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F7F6F1"/>
                </a:solidFill>
                <a:latin typeface="IBM Plex Sans" pitchFamily="34" charset="0"/>
                <a:ea typeface="IBM Plex Sans" pitchFamily="34" charset="-122"/>
                <a:cs typeface="IBM Plex Sans" pitchFamily="34" charset="-120"/>
              </a:rPr>
              <a:t>container.py</a:t>
            </a:r>
            <a:endParaRPr lang="en-US" sz="1400" dirty="0"/>
          </a:p>
        </p:txBody>
      </p:sp>
      <p:sp>
        <p:nvSpPr>
          <p:cNvPr id="25" name="Shape 23"/>
          <p:cNvSpPr/>
          <p:nvPr/>
        </p:nvSpPr>
        <p:spPr>
          <a:xfrm>
            <a:off x="6553200" y="3444239"/>
            <a:ext cx="1949450" cy="228600"/>
          </a:xfrm>
          <a:prstGeom prst="roundRect">
            <a:avLst>
              <a:gd name="adj" fmla="val 11111"/>
            </a:avLst>
          </a:prstGeom>
          <a:solidFill>
            <a:srgbClr val="8FB3F0"/>
          </a:solidFill>
          <a:ln/>
        </p:spPr>
      </p:sp>
      <p:sp>
        <p:nvSpPr>
          <p:cNvPr id="26" name="Text 24"/>
          <p:cNvSpPr/>
          <p:nvPr/>
        </p:nvSpPr>
        <p:spPr>
          <a:xfrm>
            <a:off x="8655050" y="3434082"/>
            <a:ext cx="6398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1"/>
                </a:solidFill>
                <a:latin typeface="IBM Plex Sans" pitchFamily="34" charset="0"/>
                <a:ea typeface="IBM Plex Sans" pitchFamily="34" charset="-122"/>
                <a:cs typeface="IBM Plex Sans" pitchFamily="34" charset="-120"/>
              </a:rPr>
              <a:t>47.2%</a:t>
            </a:r>
            <a:endParaRPr lang="en-US" sz="1400" dirty="0"/>
          </a:p>
        </p:txBody>
      </p:sp>
      <p:sp>
        <p:nvSpPr>
          <p:cNvPr id="27" name="Text 25"/>
          <p:cNvSpPr/>
          <p:nvPr/>
        </p:nvSpPr>
        <p:spPr>
          <a:xfrm>
            <a:off x="4826000" y="3784600"/>
            <a:ext cx="15748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BFCBE0"/>
                </a:solidFill>
                <a:latin typeface="IBM Plex Sans" pitchFamily="34" charset="0"/>
                <a:ea typeface="IBM Plex Sans" pitchFamily="34" charset="-122"/>
                <a:cs typeface="IBM Plex Sans" pitchFamily="34" charset="-120"/>
              </a:rPr>
              <a:t>exceptions.py</a:t>
            </a:r>
            <a:endParaRPr lang="en-US" sz="1400" dirty="0"/>
          </a:p>
        </p:txBody>
      </p:sp>
      <p:sp>
        <p:nvSpPr>
          <p:cNvPr id="28" name="Shape 26"/>
          <p:cNvSpPr/>
          <p:nvPr/>
        </p:nvSpPr>
        <p:spPr>
          <a:xfrm>
            <a:off x="6553200" y="3794761"/>
            <a:ext cx="1371600" cy="228600"/>
          </a:xfrm>
          <a:prstGeom prst="roundRect">
            <a:avLst>
              <a:gd name="adj" fmla="val 11111"/>
            </a:avLst>
          </a:prstGeom>
          <a:solidFill>
            <a:srgbClr val="5B6B8A"/>
          </a:solidFill>
          <a:ln/>
        </p:spPr>
      </p:sp>
      <p:sp>
        <p:nvSpPr>
          <p:cNvPr id="29" name="Text 27"/>
          <p:cNvSpPr/>
          <p:nvPr/>
        </p:nvSpPr>
        <p:spPr>
          <a:xfrm>
            <a:off x="8077200" y="3784600"/>
            <a:ext cx="6398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1"/>
                </a:solidFill>
                <a:latin typeface="IBM Plex Sans" pitchFamily="34" charset="0"/>
                <a:ea typeface="IBM Plex Sans" pitchFamily="34" charset="-122"/>
                <a:cs typeface="IBM Plex Sans" pitchFamily="34" charset="-120"/>
              </a:rPr>
              <a:t>33.3%</a:t>
            </a:r>
            <a:endParaRPr lang="en-US" sz="1400" dirty="0"/>
          </a:p>
        </p:txBody>
      </p:sp>
      <p:sp>
        <p:nvSpPr>
          <p:cNvPr id="30" name="Shape 28"/>
          <p:cNvSpPr/>
          <p:nvPr/>
        </p:nvSpPr>
        <p:spPr>
          <a:xfrm>
            <a:off x="9442450" y="1330961"/>
            <a:ext cx="19050" cy="3048000"/>
          </a:xfrm>
          <a:prstGeom prst="rect">
            <a:avLst/>
          </a:prstGeom>
          <a:solidFill>
            <a:srgbClr val="E8A35C"/>
          </a:solidFill>
          <a:ln/>
        </p:spPr>
      </p:sp>
      <p:sp>
        <p:nvSpPr>
          <p:cNvPr id="31" name="Text 29"/>
          <p:cNvSpPr/>
          <p:nvPr/>
        </p:nvSpPr>
        <p:spPr>
          <a:xfrm>
            <a:off x="9518650" y="4429761"/>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5C"/>
                </a:solidFill>
                <a:latin typeface="IBM Plex Sans" pitchFamily="34" charset="0"/>
                <a:ea typeface="IBM Plex Sans" pitchFamily="34" charset="-122"/>
                <a:cs typeface="IBM Plex Sans" pitchFamily="34" charset="-120"/>
              </a:rPr>
              <a:t>target 70%</a:t>
            </a:r>
            <a:endParaRPr lang="en-US" sz="1200" dirty="0"/>
          </a:p>
        </p:txBody>
      </p:sp>
      <p:sp>
        <p:nvSpPr>
          <p:cNvPr id="32" name="Text 30"/>
          <p:cNvSpPr/>
          <p:nvPr/>
        </p:nvSpPr>
        <p:spPr>
          <a:xfrm>
            <a:off x="812800" y="4338321"/>
            <a:ext cx="10464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E0"/>
                </a:solidFill>
                <a:latin typeface="IBM Plex Sans" pitchFamily="34" charset="0"/>
                <a:ea typeface="IBM Plex Sans" pitchFamily="34" charset="-122"/>
                <a:cs typeface="IBM Plex Sans" pitchFamily="34" charset="-120"/>
              </a:rPr>
              <a:t>Light blue: the three modules with more than 1,000 mutants each, 86% of the total. All three fall short.</a:t>
            </a:r>
            <a:endParaRPr lang="en-US" sz="1400" dirty="0"/>
          </a:p>
        </p:txBody>
      </p:sp>
      <p:sp>
        <p:nvSpPr>
          <p:cNvPr id="33" name="Text 31"/>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7B0"/>
                </a:solidFill>
                <a:latin typeface="IBM Plex Sans" pitchFamily="34" charset="0"/>
                <a:ea typeface="IBM Plex Sans" pitchFamily="34" charset="-122"/>
                <a:cs typeface="IBM Plex Sans" pitchFamily="34" charset="-120"/>
              </a:rPr>
              <a:t>mutmut 3.8.0 on tests_ai/ at commit efb2bc0 (pre-TDD code) · week7/mutmut_results_v1.txt</a:t>
            </a:r>
            <a:endParaRPr lang="en-US" sz="1200" dirty="0"/>
          </a:p>
        </p:txBody>
      </p:sp>
      <p:sp>
        <p:nvSpPr>
          <p:cNvPr id="34" name="Text 3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7B0"/>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B8"/>
                </a:solidFill>
                <a:latin typeface="JetBrains Mono" pitchFamily="49" charset="0"/>
                <a:ea typeface="JetBrains Mono" pitchFamily="49" charset="-122"/>
                <a:cs typeface="JetBrains Mono" pitchFamily="49" charset="-120"/>
              </a:rPr>
              <a:t>WEEK 7 · WHY MUTANTS SURVIVED</a:t>
            </a:r>
            <a:endParaRPr lang="en-US" sz="1200" dirty="0"/>
          </a:p>
        </p:txBody>
      </p:sp>
      <p:sp>
        <p:nvSpPr>
          <p:cNvPr id="3" name="Text 1"/>
          <p:cNvSpPr/>
          <p:nvPr>
            <p:ph type="title"/>
          </p:nvPr>
        </p:nvSpPr>
        <p:spPr>
          <a:xfrm>
            <a:off x="812800" y="1330961"/>
            <a:ext cx="10464800"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The AI picked typical examples instead of designing inputs</a:t>
            </a:r>
            <a:endParaRPr lang="en-US" sz="3600" dirty="0"/>
          </a:p>
        </p:txBody>
      </p:sp>
      <p:sp>
        <p:nvSpPr>
          <p:cNvPr id="4" name="Shape 2"/>
          <p:cNvSpPr/>
          <p:nvPr/>
        </p:nvSpPr>
        <p:spPr>
          <a:xfrm>
            <a:off x="815975" y="2644775"/>
            <a:ext cx="5200650" cy="1156970"/>
          </a:xfrm>
          <a:prstGeom prst="roundRect">
            <a:avLst>
              <a:gd name="adj" fmla="val 8507"/>
            </a:avLst>
          </a:prstGeom>
          <a:solidFill>
            <a:srgbClr val="FFFFFF"/>
          </a:solidFill>
          <a:ln w="6350">
            <a:solidFill>
              <a:srgbClr val="DEDCD3"/>
            </a:solidFill>
            <a:prstDash val="solid"/>
          </a:ln>
        </p:spPr>
      </p:sp>
      <p:sp>
        <p:nvSpPr>
          <p:cNvPr id="5" name="Text 3"/>
          <p:cNvSpPr/>
          <p:nvPr/>
        </p:nvSpPr>
        <p:spPr>
          <a:xfrm>
            <a:off x="1071880" y="2849882"/>
            <a:ext cx="482950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Loose assertions</a:t>
            </a:r>
            <a:endParaRPr lang="en-US" sz="1600" dirty="0"/>
          </a:p>
        </p:txBody>
      </p:sp>
      <p:sp>
        <p:nvSpPr>
          <p:cNvPr id="6" name="Text 4"/>
          <p:cNvSpPr/>
          <p:nvPr/>
        </p:nvSpPr>
        <p:spPr>
          <a:xfrm>
            <a:off x="1071880" y="3169921"/>
            <a:ext cx="482950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The only position test said </a:t>
            </a:r>
            <a:r>
              <a:rPr lang="en-US" sz="1200" dirty="0">
                <a:solidFill>
                  <a:srgbClr val="14213D"/>
                </a:solidFill>
                <a:latin typeface="IBM Plex Sans" pitchFamily="34" charset="0"/>
                <a:ea typeface="IBM Plex Sans" pitchFamily="34" charset="-122"/>
                <a:cs typeface="IBM Plex Sans" pitchFamily="34" charset="-120"/>
              </a:rPr>
              <a:t>col &gt;= 4</a:t>
            </a:r>
            <a:r>
              <a:rPr lang="en-US" sz="1200" dirty="0">
                <a:solidFill>
                  <a:srgbClr val="4A5568"/>
                </a:solidFill>
                <a:latin typeface="IBM Plex Sans" pitchFamily="34" charset="0"/>
                <a:ea typeface="IBM Plex Sans" pitchFamily="34" charset="-122"/>
                <a:cs typeface="IBM Plex Sans" pitchFamily="34" charset="-120"/>
              </a:rPr>
              <a:t>, so an off-by-one column survived. Fix: assert the exact (line, col).</a:t>
            </a:r>
            <a:endParaRPr lang="en-US" sz="1200" dirty="0"/>
          </a:p>
        </p:txBody>
      </p:sp>
      <p:sp>
        <p:nvSpPr>
          <p:cNvPr id="7" name="Shape 5"/>
          <p:cNvSpPr/>
          <p:nvPr/>
        </p:nvSpPr>
        <p:spPr>
          <a:xfrm>
            <a:off x="6175375" y="2644775"/>
            <a:ext cx="5200650" cy="1156970"/>
          </a:xfrm>
          <a:prstGeom prst="roundRect">
            <a:avLst>
              <a:gd name="adj" fmla="val 8507"/>
            </a:avLst>
          </a:prstGeom>
          <a:solidFill>
            <a:srgbClr val="FFFFFF"/>
          </a:solidFill>
          <a:ln w="6350">
            <a:solidFill>
              <a:srgbClr val="DEDCD3"/>
            </a:solidFill>
            <a:prstDash val="solid"/>
          </a:ln>
        </p:spPr>
      </p:sp>
      <p:sp>
        <p:nvSpPr>
          <p:cNvPr id="8" name="Text 6"/>
          <p:cNvSpPr/>
          <p:nvPr/>
        </p:nvSpPr>
        <p:spPr>
          <a:xfrm>
            <a:off x="6431280" y="2849882"/>
            <a:ext cx="482950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One example per class</a:t>
            </a:r>
            <a:endParaRPr lang="en-US" sz="1600" dirty="0"/>
          </a:p>
        </p:txBody>
      </p:sp>
      <p:sp>
        <p:nvSpPr>
          <p:cNvPr id="9" name="Text 7"/>
          <p:cNvSpPr/>
          <p:nvPr/>
        </p:nvSpPr>
        <p:spPr>
          <a:xfrm>
            <a:off x="6431280" y="3169921"/>
            <a:ext cx="482950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Tested “\n” but never “\r” in comments; tested one bad escape, not backslash + space. Fix: equivalence partitioning.</a:t>
            </a:r>
            <a:endParaRPr lang="en-US" sz="1200" dirty="0"/>
          </a:p>
        </p:txBody>
      </p:sp>
      <p:sp>
        <p:nvSpPr>
          <p:cNvPr id="10" name="Shape 8"/>
          <p:cNvSpPr/>
          <p:nvPr/>
        </p:nvSpPr>
        <p:spPr>
          <a:xfrm>
            <a:off x="815975" y="3960496"/>
            <a:ext cx="5200650" cy="1156970"/>
          </a:xfrm>
          <a:prstGeom prst="roundRect">
            <a:avLst>
              <a:gd name="adj" fmla="val 8507"/>
            </a:avLst>
          </a:prstGeom>
          <a:solidFill>
            <a:srgbClr val="FFFFFF"/>
          </a:solidFill>
          <a:ln w="6350">
            <a:solidFill>
              <a:srgbClr val="DEDCD3"/>
            </a:solidFill>
            <a:prstDash val="solid"/>
          </a:ln>
        </p:spPr>
      </p:sp>
      <p:sp>
        <p:nvSpPr>
          <p:cNvPr id="11" name="Text 9"/>
          <p:cNvSpPr/>
          <p:nvPr/>
        </p:nvSpPr>
        <p:spPr>
          <a:xfrm>
            <a:off x="1071880" y="4165600"/>
            <a:ext cx="482950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Missing boundaries</a:t>
            </a:r>
            <a:endParaRPr lang="en-US" sz="1600" dirty="0"/>
          </a:p>
        </p:txBody>
      </p:sp>
      <p:sp>
        <p:nvSpPr>
          <p:cNvPr id="12" name="Text 10"/>
          <p:cNvSpPr/>
          <p:nvPr/>
        </p:nvSpPr>
        <p:spPr>
          <a:xfrm>
            <a:off x="1071880" y="4485642"/>
            <a:ext cx="482950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Offsets +05:30 and −08:00 hid a parser that dropped the first digit; +10:00 exposes it. Fix: boundary value analysis.</a:t>
            </a:r>
            <a:endParaRPr lang="en-US" sz="1200" dirty="0"/>
          </a:p>
        </p:txBody>
      </p:sp>
      <p:sp>
        <p:nvSpPr>
          <p:cNvPr id="13" name="Shape 11"/>
          <p:cNvSpPr/>
          <p:nvPr/>
        </p:nvSpPr>
        <p:spPr>
          <a:xfrm>
            <a:off x="6175375" y="3960496"/>
            <a:ext cx="5200650" cy="1156970"/>
          </a:xfrm>
          <a:prstGeom prst="roundRect">
            <a:avLst>
              <a:gd name="adj" fmla="val 8507"/>
            </a:avLst>
          </a:prstGeom>
          <a:solidFill>
            <a:srgbClr val="FFFFFF"/>
          </a:solidFill>
          <a:ln w="6350">
            <a:solidFill>
              <a:srgbClr val="DEDCD3"/>
            </a:solidFill>
            <a:prstDash val="solid"/>
          </a:ln>
        </p:spPr>
      </p:sp>
      <p:sp>
        <p:nvSpPr>
          <p:cNvPr id="14" name="Text 12"/>
          <p:cNvSpPr/>
          <p:nvPr/>
        </p:nvSpPr>
        <p:spPr>
          <a:xfrm>
            <a:off x="6431280" y="4165600"/>
            <a:ext cx="482950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Untested combinations</a:t>
            </a:r>
            <a:endParaRPr lang="en-US" sz="1600" dirty="0"/>
          </a:p>
        </p:txBody>
      </p:sp>
      <p:sp>
        <p:nvSpPr>
          <p:cNvPr id="15" name="Text 13"/>
          <p:cNvSpPr/>
          <p:nvPr/>
        </p:nvSpPr>
        <p:spPr>
          <a:xfrm>
            <a:off x="6431280" y="4485642"/>
            <a:ext cx="482950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sort_keys was tested on tables but never on arrays of tables. Fix: a decision table.</a:t>
            </a:r>
            <a:endParaRPr lang="en-US" sz="1200" dirty="0"/>
          </a:p>
        </p:txBody>
      </p:sp>
      <p:sp>
        <p:nvSpPr>
          <p:cNvPr id="16" name="Text 14"/>
          <p:cNvSpPr/>
          <p:nvPr/>
        </p:nvSpPr>
        <p:spPr>
          <a:xfrm>
            <a:off x="812800" y="542544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We wrote 11 manual tests, one per root cause, and confirmed each one fails against its mutant and passes on the real code.</a:t>
            </a:r>
            <a:endParaRPr lang="en-US" sz="1400" dirty="0"/>
          </a:p>
        </p:txBody>
      </p:sp>
      <p:sp>
        <p:nvSpPr>
          <p:cNvPr id="17" name="Text 15"/>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tests_manual/test_kill_v1.py · ~15% of survivors judged equivalent (sample of 25)</a:t>
            </a:r>
            <a:endParaRPr lang="en-US" sz="12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B8"/>
                </a:solidFill>
                <a:latin typeface="JetBrains Mono" pitchFamily="49" charset="0"/>
                <a:ea typeface="JetBrains Mono" pitchFamily="49" charset="-122"/>
                <a:cs typeface="JetBrains Mono" pitchFamily="49" charset="-120"/>
              </a:rPr>
              <a:t>TRACK D · PROPERTY-BASED TESTING</a:t>
            </a:r>
            <a:endParaRPr lang="en-US" sz="1200" dirty="0"/>
          </a:p>
        </p:txBody>
      </p:sp>
      <p:sp>
        <p:nvSpPr>
          <p:cNvPr id="3" name="Text 1"/>
          <p:cNvSpPr/>
          <p:nvPr>
            <p:ph type="title"/>
          </p:nvPr>
        </p:nvSpPr>
        <p:spPr>
          <a:xfrm>
            <a:off x="812800" y="1330964"/>
            <a:ext cx="10464800"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Hypothesis found a bug no example test had tried</a:t>
            </a:r>
            <a:endParaRPr lang="en-US" sz="3600" dirty="0"/>
          </a:p>
        </p:txBody>
      </p:sp>
      <p:sp>
        <p:nvSpPr>
          <p:cNvPr id="4" name="Text 2"/>
          <p:cNvSpPr/>
          <p:nvPr/>
        </p:nvSpPr>
        <p:spPr>
          <a:xfrm>
            <a:off x="812800" y="2641600"/>
            <a:ext cx="651433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Instead of examples, we state rules that must hold for every input, and Hypothesis generates hundreds of inputs to break them.</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3347724"/>
          <a:ext cx="6314440" cy="2141220"/>
        </p:xfrm>
        <a:graphic>
          <a:graphicData uri="http://schemas.openxmlformats.org/drawingml/2006/table">
            <a:tbl>
              <a:tblPr/>
              <a:tblGrid>
                <a:gridCol w="3914953"/>
                <a:gridCol w="2399487"/>
              </a:tblGrid>
              <a:tr h="356870">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Property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Result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dumps then parse keeps the data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holds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unchanged document re-serialises byte-for-byte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holds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any string round-trips, all 4 string kinds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A9480F"/>
                          </a:solidFill>
                          <a:latin typeface="IBM Plex Sans" pitchFamily="34" charset="0"/>
                          <a:ea typeface="IBM Plex Sans" pitchFamily="34" charset="-122"/>
                          <a:cs typeface="IBM Plex Sans" pitchFamily="34" charset="-120"/>
                        </a:rPr>
                        <a:t>found D7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64-bit integers round-trip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holds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date/time factories accept only their kind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A9480F"/>
                          </a:solidFill>
                          <a:latin typeface="IBM Plex Sans" pitchFamily="34" charset="0"/>
                          <a:ea typeface="IBM Plex Sans" pitchFamily="34" charset="-122"/>
                          <a:cs typeface="IBM Plex Sans" pitchFamily="34" charset="-120"/>
                        </a:rPr>
                        <a:t>re-found D1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6" name="Shape 3"/>
          <p:cNvSpPr/>
          <p:nvPr/>
        </p:nvSpPr>
        <p:spPr>
          <a:xfrm>
            <a:off x="7442200" y="2641600"/>
            <a:ext cx="3937000" cy="2847340"/>
          </a:xfrm>
          <a:prstGeom prst="roundRect">
            <a:avLst>
              <a:gd name="adj" fmla="val 3568"/>
            </a:avLst>
          </a:prstGeom>
          <a:solidFill>
            <a:srgbClr val="14213D"/>
          </a:solidFill>
          <a:ln/>
        </p:spPr>
      </p:sp>
      <p:sp>
        <p:nvSpPr>
          <p:cNvPr id="7" name="Text 4"/>
          <p:cNvSpPr/>
          <p:nvPr/>
        </p:nvSpPr>
        <p:spPr>
          <a:xfrm>
            <a:off x="7696200" y="2895600"/>
            <a:ext cx="35318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B3F0"/>
                </a:solidFill>
                <a:latin typeface="JetBrains Mono" pitchFamily="49" charset="0"/>
                <a:ea typeface="JetBrains Mono" pitchFamily="49" charset="-122"/>
                <a:cs typeface="JetBrains Mono" pitchFamily="49" charset="-120"/>
              </a:rPr>
              <a:t>SHRUNK COUNTEREXAMPLE</a:t>
            </a:r>
            <a:endParaRPr lang="en-US" sz="1200" dirty="0"/>
          </a:p>
        </p:txBody>
      </p:sp>
      <p:sp>
        <p:nvSpPr>
          <p:cNvPr id="8" name="Text 5"/>
          <p:cNvSpPr/>
          <p:nvPr/>
        </p:nvSpPr>
        <p:spPr>
          <a:xfrm>
            <a:off x="7696200" y="3210564"/>
            <a:ext cx="353187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7F6F1"/>
                </a:solidFill>
                <a:latin typeface="JetBrains Mono" pitchFamily="49" charset="0"/>
                <a:ea typeface="JetBrains Mono" pitchFamily="49" charset="-122"/>
                <a:cs typeface="JetBrains Mono" pitchFamily="49" charset="-120"/>
              </a:rPr>
              <a:t>string("\r",</a:t>
            </a:r>
            <a:endParaRPr lang="en-US" sz="1800" dirty="0"/>
          </a:p>
          <a:p>
            <a:pPr algn="l" indent="0" marL="0">
              <a:lnSpc>
                <a:spcPts val="2520"/>
              </a:lnSpc>
              <a:buNone/>
            </a:pPr>
            <a:r>
              <a:rPr lang="en-US" sz="1800" dirty="0">
                <a:solidFill>
                  <a:srgbClr val="F7F6F1"/>
                </a:solidFill>
                <a:latin typeface="JetBrains Mono" pitchFamily="49" charset="0"/>
                <a:ea typeface="JetBrains Mono" pitchFamily="49" charset="-122"/>
                <a:cs typeface="JetBrains Mono" pitchFamily="49" charset="-120"/>
              </a:rPr>
              <a:t>multiline=True)</a:t>
            </a:r>
            <a:endParaRPr lang="en-US" sz="1800" dirty="0"/>
          </a:p>
        </p:txBody>
      </p:sp>
      <p:sp>
        <p:nvSpPr>
          <p:cNvPr id="9" name="Text 6"/>
          <p:cNvSpPr/>
          <p:nvPr/>
        </p:nvSpPr>
        <p:spPr>
          <a:xfrm>
            <a:off x="7696200" y="3952242"/>
            <a:ext cx="353187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E0"/>
                </a:solidFill>
                <a:latin typeface="IBM Plex Sans" pitchFamily="34" charset="0"/>
                <a:ea typeface="IBM Plex Sans" pitchFamily="34" charset="-122"/>
                <a:cs typeface="IBM Plex Sans" pitchFamily="34" charset="-120"/>
              </a:rPr>
              <a:t>writes a lone carriage return into the file, which tomlkit itself then refuses to parse.</a:t>
            </a:r>
            <a:endParaRPr lang="en-US" sz="1400" dirty="0"/>
          </a:p>
        </p:txBody>
      </p:sp>
      <p:sp>
        <p:nvSpPr>
          <p:cNvPr id="10" name="Text 7"/>
          <p:cNvSpPr/>
          <p:nvPr/>
        </p:nvSpPr>
        <p:spPr>
          <a:xfrm>
            <a:off x="7696200" y="4551679"/>
            <a:ext cx="35318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7B0"/>
                </a:solidFill>
                <a:latin typeface="IBM Plex Sans" pitchFamily="34" charset="0"/>
                <a:ea typeface="IBM Plex Sans" pitchFamily="34" charset="-122"/>
                <a:cs typeface="IBM Plex Sans" pitchFamily="34" charset="-120"/>
              </a:rPr>
              <a:t>Found in seconds, shrunk to a single character.</a:t>
            </a:r>
            <a:endParaRPr lang="en-US" sz="1200" dirty="0"/>
          </a:p>
        </p:txBody>
      </p:sp>
      <p:sp>
        <p:nvSpPr>
          <p:cNvPr id="11" name="Text 8"/>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tests_property/test_properties.py · 200 cases per property · stable on seeds 0–4</a:t>
            </a:r>
            <a:endParaRPr lang="en-US" sz="1200" dirty="0"/>
          </a:p>
        </p:txBody>
      </p:sp>
      <p:sp>
        <p:nvSpPr>
          <p:cNvPr id="12" name="Text 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B8"/>
                </a:solidFill>
                <a:latin typeface="JetBrains Mono" pitchFamily="49" charset="0"/>
                <a:ea typeface="JetBrains Mono" pitchFamily="49" charset="-122"/>
                <a:cs typeface="JetBrains Mono" pitchFamily="49" charset="-120"/>
              </a:rPr>
              <a:t>WEEK 7 · RISK-BASED PRIORITISATION</a:t>
            </a:r>
            <a:endParaRPr lang="en-US" sz="1200" dirty="0"/>
          </a:p>
        </p:txBody>
      </p:sp>
      <p:sp>
        <p:nvSpPr>
          <p:cNvPr id="3" name="Text 1"/>
          <p:cNvSpPr/>
          <p:nvPr>
            <p:ph type="title"/>
          </p:nvPr>
        </p:nvSpPr>
        <p:spPr>
          <a:xfrm>
            <a:off x="812800" y="1381764"/>
            <a:ext cx="10464800"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Run the riskiest tests first and CI fails eight times sooner</a:t>
            </a:r>
            <a:endParaRPr lang="en-US" sz="3600" dirty="0"/>
          </a:p>
        </p:txBody>
      </p:sp>
      <p:sp>
        <p:nvSpPr>
          <p:cNvPr id="4" name="Text 2"/>
          <p:cNvSpPr/>
          <p:nvPr/>
        </p:nvSpPr>
        <p:spPr>
          <a:xfrm>
            <a:off x="812800" y="27432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Tests run before half of the sampled mutants are caught</a:t>
            </a:r>
            <a:endParaRPr lang="en-US" sz="1400" dirty="0"/>
          </a:p>
        </p:txBody>
      </p:sp>
      <p:sp>
        <p:nvSpPr>
          <p:cNvPr id="5" name="Text 3"/>
          <p:cNvSpPr/>
          <p:nvPr/>
        </p:nvSpPr>
        <p:spPr>
          <a:xfrm>
            <a:off x="812800" y="3223264"/>
            <a:ext cx="235458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Risk-based order</a:t>
            </a:r>
            <a:endParaRPr lang="en-US" sz="1600" dirty="0"/>
          </a:p>
        </p:txBody>
      </p:sp>
      <p:sp>
        <p:nvSpPr>
          <p:cNvPr id="6" name="Shape 4"/>
          <p:cNvSpPr/>
          <p:nvPr/>
        </p:nvSpPr>
        <p:spPr>
          <a:xfrm>
            <a:off x="3251200" y="3187700"/>
            <a:ext cx="762000" cy="355600"/>
          </a:xfrm>
          <a:prstGeom prst="roundRect">
            <a:avLst>
              <a:gd name="adj" fmla="val 10714"/>
            </a:avLst>
          </a:prstGeom>
          <a:solidFill>
            <a:srgbClr val="2B5FB8"/>
          </a:solidFill>
          <a:ln/>
        </p:spPr>
      </p:sp>
      <p:sp>
        <p:nvSpPr>
          <p:cNvPr id="7" name="Text 5"/>
          <p:cNvSpPr/>
          <p:nvPr/>
        </p:nvSpPr>
        <p:spPr>
          <a:xfrm>
            <a:off x="4165600" y="3169921"/>
            <a:ext cx="1250061"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B5FB8"/>
                </a:solidFill>
                <a:latin typeface="IBM Plex Sans" pitchFamily="34" charset="0"/>
                <a:ea typeface="IBM Plex Sans" pitchFamily="34" charset="-122"/>
                <a:cs typeface="IBM Plex Sans" pitchFamily="34" charset="-120"/>
              </a:rPr>
              <a:t>12 tests</a:t>
            </a:r>
            <a:endParaRPr lang="en-US" sz="2200" dirty="0"/>
          </a:p>
        </p:txBody>
      </p:sp>
      <p:sp>
        <p:nvSpPr>
          <p:cNvPr id="8" name="Text 6"/>
          <p:cNvSpPr/>
          <p:nvPr/>
        </p:nvSpPr>
        <p:spPr>
          <a:xfrm>
            <a:off x="812800" y="3792221"/>
            <a:ext cx="235458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A5568"/>
                </a:solidFill>
                <a:latin typeface="IBM Plex Sans" pitchFamily="34" charset="0"/>
                <a:ea typeface="IBM Plex Sans" pitchFamily="34" charset="-122"/>
                <a:cs typeface="IBM Plex Sans" pitchFamily="34" charset="-120"/>
              </a:rPr>
              <a:t>pytest’s default order</a:t>
            </a:r>
            <a:endParaRPr lang="en-US" sz="1600" dirty="0"/>
          </a:p>
        </p:txBody>
      </p:sp>
      <p:sp>
        <p:nvSpPr>
          <p:cNvPr id="9" name="Shape 7"/>
          <p:cNvSpPr/>
          <p:nvPr/>
        </p:nvSpPr>
        <p:spPr>
          <a:xfrm>
            <a:off x="3251200" y="3756664"/>
            <a:ext cx="6540500" cy="355600"/>
          </a:xfrm>
          <a:prstGeom prst="roundRect">
            <a:avLst>
              <a:gd name="adj" fmla="val 10714"/>
            </a:avLst>
          </a:prstGeom>
          <a:solidFill>
            <a:srgbClr val="A7AFBD"/>
          </a:solidFill>
          <a:ln/>
        </p:spPr>
      </p:sp>
      <p:sp>
        <p:nvSpPr>
          <p:cNvPr id="10" name="Text 8"/>
          <p:cNvSpPr/>
          <p:nvPr/>
        </p:nvSpPr>
        <p:spPr>
          <a:xfrm>
            <a:off x="9944100" y="3738879"/>
            <a:ext cx="60350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4A5568"/>
                </a:solidFill>
                <a:latin typeface="IBM Plex Sans" pitchFamily="34" charset="0"/>
                <a:ea typeface="IBM Plex Sans" pitchFamily="34" charset="-122"/>
                <a:cs typeface="IBM Plex Sans" pitchFamily="34" charset="-120"/>
              </a:rPr>
              <a:t>103</a:t>
            </a:r>
            <a:endParaRPr lang="en-US" sz="2200" dirty="0"/>
          </a:p>
        </p:txBody>
      </p:sp>
      <p:sp>
        <p:nvSpPr>
          <p:cNvPr id="11" name="Shape 9"/>
          <p:cNvSpPr/>
          <p:nvPr/>
        </p:nvSpPr>
        <p:spPr>
          <a:xfrm>
            <a:off x="815975" y="4488817"/>
            <a:ext cx="5175250" cy="1131570"/>
          </a:xfrm>
          <a:prstGeom prst="roundRect">
            <a:avLst>
              <a:gd name="adj" fmla="val 8698"/>
            </a:avLst>
          </a:prstGeom>
          <a:solidFill>
            <a:srgbClr val="FFFFFF"/>
          </a:solidFill>
          <a:ln w="6350">
            <a:solidFill>
              <a:srgbClr val="DEDCD3"/>
            </a:solidFill>
            <a:prstDash val="solid"/>
          </a:ln>
        </p:spPr>
      </p:sp>
      <p:sp>
        <p:nvSpPr>
          <p:cNvPr id="12" name="Text 10"/>
          <p:cNvSpPr/>
          <p:nvPr/>
        </p:nvSpPr>
        <p:spPr>
          <a:xfrm>
            <a:off x="1071880" y="4693921"/>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How the order is built</a:t>
            </a:r>
            <a:endParaRPr lang="en-US" sz="1600" dirty="0"/>
          </a:p>
        </p:txBody>
      </p:sp>
      <p:sp>
        <p:nvSpPr>
          <p:cNvPr id="13" name="Text 11"/>
          <p:cNvSpPr/>
          <p:nvPr/>
        </p:nvSpPr>
        <p:spPr>
          <a:xfrm>
            <a:off x="1071880" y="4988564"/>
            <a:ext cx="48033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Function risk = complexity × recent churn. Each next test adds the most uncovered risk.</a:t>
            </a:r>
            <a:endParaRPr lang="en-US" sz="1200" dirty="0"/>
          </a:p>
        </p:txBody>
      </p:sp>
      <p:sp>
        <p:nvSpPr>
          <p:cNvPr id="14" name="Shape 12"/>
          <p:cNvSpPr/>
          <p:nvPr/>
        </p:nvSpPr>
        <p:spPr>
          <a:xfrm>
            <a:off x="6200775" y="4488817"/>
            <a:ext cx="5175250" cy="1131570"/>
          </a:xfrm>
          <a:prstGeom prst="roundRect">
            <a:avLst>
              <a:gd name="adj" fmla="val 8698"/>
            </a:avLst>
          </a:prstGeom>
          <a:solidFill>
            <a:srgbClr val="FFFFFF"/>
          </a:solidFill>
          <a:ln w="6350">
            <a:solidFill>
              <a:srgbClr val="DEDCD3"/>
            </a:solidFill>
            <a:prstDash val="solid"/>
          </a:ln>
        </p:spPr>
      </p:sp>
      <p:sp>
        <p:nvSpPr>
          <p:cNvPr id="15" name="Text 13"/>
          <p:cNvSpPr/>
          <p:nvPr/>
        </p:nvSpPr>
        <p:spPr>
          <a:xfrm>
            <a:off x="6456680" y="4693921"/>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APFD 0.838 vs 0.689</a:t>
            </a:r>
            <a:endParaRPr lang="en-US" sz="1600" dirty="0"/>
          </a:p>
        </p:txBody>
      </p:sp>
      <p:sp>
        <p:nvSpPr>
          <p:cNvPr id="16" name="Text 14"/>
          <p:cNvSpPr/>
          <p:nvPr/>
        </p:nvSpPr>
        <p:spPr>
          <a:xfrm>
            <a:off x="6456680" y="4988564"/>
            <a:ext cx="48033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Better than all 200 random orders (best 0.805). Mutation data was kept out of the ranking.</a:t>
            </a:r>
            <a:endParaRPr lang="en-US" sz="1200" dirty="0"/>
          </a:p>
        </p:txBody>
      </p:sp>
      <p:sp>
        <p:nvSpPr>
          <p:cNvPr id="17" name="Text 15"/>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273 sampled killed mutants, seed 441 · week7/prioritisation_eval.json, week7/priority_order.csv</a:t>
            </a:r>
            <a:endParaRPr lang="en-US" sz="12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B8"/>
                </a:solidFill>
                <a:latin typeface="JetBrains Mono" pitchFamily="49" charset="0"/>
                <a:ea typeface="JetBrains Mono" pitchFamily="49" charset="-122"/>
                <a:cs typeface="JetBrains Mono" pitchFamily="49" charset="-120"/>
              </a:rPr>
              <a:t>RESULTS · DEFECTS</a:t>
            </a:r>
            <a:endParaRPr lang="en-US" sz="1200" dirty="0"/>
          </a:p>
        </p:txBody>
      </p:sp>
      <p:sp>
        <p:nvSpPr>
          <p:cNvPr id="3" name="Text 1"/>
          <p:cNvSpPr/>
          <p:nvPr>
            <p:ph type="title"/>
          </p:nvPr>
        </p:nvSpPr>
        <p:spPr>
          <a:xfrm>
            <a:off x="812800" y="1280164"/>
            <a:ext cx="1137920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9 real defects in a library with 1,058 passing tests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047239"/>
          <a:ext cx="10556240" cy="3302000"/>
        </p:xfrm>
        <a:graphic>
          <a:graphicData uri="http://schemas.openxmlformats.org/drawingml/2006/table">
            <a:tbl>
              <a:tblPr/>
              <a:tblGrid>
                <a:gridCol w="738937"/>
                <a:gridCol w="5594807"/>
                <a:gridCol w="2639060"/>
                <a:gridCol w="1583436"/>
              </a:tblGrid>
              <a:tr h="33020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Defect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Found by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Status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date() accepts datetime strings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AI test, CrossHair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2B5FB8"/>
                          </a:solidFill>
                          <a:latin typeface="IBM Plex Sans" pitchFamily="34" charset="0"/>
                          <a:ea typeface="IBM Plex Sans" pitchFamily="34" charset="-122"/>
                          <a:cs typeface="IBM Plex Sans" pitchFamily="34" charset="-120"/>
                        </a:rPr>
                        <a:t>Fixed (TDD)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two equal Bool items compare unequal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AI 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inline duplicate key escapes ParseError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AI 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end-of-file marker leaks into an error message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exploratory probe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key([]) writes TOML that cannot be read back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LLM code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comment() with a lone CR breaks the file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LLM code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2B5FB8"/>
                          </a:solidFill>
                          <a:latin typeface="IBM Plex Sans" pitchFamily="34" charset="0"/>
                          <a:ea typeface="IBM Plex Sans" pitchFamily="34" charset="-122"/>
                          <a:cs typeface="IBM Plex Sans" pitchFamily="34" charset="-120"/>
                        </a:rPr>
                        <a:t>Fixed (TDD)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multiline strings emit a lone CR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Hypothesis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2B5FB8"/>
                          </a:solidFill>
                          <a:latin typeface="IBM Plex Sans" pitchFamily="34" charset="0"/>
                          <a:ea typeface="IBM Plex Sans" pitchFamily="34" charset="-122"/>
                          <a:cs typeface="IBM Plex Sans" pitchFamily="34" charset="-120"/>
                        </a:rPr>
                        <a:t>Fixed (TDD)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insert(0, x) renders [0,1,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mutant analysis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_CustomDict | drops keys (internal base class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Week 10 mutation run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Text 2"/>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Each open defect is pinned by a strict xfail test or listed in the RTM · defect density 2.16 per KLOC (9 / 4.158 KLOC)</a:t>
            </a:r>
            <a:endParaRPr lang="en-US" sz="1200" dirty="0"/>
          </a:p>
        </p:txBody>
      </p:sp>
      <p:sp>
        <p:nvSpPr>
          <p:cNvPr id="6" name="Text 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B8"/>
                </a:solidFill>
                <a:latin typeface="JetBrains Mono" pitchFamily="49" charset="0"/>
                <a:ea typeface="JetBrains Mono" pitchFamily="49" charset="-122"/>
                <a:cs typeface="JetBrains Mono" pitchFamily="49" charset="-120"/>
              </a:rPr>
              <a:t>WEEK 8 · TDD AND BDD</a:t>
            </a:r>
            <a:endParaRPr lang="en-US" sz="1200" dirty="0"/>
          </a:p>
        </p:txBody>
      </p:sp>
      <p:sp>
        <p:nvSpPr>
          <p:cNvPr id="3" name="Text 1"/>
          <p:cNvSpPr/>
          <p:nvPr>
            <p:ph type="title"/>
          </p:nvPr>
        </p:nvSpPr>
        <p:spPr>
          <a:xfrm>
            <a:off x="812800" y="1330964"/>
            <a:ext cx="10464800"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We fixed three defects test-first, one commit per step</a:t>
            </a:r>
            <a:endParaRPr lang="en-US" sz="3600" dirty="0"/>
          </a:p>
        </p:txBody>
      </p:sp>
      <p:sp>
        <p:nvSpPr>
          <p:cNvPr id="4" name="Text 2"/>
          <p:cNvSpPr/>
          <p:nvPr/>
        </p:nvSpPr>
        <p:spPr>
          <a:xfrm>
            <a:off x="812800" y="2674621"/>
            <a:ext cx="660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C1</a:t>
            </a:r>
            <a:endParaRPr lang="en-US" sz="1400" dirty="0"/>
          </a:p>
        </p:txBody>
      </p:sp>
      <p:sp>
        <p:nvSpPr>
          <p:cNvPr id="5" name="Text 3"/>
          <p:cNvSpPr/>
          <p:nvPr/>
        </p:nvSpPr>
        <p:spPr>
          <a:xfrm>
            <a:off x="1524000" y="2641600"/>
            <a:ext cx="481251" cy="314960"/>
          </a:xfrm>
          <a:prstGeom prst="roundRect">
            <a:avLst>
              <a:gd name="adj" fmla="val 50000"/>
            </a:avLst>
          </a:prstGeom>
          <a:solidFill>
            <a:srgbClr val="F6D8C6"/>
          </a:solidFill>
          <a:ln/>
        </p:spPr>
        <p:txBody>
          <a:bodyPr wrap="none" lIns="0" tIns="0" rIns="0" bIns="0" rtlCol="0" anchor="ctr">
            <a:normAutofit/>
          </a:bodyPr>
          <a:lstStyle/>
          <a:p>
            <a:pPr algn="ctr" indent="0" marL="0">
              <a:lnSpc>
                <a:spcPts val="1680"/>
              </a:lnSpc>
              <a:buNone/>
            </a:pPr>
            <a:r>
              <a:rPr lang="en-US" sz="1200" dirty="0">
                <a:solidFill>
                  <a:srgbClr val="7A2E06"/>
                </a:solidFill>
                <a:latin typeface="IBM Plex Sans" pitchFamily="34" charset="0"/>
                <a:ea typeface="IBM Plex Sans" pitchFamily="34" charset="-122"/>
                <a:cs typeface="IBM Plex Sans" pitchFamily="34" charset="-120"/>
              </a:rPr>
              <a:t>red</a:t>
            </a:r>
            <a:endParaRPr lang="en-US" sz="1200" dirty="0"/>
          </a:p>
        </p:txBody>
      </p:sp>
      <p:sp>
        <p:nvSpPr>
          <p:cNvPr id="6" name="Text 4"/>
          <p:cNvSpPr/>
          <p:nvPr/>
        </p:nvSpPr>
        <p:spPr>
          <a:xfrm>
            <a:off x="2106851" y="2641600"/>
            <a:ext cx="643572" cy="314960"/>
          </a:xfrm>
          <a:prstGeom prst="roundRect">
            <a:avLst>
              <a:gd name="adj" fmla="val 50000"/>
            </a:avLst>
          </a:prstGeom>
          <a:solidFill>
            <a:srgbClr val="D4E3F7"/>
          </a:solidFill>
          <a:ln/>
        </p:spPr>
        <p:txBody>
          <a:bodyPr wrap="none" lIns="0" tIns="0" rIns="0" bIns="0" rtlCol="0" anchor="ctr">
            <a:normAutofit/>
          </a:bodyPr>
          <a:lstStyle/>
          <a:p>
            <a:pPr algn="ctr" indent="0" marL="0">
              <a:lnSpc>
                <a:spcPts val="1680"/>
              </a:lnSpc>
              <a:buNone/>
            </a:pPr>
            <a:r>
              <a:rPr lang="en-US" sz="1200" dirty="0">
                <a:solidFill>
                  <a:srgbClr val="173E7A"/>
                </a:solidFill>
                <a:latin typeface="IBM Plex Sans" pitchFamily="34" charset="0"/>
                <a:ea typeface="IBM Plex Sans" pitchFamily="34" charset="-122"/>
                <a:cs typeface="IBM Plex Sans" pitchFamily="34" charset="-120"/>
              </a:rPr>
              <a:t>green</a:t>
            </a:r>
            <a:endParaRPr lang="en-US" sz="1200" dirty="0"/>
          </a:p>
        </p:txBody>
      </p:sp>
      <p:sp>
        <p:nvSpPr>
          <p:cNvPr id="7" name="Text 5"/>
          <p:cNvSpPr/>
          <p:nvPr/>
        </p:nvSpPr>
        <p:spPr>
          <a:xfrm>
            <a:off x="2852023" y="2641600"/>
            <a:ext cx="794464" cy="314960"/>
          </a:xfrm>
          <a:prstGeom prst="roundRect">
            <a:avLst>
              <a:gd name="adj" fmla="val 50000"/>
            </a:avLst>
          </a:prstGeom>
          <a:solidFill>
            <a:srgbClr val="E4E1D6"/>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refactor</a:t>
            </a:r>
            <a:endParaRPr lang="en-US" sz="1200" dirty="0"/>
          </a:p>
        </p:txBody>
      </p:sp>
      <p:sp>
        <p:nvSpPr>
          <p:cNvPr id="8" name="Text 6"/>
          <p:cNvSpPr/>
          <p:nvPr/>
        </p:nvSpPr>
        <p:spPr>
          <a:xfrm>
            <a:off x="3748087" y="2683514"/>
            <a:ext cx="212445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date() rejects datetimes</a:t>
            </a:r>
            <a:endParaRPr lang="en-US" sz="1300" dirty="0"/>
          </a:p>
        </p:txBody>
      </p:sp>
      <p:sp>
        <p:nvSpPr>
          <p:cNvPr id="9" name="Text 7"/>
          <p:cNvSpPr/>
          <p:nvPr/>
        </p:nvSpPr>
        <p:spPr>
          <a:xfrm>
            <a:off x="812800" y="3091179"/>
            <a:ext cx="660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C2</a:t>
            </a:r>
            <a:endParaRPr lang="en-US" sz="1400" dirty="0"/>
          </a:p>
        </p:txBody>
      </p:sp>
      <p:sp>
        <p:nvSpPr>
          <p:cNvPr id="10" name="Text 8"/>
          <p:cNvSpPr/>
          <p:nvPr/>
        </p:nvSpPr>
        <p:spPr>
          <a:xfrm>
            <a:off x="1524000" y="3058164"/>
            <a:ext cx="481251" cy="314960"/>
          </a:xfrm>
          <a:prstGeom prst="roundRect">
            <a:avLst>
              <a:gd name="adj" fmla="val 50000"/>
            </a:avLst>
          </a:prstGeom>
          <a:solidFill>
            <a:srgbClr val="F6D8C6"/>
          </a:solidFill>
          <a:ln/>
        </p:spPr>
        <p:txBody>
          <a:bodyPr wrap="none" lIns="0" tIns="0" rIns="0" bIns="0" rtlCol="0" anchor="ctr">
            <a:normAutofit/>
          </a:bodyPr>
          <a:lstStyle/>
          <a:p>
            <a:pPr algn="ctr" indent="0" marL="0">
              <a:lnSpc>
                <a:spcPts val="1680"/>
              </a:lnSpc>
              <a:buNone/>
            </a:pPr>
            <a:r>
              <a:rPr lang="en-US" sz="1200" dirty="0">
                <a:solidFill>
                  <a:srgbClr val="7A2E06"/>
                </a:solidFill>
                <a:latin typeface="IBM Plex Sans" pitchFamily="34" charset="0"/>
                <a:ea typeface="IBM Plex Sans" pitchFamily="34" charset="-122"/>
                <a:cs typeface="IBM Plex Sans" pitchFamily="34" charset="-120"/>
              </a:rPr>
              <a:t>red</a:t>
            </a:r>
            <a:endParaRPr lang="en-US" sz="1200" dirty="0"/>
          </a:p>
        </p:txBody>
      </p:sp>
      <p:sp>
        <p:nvSpPr>
          <p:cNvPr id="11" name="Text 9"/>
          <p:cNvSpPr/>
          <p:nvPr/>
        </p:nvSpPr>
        <p:spPr>
          <a:xfrm>
            <a:off x="2106851" y="3058164"/>
            <a:ext cx="643572" cy="314960"/>
          </a:xfrm>
          <a:prstGeom prst="roundRect">
            <a:avLst>
              <a:gd name="adj" fmla="val 50000"/>
            </a:avLst>
          </a:prstGeom>
          <a:solidFill>
            <a:srgbClr val="D4E3F7"/>
          </a:solidFill>
          <a:ln/>
        </p:spPr>
        <p:txBody>
          <a:bodyPr wrap="none" lIns="0" tIns="0" rIns="0" bIns="0" rtlCol="0" anchor="ctr">
            <a:normAutofit/>
          </a:bodyPr>
          <a:lstStyle/>
          <a:p>
            <a:pPr algn="ctr" indent="0" marL="0">
              <a:lnSpc>
                <a:spcPts val="1680"/>
              </a:lnSpc>
              <a:buNone/>
            </a:pPr>
            <a:r>
              <a:rPr lang="en-US" sz="1200" dirty="0">
                <a:solidFill>
                  <a:srgbClr val="173E7A"/>
                </a:solidFill>
                <a:latin typeface="IBM Plex Sans" pitchFamily="34" charset="0"/>
                <a:ea typeface="IBM Plex Sans" pitchFamily="34" charset="-122"/>
                <a:cs typeface="IBM Plex Sans" pitchFamily="34" charset="-120"/>
              </a:rPr>
              <a:t>green</a:t>
            </a:r>
            <a:endParaRPr lang="en-US" sz="1200" dirty="0"/>
          </a:p>
        </p:txBody>
      </p:sp>
      <p:sp>
        <p:nvSpPr>
          <p:cNvPr id="12" name="Text 10"/>
          <p:cNvSpPr/>
          <p:nvPr/>
        </p:nvSpPr>
        <p:spPr>
          <a:xfrm>
            <a:off x="2852023" y="3058164"/>
            <a:ext cx="794464" cy="314960"/>
          </a:xfrm>
          <a:prstGeom prst="roundRect">
            <a:avLst>
              <a:gd name="adj" fmla="val 50000"/>
            </a:avLst>
          </a:prstGeom>
          <a:solidFill>
            <a:srgbClr val="E4E1D6"/>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refactor</a:t>
            </a:r>
            <a:endParaRPr lang="en-US" sz="1200" dirty="0"/>
          </a:p>
        </p:txBody>
      </p:sp>
      <p:sp>
        <p:nvSpPr>
          <p:cNvPr id="13" name="Text 11"/>
          <p:cNvSpPr/>
          <p:nvPr/>
        </p:nvSpPr>
        <p:spPr>
          <a:xfrm>
            <a:off x="3748087" y="3100071"/>
            <a:ext cx="247392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strings never emit a lone CR</a:t>
            </a:r>
            <a:endParaRPr lang="en-US" sz="1300" dirty="0"/>
          </a:p>
        </p:txBody>
      </p:sp>
      <p:sp>
        <p:nvSpPr>
          <p:cNvPr id="14" name="Text 12"/>
          <p:cNvSpPr/>
          <p:nvPr/>
        </p:nvSpPr>
        <p:spPr>
          <a:xfrm>
            <a:off x="812800" y="3507742"/>
            <a:ext cx="660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C3</a:t>
            </a:r>
            <a:endParaRPr lang="en-US" sz="1400" dirty="0"/>
          </a:p>
        </p:txBody>
      </p:sp>
      <p:sp>
        <p:nvSpPr>
          <p:cNvPr id="15" name="Text 13"/>
          <p:cNvSpPr/>
          <p:nvPr/>
        </p:nvSpPr>
        <p:spPr>
          <a:xfrm>
            <a:off x="1524000" y="3474721"/>
            <a:ext cx="481251" cy="314960"/>
          </a:xfrm>
          <a:prstGeom prst="roundRect">
            <a:avLst>
              <a:gd name="adj" fmla="val 50000"/>
            </a:avLst>
          </a:prstGeom>
          <a:solidFill>
            <a:srgbClr val="F6D8C6"/>
          </a:solidFill>
          <a:ln/>
        </p:spPr>
        <p:txBody>
          <a:bodyPr wrap="none" lIns="0" tIns="0" rIns="0" bIns="0" rtlCol="0" anchor="ctr">
            <a:normAutofit/>
          </a:bodyPr>
          <a:lstStyle/>
          <a:p>
            <a:pPr algn="ctr" indent="0" marL="0">
              <a:lnSpc>
                <a:spcPts val="1680"/>
              </a:lnSpc>
              <a:buNone/>
            </a:pPr>
            <a:r>
              <a:rPr lang="en-US" sz="1200" dirty="0">
                <a:solidFill>
                  <a:srgbClr val="7A2E06"/>
                </a:solidFill>
                <a:latin typeface="IBM Plex Sans" pitchFamily="34" charset="0"/>
                <a:ea typeface="IBM Plex Sans" pitchFamily="34" charset="-122"/>
                <a:cs typeface="IBM Plex Sans" pitchFamily="34" charset="-120"/>
              </a:rPr>
              <a:t>red</a:t>
            </a:r>
            <a:endParaRPr lang="en-US" sz="1200" dirty="0"/>
          </a:p>
        </p:txBody>
      </p:sp>
      <p:sp>
        <p:nvSpPr>
          <p:cNvPr id="16" name="Text 14"/>
          <p:cNvSpPr/>
          <p:nvPr/>
        </p:nvSpPr>
        <p:spPr>
          <a:xfrm>
            <a:off x="2106851" y="3474721"/>
            <a:ext cx="643572" cy="314960"/>
          </a:xfrm>
          <a:prstGeom prst="roundRect">
            <a:avLst>
              <a:gd name="adj" fmla="val 50000"/>
            </a:avLst>
          </a:prstGeom>
          <a:solidFill>
            <a:srgbClr val="D4E3F7"/>
          </a:solidFill>
          <a:ln/>
        </p:spPr>
        <p:txBody>
          <a:bodyPr wrap="none" lIns="0" tIns="0" rIns="0" bIns="0" rtlCol="0" anchor="ctr">
            <a:normAutofit/>
          </a:bodyPr>
          <a:lstStyle/>
          <a:p>
            <a:pPr algn="ctr" indent="0" marL="0">
              <a:lnSpc>
                <a:spcPts val="1680"/>
              </a:lnSpc>
              <a:buNone/>
            </a:pPr>
            <a:r>
              <a:rPr lang="en-US" sz="1200" dirty="0">
                <a:solidFill>
                  <a:srgbClr val="173E7A"/>
                </a:solidFill>
                <a:latin typeface="IBM Plex Sans" pitchFamily="34" charset="0"/>
                <a:ea typeface="IBM Plex Sans" pitchFamily="34" charset="-122"/>
                <a:cs typeface="IBM Plex Sans" pitchFamily="34" charset="-120"/>
              </a:rPr>
              <a:t>green</a:t>
            </a:r>
            <a:endParaRPr lang="en-US" sz="1200" dirty="0"/>
          </a:p>
        </p:txBody>
      </p:sp>
      <p:sp>
        <p:nvSpPr>
          <p:cNvPr id="17" name="Text 15"/>
          <p:cNvSpPr/>
          <p:nvPr/>
        </p:nvSpPr>
        <p:spPr>
          <a:xfrm>
            <a:off x="2852023" y="3474721"/>
            <a:ext cx="794464" cy="314960"/>
          </a:xfrm>
          <a:prstGeom prst="roundRect">
            <a:avLst>
              <a:gd name="adj" fmla="val 50000"/>
            </a:avLst>
          </a:prstGeom>
          <a:solidFill>
            <a:srgbClr val="E4E1D6"/>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refactor</a:t>
            </a:r>
            <a:endParaRPr lang="en-US" sz="1200" dirty="0"/>
          </a:p>
        </p:txBody>
      </p:sp>
      <p:sp>
        <p:nvSpPr>
          <p:cNvPr id="18" name="Text 16"/>
          <p:cNvSpPr/>
          <p:nvPr/>
        </p:nvSpPr>
        <p:spPr>
          <a:xfrm>
            <a:off x="3748087" y="3516629"/>
            <a:ext cx="252603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comments split on a lone CR</a:t>
            </a:r>
            <a:endParaRPr lang="en-US" sz="1300" dirty="0"/>
          </a:p>
        </p:txBody>
      </p:sp>
      <p:sp>
        <p:nvSpPr>
          <p:cNvPr id="19" name="Text 17"/>
          <p:cNvSpPr/>
          <p:nvPr/>
        </p:nvSpPr>
        <p:spPr>
          <a:xfrm>
            <a:off x="812800" y="3891279"/>
            <a:ext cx="559866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refactors merged both CR fixes into one shared rule. All 1,058 maintainer tests still pass.</a:t>
            </a:r>
            <a:endParaRPr lang="en-US" sz="1300" dirty="0"/>
          </a:p>
        </p:txBody>
      </p:sp>
      <p:sp>
        <p:nvSpPr>
          <p:cNvPr id="20" name="Shape 18"/>
          <p:cNvSpPr/>
          <p:nvPr/>
        </p:nvSpPr>
        <p:spPr>
          <a:xfrm>
            <a:off x="6553200" y="2641600"/>
            <a:ext cx="4826000" cy="3078480"/>
          </a:xfrm>
          <a:prstGeom prst="roundRect">
            <a:avLst>
              <a:gd name="adj" fmla="val 3300"/>
            </a:avLst>
          </a:prstGeom>
          <a:solidFill>
            <a:srgbClr val="14213D"/>
          </a:solidFill>
          <a:ln/>
        </p:spPr>
      </p:sp>
      <p:sp>
        <p:nvSpPr>
          <p:cNvPr id="21" name="Text 19"/>
          <p:cNvSpPr/>
          <p:nvPr/>
        </p:nvSpPr>
        <p:spPr>
          <a:xfrm>
            <a:off x="6807200" y="2870200"/>
            <a:ext cx="44475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B3F0"/>
                </a:solidFill>
                <a:latin typeface="JetBrains Mono" pitchFamily="49" charset="0"/>
                <a:ea typeface="JetBrains Mono" pitchFamily="49" charset="-122"/>
                <a:cs typeface="JetBrains Mono" pitchFamily="49" charset="-120"/>
              </a:rPr>
              <a:t>ACCEPTANCE SCENARIO · PYTEST-BDD</a:t>
            </a:r>
            <a:endParaRPr lang="en-US" sz="1200" dirty="0"/>
          </a:p>
        </p:txBody>
      </p:sp>
      <p:sp>
        <p:nvSpPr>
          <p:cNvPr id="22" name="Text 20"/>
          <p:cNvSpPr/>
          <p:nvPr/>
        </p:nvSpPr>
        <p:spPr>
          <a:xfrm>
            <a:off x="6807200" y="3159764"/>
            <a:ext cx="4447540" cy="1854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8A35C"/>
                </a:solidFill>
                <a:latin typeface="JetBrains Mono" pitchFamily="49" charset="0"/>
                <a:ea typeface="JetBrains Mono" pitchFamily="49" charset="-122"/>
                <a:cs typeface="JetBrains Mono" pitchFamily="49" charset="-120"/>
              </a:rPr>
              <a:t>Scenario:</a:t>
            </a:r>
            <a:r>
              <a:rPr lang="en-US" sz="1200" dirty="0">
                <a:solidFill>
                  <a:srgbClr val="F7F6F1"/>
                </a:solidFill>
                <a:latin typeface="JetBrains Mono" pitchFamily="49" charset="0"/>
                <a:ea typeface="JetBrains Mono" pitchFamily="49" charset="-122"/>
                <a:cs typeface="JetBrains Mono" pitchFamily="49" charset="-120"/>
              </a:rPr>
              <a:t> Bump the version and keep every comment</a:t>
            </a:r>
            <a:endParaRPr lang="en-US" sz="1200" dirty="0"/>
          </a:p>
          <a:p>
            <a:pPr algn="l" indent="0" marL="0">
              <a:lnSpc>
                <a:spcPts val="1800"/>
              </a:lnSpc>
              <a:buNone/>
            </a:pPr>
            <a:r>
              <a:rPr lang="en-US" sz="1200" dirty="0">
                <a:solidFill>
                  <a:srgbClr val="E8A35C"/>
                </a:solidFill>
                <a:latin typeface="JetBrains Mono" pitchFamily="49" charset="0"/>
                <a:ea typeface="JetBrains Mono" pitchFamily="49" charset="-122"/>
                <a:cs typeface="JetBrains Mono" pitchFamily="49" charset="-120"/>
              </a:rPr>
              <a:t>Given</a:t>
            </a:r>
            <a:r>
              <a:rPr lang="en-US" sz="1200" dirty="0">
                <a:solidFill>
                  <a:srgbClr val="F7F6F1"/>
                </a:solidFill>
                <a:latin typeface="JetBrains Mono" pitchFamily="49" charset="0"/>
                <a:ea typeface="JetBrains Mono" pitchFamily="49" charset="-122"/>
                <a:cs typeface="JetBrains Mono" pitchFamily="49" charset="-120"/>
              </a:rPr>
              <a:t> a config file with comments and blank lines</a:t>
            </a:r>
            <a:endParaRPr lang="en-US" sz="1200" dirty="0"/>
          </a:p>
          <a:p>
            <a:pPr algn="l" indent="0" marL="0">
              <a:lnSpc>
                <a:spcPts val="1800"/>
              </a:lnSpc>
              <a:buNone/>
            </a:pPr>
            <a:r>
              <a:rPr lang="en-US" sz="1200" dirty="0">
                <a:solidFill>
                  <a:srgbClr val="E8A35C"/>
                </a:solidFill>
                <a:latin typeface="JetBrains Mono" pitchFamily="49" charset="0"/>
                <a:ea typeface="JetBrains Mono" pitchFamily="49" charset="-122"/>
                <a:cs typeface="JetBrains Mono" pitchFamily="49" charset="-120"/>
              </a:rPr>
              <a:t>When</a:t>
            </a:r>
            <a:r>
              <a:rPr lang="en-US" sz="1200" dirty="0">
                <a:solidFill>
                  <a:srgbClr val="F7F6F1"/>
                </a:solidFill>
                <a:latin typeface="JetBrains Mono" pitchFamily="49" charset="0"/>
                <a:ea typeface="JetBrains Mono" pitchFamily="49" charset="-122"/>
                <a:cs typeface="JetBrains Mono" pitchFamily="49" charset="-120"/>
              </a:rPr>
              <a:t> I set "project.version" to "1.5.0"</a:t>
            </a:r>
            <a:endParaRPr lang="en-US" sz="1200" dirty="0"/>
          </a:p>
          <a:p>
            <a:pPr algn="l" indent="0" marL="0">
              <a:lnSpc>
                <a:spcPts val="1800"/>
              </a:lnSpc>
              <a:buNone/>
            </a:pPr>
            <a:r>
              <a:rPr lang="en-US" sz="1200" dirty="0">
                <a:solidFill>
                  <a:srgbClr val="E8A35C"/>
                </a:solidFill>
                <a:latin typeface="JetBrains Mono" pitchFamily="49" charset="0"/>
                <a:ea typeface="JetBrains Mono" pitchFamily="49" charset="-122"/>
                <a:cs typeface="JetBrains Mono" pitchFamily="49" charset="-120"/>
              </a:rPr>
              <a:t>And</a:t>
            </a:r>
            <a:r>
              <a:rPr lang="en-US" sz="1200" dirty="0">
                <a:solidFill>
                  <a:srgbClr val="F7F6F1"/>
                </a:solidFill>
                <a:latin typeface="JetBrains Mono" pitchFamily="49" charset="0"/>
                <a:ea typeface="JetBrains Mono" pitchFamily="49" charset="-122"/>
                <a:cs typeface="JetBrains Mono" pitchFamily="49" charset="-120"/>
              </a:rPr>
              <a:t> I save the file</a:t>
            </a:r>
            <a:endParaRPr lang="en-US" sz="1200" dirty="0"/>
          </a:p>
          <a:p>
            <a:pPr algn="l" indent="0" marL="0">
              <a:lnSpc>
                <a:spcPts val="1800"/>
              </a:lnSpc>
              <a:buNone/>
            </a:pPr>
            <a:r>
              <a:rPr lang="en-US" sz="1200" dirty="0">
                <a:solidFill>
                  <a:srgbClr val="E8A35C"/>
                </a:solidFill>
                <a:latin typeface="JetBrains Mono" pitchFamily="49" charset="0"/>
                <a:ea typeface="JetBrains Mono" pitchFamily="49" charset="-122"/>
                <a:cs typeface="JetBrains Mono" pitchFamily="49" charset="-120"/>
              </a:rPr>
              <a:t>Then</a:t>
            </a:r>
            <a:r>
              <a:rPr lang="en-US" sz="1200" dirty="0">
                <a:solidFill>
                  <a:srgbClr val="F7F6F1"/>
                </a:solidFill>
                <a:latin typeface="JetBrains Mono" pitchFamily="49" charset="0"/>
                <a:ea typeface="JetBrains Mono" pitchFamily="49" charset="-122"/>
                <a:cs typeface="JetBrains Mono" pitchFamily="49" charset="-120"/>
              </a:rPr>
              <a:t> the file on disk is exactly the original</a:t>
            </a:r>
            <a:endParaRPr lang="en-US" sz="1200" dirty="0"/>
          </a:p>
          <a:p>
            <a:pPr algn="l" indent="0" marL="0">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with only the version changed</a:t>
            </a:r>
            <a:endParaRPr lang="en-US" sz="1200" dirty="0"/>
          </a:p>
        </p:txBody>
      </p:sp>
      <p:sp>
        <p:nvSpPr>
          <p:cNvPr id="23" name="Text 21"/>
          <p:cNvSpPr/>
          <p:nvPr/>
        </p:nvSpPr>
        <p:spPr>
          <a:xfrm>
            <a:off x="6807200" y="5064764"/>
            <a:ext cx="44475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BE0"/>
                </a:solidFill>
                <a:latin typeface="IBM Plex Sans" pitchFamily="34" charset="0"/>
                <a:ea typeface="IBM Plex Sans" pitchFamily="34" charset="-122"/>
                <a:cs typeface="IBM Plex Sans" pitchFamily="34" charset="-120"/>
              </a:rPr>
              <a:t>Verified it can fail: a naive save that drops comments turns it red.</a:t>
            </a:r>
            <a:endParaRPr lang="en-US" sz="1200" dirty="0"/>
          </a:p>
        </p:txBody>
      </p:sp>
      <p:sp>
        <p:nvSpPr>
          <p:cNvPr id="24" name="Text 22"/>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week8/TDD_LOG.md (9 commits) · tests_bdd/ (3 scenarios, 2 automated in Week 9)</a:t>
            </a:r>
            <a:endParaRPr lang="en-US" sz="1200" dirty="0"/>
          </a:p>
        </p:txBody>
      </p:sp>
      <p:sp>
        <p:nvSpPr>
          <p:cNvPr id="25" name="Text 2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B8"/>
                </a:solidFill>
                <a:latin typeface="JetBrains Mono" pitchFamily="49" charset="0"/>
                <a:ea typeface="JetBrains Mono" pitchFamily="49" charset="-122"/>
                <a:cs typeface="JetBrains Mono" pitchFamily="49" charset="-120"/>
              </a:rPr>
              <a:t>WEEK 9 · BEYOND UNIT TESTS</a:t>
            </a:r>
            <a:endParaRPr lang="en-US" sz="1200" dirty="0"/>
          </a:p>
        </p:txBody>
      </p:sp>
      <p:sp>
        <p:nvSpPr>
          <p:cNvPr id="3" name="Text 1"/>
          <p:cNvSpPr/>
          <p:nvPr>
            <p:ph type="title"/>
          </p:nvPr>
        </p:nvSpPr>
        <p:spPr>
          <a:xfrm>
            <a:off x="812800" y="1330964"/>
            <a:ext cx="10464800"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Testing tomlkit the way a developer actually uses it</a:t>
            </a:r>
            <a:endParaRPr lang="en-US" sz="3600" dirty="0"/>
          </a:p>
        </p:txBody>
      </p:sp>
      <p:sp>
        <p:nvSpPr>
          <p:cNvPr id="4" name="Shape 2"/>
          <p:cNvSpPr/>
          <p:nvPr/>
        </p:nvSpPr>
        <p:spPr>
          <a:xfrm>
            <a:off x="815975" y="2644775"/>
            <a:ext cx="5200650" cy="1370330"/>
          </a:xfrm>
          <a:prstGeom prst="roundRect">
            <a:avLst>
              <a:gd name="adj" fmla="val 7183"/>
            </a:avLst>
          </a:prstGeom>
          <a:solidFill>
            <a:srgbClr val="FFFFFF"/>
          </a:solidFill>
          <a:ln w="6350">
            <a:solidFill>
              <a:srgbClr val="DEDCD3"/>
            </a:solidFill>
            <a:prstDash val="solid"/>
          </a:ln>
        </p:spPr>
      </p:sp>
      <p:sp>
        <p:nvSpPr>
          <p:cNvPr id="5" name="Text 3"/>
          <p:cNvSpPr/>
          <p:nvPr/>
        </p:nvSpPr>
        <p:spPr>
          <a:xfrm>
            <a:off x="1071880" y="2849879"/>
            <a:ext cx="482950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Integration and acceptance</a:t>
            </a:r>
            <a:endParaRPr lang="en-US" sz="1600" dirty="0"/>
          </a:p>
        </p:txBody>
      </p:sp>
      <p:sp>
        <p:nvSpPr>
          <p:cNvPr id="6" name="Text 4"/>
          <p:cNvSpPr/>
          <p:nvPr/>
        </p:nvSpPr>
        <p:spPr>
          <a:xfrm>
            <a:off x="1071880" y="3169921"/>
            <a:ext cx="482950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5 integration tests drive real files through parser, container and serialiser together. 3 Gherkin scenarios, including a CRLF Windows file and a parse error on line 3.</a:t>
            </a:r>
            <a:endParaRPr lang="en-US" sz="1200" dirty="0"/>
          </a:p>
        </p:txBody>
      </p:sp>
      <p:sp>
        <p:nvSpPr>
          <p:cNvPr id="7" name="Shape 5"/>
          <p:cNvSpPr/>
          <p:nvPr/>
        </p:nvSpPr>
        <p:spPr>
          <a:xfrm>
            <a:off x="6175375" y="2644775"/>
            <a:ext cx="5200650" cy="1370330"/>
          </a:xfrm>
          <a:prstGeom prst="roundRect">
            <a:avLst>
              <a:gd name="adj" fmla="val 7183"/>
            </a:avLst>
          </a:prstGeom>
          <a:solidFill>
            <a:srgbClr val="FFFFFF"/>
          </a:solidFill>
          <a:ln w="6350">
            <a:solidFill>
              <a:srgbClr val="DEDCD3"/>
            </a:solidFill>
            <a:prstDash val="solid"/>
          </a:ln>
        </p:spPr>
      </p:sp>
      <p:sp>
        <p:nvSpPr>
          <p:cNvPr id="8" name="Text 6"/>
          <p:cNvSpPr/>
          <p:nvPr/>
        </p:nvSpPr>
        <p:spPr>
          <a:xfrm>
            <a:off x="6431280" y="2849879"/>
            <a:ext cx="482950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Exploratory session with an AI co-pilot</a:t>
            </a:r>
            <a:endParaRPr lang="en-US" sz="1600" dirty="0"/>
          </a:p>
        </p:txBody>
      </p:sp>
      <p:sp>
        <p:nvSpPr>
          <p:cNvPr id="9" name="Text 7"/>
          <p:cNvSpPr/>
          <p:nvPr/>
        </p:nvSpPr>
        <p:spPr>
          <a:xfrm>
            <a:off x="6431280" y="3169921"/>
            <a:ext cx="482950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Useful: comparing start, middle and end inserts isolated D8 and showed it compounds. Misleading: “inserts permanently damage formatting”; deleting the values restored it exactly.</a:t>
            </a:r>
            <a:endParaRPr lang="en-US" sz="1200" dirty="0"/>
          </a:p>
        </p:txBody>
      </p:sp>
      <p:sp>
        <p:nvSpPr>
          <p:cNvPr id="10" name="Shape 8"/>
          <p:cNvSpPr/>
          <p:nvPr/>
        </p:nvSpPr>
        <p:spPr>
          <a:xfrm>
            <a:off x="815975" y="4173854"/>
            <a:ext cx="5200650" cy="1370330"/>
          </a:xfrm>
          <a:prstGeom prst="roundRect">
            <a:avLst>
              <a:gd name="adj" fmla="val 7183"/>
            </a:avLst>
          </a:prstGeom>
          <a:solidFill>
            <a:srgbClr val="FFFFFF"/>
          </a:solidFill>
          <a:ln w="6350">
            <a:solidFill>
              <a:srgbClr val="DEDCD3"/>
            </a:solidFill>
            <a:prstDash val="solid"/>
          </a:ln>
        </p:spPr>
      </p:sp>
      <p:sp>
        <p:nvSpPr>
          <p:cNvPr id="11" name="Text 9"/>
          <p:cNvSpPr/>
          <p:nvPr/>
        </p:nvSpPr>
        <p:spPr>
          <a:xfrm>
            <a:off x="1071880" y="4378964"/>
            <a:ext cx="482950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Performance</a:t>
            </a:r>
            <a:endParaRPr lang="en-US" sz="1600" dirty="0"/>
          </a:p>
        </p:txBody>
      </p:sp>
      <p:sp>
        <p:nvSpPr>
          <p:cNvPr id="12" name="Text 10"/>
          <p:cNvSpPr/>
          <p:nvPr/>
        </p:nvSpPr>
        <p:spPr>
          <a:xfrm>
            <a:off x="1071880" y="4699000"/>
            <a:ext cx="4829505"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2,386 operations per second</a:t>
            </a:r>
            <a:r>
              <a:rPr lang="en-US" sz="1200" dirty="0">
                <a:solidFill>
                  <a:srgbClr val="4A5568"/>
                </a:solidFill>
                <a:latin typeface="IBM Plex Sans" pitchFamily="34" charset="0"/>
                <a:ea typeface="IBM Plex Sans" pitchFamily="34" charset="-122"/>
                <a:cs typeface="IBM Plex Sans" pitchFamily="34" charset="-120"/>
              </a:rPr>
              <a:t> for parse, edit, serialise and reparse; 25,000 operations, every round trip correct (Apple M2, Python 3.14).</a:t>
            </a:r>
            <a:endParaRPr lang="en-US" sz="1200" dirty="0"/>
          </a:p>
        </p:txBody>
      </p:sp>
      <p:sp>
        <p:nvSpPr>
          <p:cNvPr id="13" name="Shape 11"/>
          <p:cNvSpPr/>
          <p:nvPr/>
        </p:nvSpPr>
        <p:spPr>
          <a:xfrm>
            <a:off x="6175375" y="4173854"/>
            <a:ext cx="5200650" cy="1370330"/>
          </a:xfrm>
          <a:prstGeom prst="roundRect">
            <a:avLst>
              <a:gd name="adj" fmla="val 7183"/>
            </a:avLst>
          </a:prstGeom>
          <a:solidFill>
            <a:srgbClr val="FFFFFF"/>
          </a:solidFill>
          <a:ln w="6350">
            <a:solidFill>
              <a:srgbClr val="DEDCD3"/>
            </a:solidFill>
            <a:prstDash val="solid"/>
          </a:ln>
        </p:spPr>
      </p:sp>
      <p:sp>
        <p:nvSpPr>
          <p:cNvPr id="14" name="Text 12"/>
          <p:cNvSpPr/>
          <p:nvPr/>
        </p:nvSpPr>
        <p:spPr>
          <a:xfrm>
            <a:off x="6431280" y="4378964"/>
            <a:ext cx="482950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Usability (Nielsen heuristics)</a:t>
            </a:r>
            <a:endParaRPr lang="en-US" sz="1600" dirty="0"/>
          </a:p>
        </p:txBody>
      </p:sp>
      <p:sp>
        <p:nvSpPr>
          <p:cNvPr id="15" name="Text 13"/>
          <p:cNvSpPr/>
          <p:nvPr/>
        </p:nvSpPr>
        <p:spPr>
          <a:xfrm>
            <a:off x="6431280" y="4699000"/>
            <a:ext cx="482950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Strength: precise error messages with line and column. Top issue (medium): inconsistent spacing after inserting at index 0. Two low-severity documentation gaps.</a:t>
            </a:r>
            <a:endParaRPr lang="en-US" sz="1200" dirty="0"/>
          </a:p>
        </p:txBody>
      </p:sp>
      <p:sp>
        <p:nvSpPr>
          <p:cNvPr id="16" name="Text 14"/>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tests_integration/ · tests_bdd/ · docs/week9/</a:t>
            </a:r>
            <a:endParaRPr lang="en-US" sz="1200" dirty="0"/>
          </a:p>
        </p:txBody>
      </p:sp>
      <p:sp>
        <p:nvSpPr>
          <p:cNvPr id="17" name="Text 1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5347"/>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2B5FB8"/>
                </a:solidFill>
                <a:latin typeface="JetBrains Mono" pitchFamily="49" charset="0"/>
                <a:ea typeface="JetBrains Mono" pitchFamily="49" charset="-122"/>
                <a:cs typeface="JetBrains Mono" pitchFamily="49" charset="-120"/>
              </a:rPr>
              <a:t>WEEK 10 · QUALITY METRICS DASHBOARD</a:t>
            </a:r>
            <a:endParaRPr lang="en-US" sz="1196" dirty="0"/>
          </a:p>
        </p:txBody>
      </p:sp>
      <p:sp>
        <p:nvSpPr>
          <p:cNvPr id="3" name="Text 1"/>
          <p:cNvSpPr/>
          <p:nvPr>
            <p:ph type="title"/>
          </p:nvPr>
        </p:nvSpPr>
        <p:spPr>
          <a:xfrm>
            <a:off x="812800" y="1327547"/>
            <a:ext cx="10464800" cy="1015206"/>
          </a:xfrm>
          <a:prstGeom prst="rect">
            <a:avLst/>
          </a:prstGeom>
          <a:noFill/>
          <a:ln/>
        </p:spPr>
        <p:txBody>
          <a:bodyPr wrap="square" lIns="0" tIns="0" rIns="0" bIns="0" rtlCol="0" anchor="t">
            <a:normAutofit/>
          </a:bodyPr>
          <a:lstStyle/>
          <a:p>
            <a:pPr algn="l" indent="0" marL="0">
              <a:lnSpc>
                <a:spcPts val="3911"/>
              </a:lnSpc>
              <a:buNone/>
            </a:pPr>
            <a:r>
              <a:rPr lang="en-US" sz="3555" b="1" i="0" dirty="0">
                <a:solidFill>
                  <a:srgbClr val="14213D"/>
                </a:solidFill>
                <a:latin typeface="IBM Plex Sans" pitchFamily="34" charset="0"/>
                <a:ea typeface="IBM Plex Sans" pitchFamily="34" charset="-122"/>
                <a:cs typeface="IBM Plex Sans" pitchFamily="34" charset="-120"/>
              </a:rPr>
              <a:t>The hybrid suite clears the coverage target; mutation score is what remains</a:t>
            </a:r>
            <a:endParaRPr lang="en-US" sz="3555" dirty="0"/>
          </a:p>
        </p:txBody>
      </p:sp>
      <p:sp>
        <p:nvSpPr>
          <p:cNvPr id="4" name="Shape 2"/>
          <p:cNvSpPr/>
          <p:nvPr/>
        </p:nvSpPr>
        <p:spPr>
          <a:xfrm>
            <a:off x="815975" y="2625328"/>
            <a:ext cx="2520950" cy="1813243"/>
          </a:xfrm>
          <a:prstGeom prst="roundRect">
            <a:avLst>
              <a:gd name="adj" fmla="val 5428"/>
            </a:avLst>
          </a:prstGeom>
          <a:solidFill>
            <a:srgbClr val="FFFFFF"/>
          </a:solidFill>
          <a:ln w="6350">
            <a:solidFill>
              <a:srgbClr val="DEDCD3"/>
            </a:solidFill>
            <a:prstDash val="solid"/>
          </a:ln>
        </p:spPr>
      </p:sp>
      <p:sp>
        <p:nvSpPr>
          <p:cNvPr id="5" name="Text 3"/>
          <p:cNvSpPr/>
          <p:nvPr/>
        </p:nvSpPr>
        <p:spPr>
          <a:xfrm>
            <a:off x="1071880" y="2855832"/>
            <a:ext cx="2069414" cy="233839"/>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7280"/>
                </a:solidFill>
                <a:latin typeface="IBM Plex Sans" pitchFamily="34" charset="0"/>
                <a:ea typeface="IBM Plex Sans" pitchFamily="34" charset="-122"/>
                <a:cs typeface="IBM Plex Sans" pitchFamily="34" charset="-120"/>
              </a:rPr>
              <a:t>Statement coverage</a:t>
            </a:r>
            <a:endParaRPr lang="en-US" sz="1196" dirty="0"/>
          </a:p>
        </p:txBody>
      </p:sp>
      <p:sp>
        <p:nvSpPr>
          <p:cNvPr id="6" name="Text 4"/>
          <p:cNvSpPr/>
          <p:nvPr/>
        </p:nvSpPr>
        <p:spPr>
          <a:xfrm>
            <a:off x="1071880" y="3115072"/>
            <a:ext cx="2069414" cy="650716"/>
          </a:xfrm>
          <a:prstGeom prst="rect">
            <a:avLst/>
          </a:prstGeom>
          <a:noFill/>
          <a:ln/>
        </p:spPr>
        <p:txBody>
          <a:bodyPr wrap="square" lIns="0" tIns="0" rIns="0" bIns="0" rtlCol="0" anchor="t">
            <a:normAutofit/>
          </a:bodyPr>
          <a:lstStyle/>
          <a:p>
            <a:pPr algn="l" indent="0" marL="0">
              <a:lnSpc>
                <a:spcPts val="4914"/>
              </a:lnSpc>
              <a:buNone/>
            </a:pPr>
            <a:r>
              <a:rPr lang="en-US" sz="3510" b="1" dirty="0">
                <a:solidFill>
                  <a:srgbClr val="2B5FB8"/>
                </a:solidFill>
                <a:latin typeface="IBM Plex Sans" pitchFamily="34" charset="0"/>
                <a:ea typeface="IBM Plex Sans" pitchFamily="34" charset="-122"/>
                <a:cs typeface="IBM Plex Sans" pitchFamily="34" charset="-120"/>
              </a:rPr>
              <a:t>91.7%</a:t>
            </a:r>
            <a:endParaRPr lang="en-US" sz="3510" dirty="0"/>
          </a:p>
        </p:txBody>
      </p:sp>
      <p:sp>
        <p:nvSpPr>
          <p:cNvPr id="7" name="Text 5"/>
          <p:cNvSpPr/>
          <p:nvPr/>
        </p:nvSpPr>
        <p:spPr>
          <a:xfrm>
            <a:off x="1071880" y="3791192"/>
            <a:ext cx="2069414" cy="442278"/>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568"/>
                </a:solidFill>
                <a:latin typeface="IBM Plex Sans" pitchFamily="34" charset="0"/>
                <a:ea typeface="IBM Plex Sans" pitchFamily="34" charset="-122"/>
                <a:cs typeface="IBM Plex Sans" pitchFamily="34" charset="-120"/>
              </a:rPr>
              <a:t>target 80% · AI-only was 81.7%</a:t>
            </a:r>
            <a:endParaRPr lang="en-US" sz="1185" dirty="0"/>
          </a:p>
        </p:txBody>
      </p:sp>
      <p:sp>
        <p:nvSpPr>
          <p:cNvPr id="8" name="Shape 6"/>
          <p:cNvSpPr/>
          <p:nvPr/>
        </p:nvSpPr>
        <p:spPr>
          <a:xfrm>
            <a:off x="3495675" y="2625328"/>
            <a:ext cx="2520950" cy="1813243"/>
          </a:xfrm>
          <a:prstGeom prst="roundRect">
            <a:avLst>
              <a:gd name="adj" fmla="val 5428"/>
            </a:avLst>
          </a:prstGeom>
          <a:solidFill>
            <a:srgbClr val="FFFFFF"/>
          </a:solidFill>
          <a:ln w="6350">
            <a:solidFill>
              <a:srgbClr val="DEDCD3"/>
            </a:solidFill>
            <a:prstDash val="solid"/>
          </a:ln>
        </p:spPr>
      </p:sp>
      <p:sp>
        <p:nvSpPr>
          <p:cNvPr id="9" name="Text 7"/>
          <p:cNvSpPr/>
          <p:nvPr/>
        </p:nvSpPr>
        <p:spPr>
          <a:xfrm>
            <a:off x="3751580" y="2855832"/>
            <a:ext cx="20694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Branch coverage</a:t>
            </a:r>
            <a:endParaRPr lang="en-US" sz="1200" dirty="0"/>
          </a:p>
        </p:txBody>
      </p:sp>
      <p:sp>
        <p:nvSpPr>
          <p:cNvPr id="10" name="Text 8"/>
          <p:cNvSpPr/>
          <p:nvPr/>
        </p:nvSpPr>
        <p:spPr>
          <a:xfrm>
            <a:off x="3751580" y="3119996"/>
            <a:ext cx="2069414"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2B5FB8"/>
                </a:solidFill>
                <a:latin typeface="IBM Plex Sans" pitchFamily="34" charset="0"/>
                <a:ea typeface="IBM Plex Sans" pitchFamily="34" charset="-122"/>
                <a:cs typeface="IBM Plex Sans" pitchFamily="34" charset="-120"/>
              </a:rPr>
              <a:t>85.0%</a:t>
            </a:r>
            <a:endParaRPr lang="en-US" sz="3600" dirty="0"/>
          </a:p>
        </p:txBody>
      </p:sp>
      <p:sp>
        <p:nvSpPr>
          <p:cNvPr id="11" name="Text 9"/>
          <p:cNvSpPr/>
          <p:nvPr/>
        </p:nvSpPr>
        <p:spPr>
          <a:xfrm>
            <a:off x="3751580" y="3810874"/>
            <a:ext cx="20694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AI-only was 66.3%</a:t>
            </a:r>
            <a:endParaRPr lang="en-US" sz="1200" dirty="0"/>
          </a:p>
        </p:txBody>
      </p:sp>
      <p:sp>
        <p:nvSpPr>
          <p:cNvPr id="12" name="Shape 10"/>
          <p:cNvSpPr/>
          <p:nvPr/>
        </p:nvSpPr>
        <p:spPr>
          <a:xfrm>
            <a:off x="6175375" y="2625328"/>
            <a:ext cx="2520950" cy="1813243"/>
          </a:xfrm>
          <a:prstGeom prst="roundRect">
            <a:avLst>
              <a:gd name="adj" fmla="val 5428"/>
            </a:avLst>
          </a:prstGeom>
          <a:solidFill>
            <a:srgbClr val="FFFFFF"/>
          </a:solidFill>
          <a:ln w="6350">
            <a:solidFill>
              <a:srgbClr val="DEDCD3"/>
            </a:solidFill>
            <a:prstDash val="solid"/>
          </a:ln>
        </p:spPr>
      </p:sp>
      <p:sp>
        <p:nvSpPr>
          <p:cNvPr id="13" name="Text 11"/>
          <p:cNvSpPr/>
          <p:nvPr/>
        </p:nvSpPr>
        <p:spPr>
          <a:xfrm>
            <a:off x="6431280" y="2855832"/>
            <a:ext cx="2069414" cy="233839"/>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7280"/>
                </a:solidFill>
                <a:latin typeface="IBM Plex Sans" pitchFamily="34" charset="0"/>
                <a:ea typeface="IBM Plex Sans" pitchFamily="34" charset="-122"/>
                <a:cs typeface="IBM Plex Sans" pitchFamily="34" charset="-120"/>
              </a:rPr>
              <a:t>RTM completeness</a:t>
            </a:r>
            <a:endParaRPr lang="en-US" sz="1196" dirty="0"/>
          </a:p>
        </p:txBody>
      </p:sp>
      <p:sp>
        <p:nvSpPr>
          <p:cNvPr id="14" name="Text 12"/>
          <p:cNvSpPr/>
          <p:nvPr/>
        </p:nvSpPr>
        <p:spPr>
          <a:xfrm>
            <a:off x="6431280" y="3115072"/>
            <a:ext cx="2069414" cy="650716"/>
          </a:xfrm>
          <a:prstGeom prst="rect">
            <a:avLst/>
          </a:prstGeom>
          <a:noFill/>
          <a:ln/>
        </p:spPr>
        <p:txBody>
          <a:bodyPr wrap="square" lIns="0" tIns="0" rIns="0" bIns="0" rtlCol="0" anchor="t">
            <a:normAutofit/>
          </a:bodyPr>
          <a:lstStyle/>
          <a:p>
            <a:pPr algn="l" indent="0" marL="0">
              <a:lnSpc>
                <a:spcPts val="4914"/>
              </a:lnSpc>
              <a:buNone/>
            </a:pPr>
            <a:r>
              <a:rPr lang="en-US" sz="3510" b="1" dirty="0">
                <a:solidFill>
                  <a:srgbClr val="14213D"/>
                </a:solidFill>
                <a:latin typeface="IBM Plex Sans" pitchFamily="34" charset="0"/>
                <a:ea typeface="IBM Plex Sans" pitchFamily="34" charset="-122"/>
                <a:cs typeface="IBM Plex Sans" pitchFamily="34" charset="-120"/>
              </a:rPr>
              <a:t>88%</a:t>
            </a:r>
            <a:endParaRPr lang="en-US" sz="3510" dirty="0"/>
          </a:p>
        </p:txBody>
      </p:sp>
      <p:sp>
        <p:nvSpPr>
          <p:cNvPr id="15" name="Text 13"/>
          <p:cNvSpPr/>
          <p:nvPr/>
        </p:nvSpPr>
        <p:spPr>
          <a:xfrm>
            <a:off x="6431280" y="3791192"/>
            <a:ext cx="2069414" cy="442278"/>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568"/>
                </a:solidFill>
                <a:latin typeface="IBM Plex Sans" pitchFamily="34" charset="0"/>
                <a:ea typeface="IBM Plex Sans" pitchFamily="34" charset="-122"/>
                <a:cs typeface="IBM Plex Sans" pitchFamily="34" charset="-120"/>
              </a:rPr>
              <a:t>14 of 16 requirements; R15, R16 open</a:t>
            </a:r>
            <a:endParaRPr lang="en-US" sz="1185" dirty="0"/>
          </a:p>
        </p:txBody>
      </p:sp>
      <p:sp>
        <p:nvSpPr>
          <p:cNvPr id="16" name="Shape 14"/>
          <p:cNvSpPr/>
          <p:nvPr/>
        </p:nvSpPr>
        <p:spPr>
          <a:xfrm>
            <a:off x="8855075" y="2625328"/>
            <a:ext cx="2520950" cy="1813243"/>
          </a:xfrm>
          <a:prstGeom prst="roundRect">
            <a:avLst>
              <a:gd name="adj" fmla="val 5428"/>
            </a:avLst>
          </a:prstGeom>
          <a:solidFill>
            <a:srgbClr val="FFFFFF"/>
          </a:solidFill>
          <a:ln w="6350">
            <a:solidFill>
              <a:srgbClr val="DEDCD3"/>
            </a:solidFill>
            <a:prstDash val="solid"/>
          </a:ln>
        </p:spPr>
      </p:sp>
      <p:sp>
        <p:nvSpPr>
          <p:cNvPr id="17" name="Text 15"/>
          <p:cNvSpPr/>
          <p:nvPr/>
        </p:nvSpPr>
        <p:spPr>
          <a:xfrm>
            <a:off x="9110980" y="2855832"/>
            <a:ext cx="2069414" cy="233839"/>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7280"/>
                </a:solidFill>
                <a:latin typeface="IBM Plex Sans" pitchFamily="34" charset="0"/>
                <a:ea typeface="IBM Plex Sans" pitchFamily="34" charset="-122"/>
                <a:cs typeface="IBM Plex Sans" pitchFamily="34" charset="-120"/>
              </a:rPr>
              <a:t>Defect density</a:t>
            </a:r>
            <a:endParaRPr lang="en-US" sz="1196" dirty="0"/>
          </a:p>
        </p:txBody>
      </p:sp>
      <p:sp>
        <p:nvSpPr>
          <p:cNvPr id="18" name="Text 16"/>
          <p:cNvSpPr/>
          <p:nvPr/>
        </p:nvSpPr>
        <p:spPr>
          <a:xfrm>
            <a:off x="9110980" y="3115072"/>
            <a:ext cx="2069414" cy="650716"/>
          </a:xfrm>
          <a:prstGeom prst="rect">
            <a:avLst/>
          </a:prstGeom>
          <a:noFill/>
          <a:ln/>
        </p:spPr>
        <p:txBody>
          <a:bodyPr wrap="square" lIns="0" tIns="0" rIns="0" bIns="0" rtlCol="0" anchor="t">
            <a:normAutofit/>
          </a:bodyPr>
          <a:lstStyle/>
          <a:p>
            <a:pPr algn="l" indent="0" marL="0">
              <a:lnSpc>
                <a:spcPts val="4914"/>
              </a:lnSpc>
              <a:buNone/>
            </a:pPr>
            <a:r>
              <a:rPr lang="en-US" sz="3510" b="1" dirty="0">
                <a:solidFill>
                  <a:srgbClr val="A9480F"/>
                </a:solidFill>
                <a:latin typeface="IBM Plex Sans" pitchFamily="34" charset="0"/>
                <a:ea typeface="IBM Plex Sans" pitchFamily="34" charset="-122"/>
                <a:cs typeface="IBM Plex Sans" pitchFamily="34" charset="-120"/>
              </a:rPr>
              <a:t>2.16</a:t>
            </a:r>
            <a:endParaRPr lang="en-US" sz="3510" dirty="0"/>
          </a:p>
        </p:txBody>
      </p:sp>
      <p:sp>
        <p:nvSpPr>
          <p:cNvPr id="19" name="Text 17"/>
          <p:cNvSpPr/>
          <p:nvPr/>
        </p:nvSpPr>
        <p:spPr>
          <a:xfrm>
            <a:off x="9110980" y="3791192"/>
            <a:ext cx="2069414" cy="442278"/>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568"/>
                </a:solidFill>
                <a:latin typeface="IBM Plex Sans" pitchFamily="34" charset="0"/>
                <a:ea typeface="IBM Plex Sans" pitchFamily="34" charset="-122"/>
                <a:cs typeface="IBM Plex Sans" pitchFamily="34" charset="-120"/>
              </a:rPr>
              <a:t>per KLOC · 9 defects in 4,158 SLOC</a:t>
            </a:r>
            <a:endParaRPr lang="en-US" sz="1185" dirty="0"/>
          </a:p>
        </p:txBody>
      </p:sp>
      <p:sp>
        <p:nvSpPr>
          <p:cNvPr id="20" name="Shape 18"/>
          <p:cNvSpPr/>
          <p:nvPr/>
        </p:nvSpPr>
        <p:spPr>
          <a:xfrm>
            <a:off x="812800" y="4746544"/>
            <a:ext cx="10566400" cy="1095454"/>
          </a:xfrm>
          <a:prstGeom prst="roundRect">
            <a:avLst>
              <a:gd name="adj" fmla="val 9275"/>
            </a:avLst>
          </a:prstGeom>
          <a:solidFill>
            <a:srgbClr val="ECEAE2"/>
          </a:solidFill>
          <a:ln/>
        </p:spPr>
      </p:sp>
      <p:sp>
        <p:nvSpPr>
          <p:cNvPr id="21" name="Text 19"/>
          <p:cNvSpPr/>
          <p:nvPr/>
        </p:nvSpPr>
        <p:spPr>
          <a:xfrm>
            <a:off x="1066800" y="4924344"/>
            <a:ext cx="10360152" cy="26987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1,502 tests pass</a:t>
            </a:r>
            <a:r>
              <a:rPr lang="en-US" sz="1400" dirty="0">
                <a:solidFill>
                  <a:srgbClr val="14213D"/>
                </a:solidFill>
                <a:latin typeface="IBM Plex Sans" pitchFamily="34" charset="0"/>
                <a:ea typeface="IBM Plex Sans" pitchFamily="34" charset="-122"/>
                <a:cs typeface="IBM Plex Sans" pitchFamily="34" charset="-120"/>
              </a:rPr>
              <a:t> across seven suites; 5 strict xfails pin the open defects.</a:t>
            </a:r>
            <a:endParaRPr lang="en-US" sz="1400" dirty="0"/>
          </a:p>
        </p:txBody>
      </p:sp>
      <p:sp>
        <p:nvSpPr>
          <p:cNvPr id="22" name="Text 20"/>
          <p:cNvSpPr/>
          <p:nvPr/>
        </p:nvSpPr>
        <p:spPr>
          <a:xfrm>
            <a:off x="1066800" y="5245019"/>
            <a:ext cx="10360152" cy="444579"/>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568"/>
                </a:solidFill>
                <a:latin typeface="IBM Plex Sans" pitchFamily="34" charset="0"/>
                <a:ea typeface="IBM Plex Sans" pitchFamily="34" charset="-122"/>
                <a:cs typeface="IBM Plex Sans" pitchFamily="34" charset="-120"/>
              </a:rPr>
              <a:t>Week 10 mutation run covered only _types.py (10 mutants, 4 killed, 5 equivalent) and found a new latent defect, M1. The library-wide v2 run is Week 11.</a:t>
            </a:r>
            <a:endParaRPr lang="en-US" sz="1185" dirty="0"/>
          </a:p>
        </p:txBody>
      </p:sp>
      <p:sp>
        <p:nvSpPr>
          <p:cNvPr id="23" name="Text 21"/>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Coverage: all seven test folders, repo .coveragerc · RTM, SLOC: reports/week10/metrics_log.md</a:t>
            </a:r>
            <a:endParaRPr lang="en-US" sz="1200" dirty="0"/>
          </a:p>
        </p:txBody>
      </p:sp>
      <p:sp>
        <p:nvSpPr>
          <p:cNvPr id="24" name="Text 2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B8"/>
                </a:solidFill>
                <a:latin typeface="JetBrains Mono" pitchFamily="49" charset="0"/>
                <a:ea typeface="JetBrains Mono" pitchFamily="49" charset="-122"/>
                <a:cs typeface="JetBrains Mono" pitchFamily="49" charset="-120"/>
              </a:rPr>
              <a:t>WEEKS 11–12 · QUALITY GATE AND FINAL RESULTS</a:t>
            </a:r>
            <a:endParaRPr lang="en-US" sz="1200" dirty="0"/>
          </a:p>
        </p:txBody>
      </p:sp>
      <p:sp>
        <p:nvSpPr>
          <p:cNvPr id="3" name="Text 1"/>
          <p:cNvSpPr/>
          <p:nvPr>
            <p:ph type="title"/>
          </p:nvPr>
        </p:nvSpPr>
        <p:spPr>
          <a:xfrm>
            <a:off x="812800" y="1330964"/>
            <a:ext cx="10464800"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The pipeline blocks any change that weakens the suite</a:t>
            </a:r>
            <a:endParaRPr lang="en-US" sz="3600" dirty="0"/>
          </a:p>
        </p:txBody>
      </p:sp>
      <p:sp>
        <p:nvSpPr>
          <p:cNvPr id="4" name="Text 2"/>
          <p:cNvSpPr/>
          <p:nvPr/>
        </p:nvSpPr>
        <p:spPr>
          <a:xfrm>
            <a:off x="815975" y="2644775"/>
            <a:ext cx="2218690" cy="603250"/>
          </a:xfrm>
          <a:prstGeom prst="roundRect">
            <a:avLst>
              <a:gd name="adj" fmla="val 16316"/>
            </a:avLst>
          </a:prstGeom>
          <a:solidFill>
            <a:srgbClr val="FFFFFF"/>
          </a:solidFill>
          <a:ln w="6350">
            <a:solidFill>
              <a:srgbClr val="DEDCD3"/>
            </a:solidFill>
            <a:prstDash val="solid"/>
          </a:ln>
        </p:spPr>
        <p:txBody>
          <a:bodyPr wrap="square" lIns="176277" tIns="150877" rIns="122023" bIns="125477"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Push / PR</a:t>
            </a:r>
            <a:endParaRPr lang="en-US" sz="1600" dirty="0"/>
          </a:p>
        </p:txBody>
      </p:sp>
      <p:pic>
        <p:nvPicPr>
          <p:cNvPr id="5" name="Image 0" descr="arrow-right">    </p:cNvPr>
          <p:cNvPicPr>
            <a:picLocks noChangeAspect="1"/>
          </p:cNvPicPr>
          <p:nvPr/>
        </p:nvPicPr>
        <p:blipFill>
          <a:blip r:embed="rId1"/>
          <a:srcRect l="0" r="0" t="0" b="0"/>
          <a:stretch/>
        </p:blipFill>
        <p:spPr>
          <a:xfrm>
            <a:off x="3139440" y="2857500"/>
            <a:ext cx="355600" cy="177800"/>
          </a:xfrm>
          <a:prstGeom prst="rect">
            <a:avLst/>
          </a:prstGeom>
        </p:spPr>
      </p:pic>
      <p:sp>
        <p:nvSpPr>
          <p:cNvPr id="6" name="Text 3"/>
          <p:cNvSpPr/>
          <p:nvPr/>
        </p:nvSpPr>
        <p:spPr>
          <a:xfrm>
            <a:off x="3599815" y="2644775"/>
            <a:ext cx="2218690" cy="603250"/>
          </a:xfrm>
          <a:prstGeom prst="roundRect">
            <a:avLst>
              <a:gd name="adj" fmla="val 16316"/>
            </a:avLst>
          </a:prstGeom>
          <a:solidFill>
            <a:srgbClr val="FFFFFF"/>
          </a:solidFill>
          <a:ln w="6350">
            <a:solidFill>
              <a:srgbClr val="DEDCD3"/>
            </a:solidFill>
            <a:prstDash val="solid"/>
          </a:ln>
        </p:spPr>
        <p:txBody>
          <a:bodyPr wrap="square" lIns="176277" tIns="150877" rIns="122023" bIns="125477"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Tests in risk order</a:t>
            </a:r>
            <a:endParaRPr lang="en-US" sz="1600" dirty="0"/>
          </a:p>
        </p:txBody>
      </p:sp>
      <p:pic>
        <p:nvPicPr>
          <p:cNvPr id="7" name="Image 1" descr="arrow-right">    </p:cNvPr>
          <p:cNvPicPr>
            <a:picLocks noChangeAspect="1"/>
          </p:cNvPicPr>
          <p:nvPr/>
        </p:nvPicPr>
        <p:blipFill>
          <a:blip r:embed="rId2"/>
          <a:srcRect l="0" r="0" t="0" b="0"/>
          <a:stretch/>
        </p:blipFill>
        <p:spPr>
          <a:xfrm>
            <a:off x="5923280" y="2857500"/>
            <a:ext cx="355600" cy="177800"/>
          </a:xfrm>
          <a:prstGeom prst="rect">
            <a:avLst/>
          </a:prstGeom>
        </p:spPr>
      </p:pic>
      <p:sp>
        <p:nvSpPr>
          <p:cNvPr id="8" name="Text 4"/>
          <p:cNvSpPr/>
          <p:nvPr/>
        </p:nvSpPr>
        <p:spPr>
          <a:xfrm>
            <a:off x="6383655" y="2644775"/>
            <a:ext cx="2218690" cy="603250"/>
          </a:xfrm>
          <a:prstGeom prst="roundRect">
            <a:avLst>
              <a:gd name="adj" fmla="val 16316"/>
            </a:avLst>
          </a:prstGeom>
          <a:solidFill>
            <a:srgbClr val="FFFFFF"/>
          </a:solidFill>
          <a:ln w="6350">
            <a:solidFill>
              <a:srgbClr val="DEDCD3"/>
            </a:solidFill>
            <a:prstDash val="solid"/>
          </a:ln>
        </p:spPr>
        <p:txBody>
          <a:bodyPr wrap="square" lIns="176277" tIns="150877" rIns="122023" bIns="125477"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Coverage ≥ [80]%</a:t>
            </a:r>
            <a:endParaRPr lang="en-US" sz="1600" dirty="0"/>
          </a:p>
        </p:txBody>
      </p:sp>
      <p:pic>
        <p:nvPicPr>
          <p:cNvPr id="9" name="Image 2" descr="arrow-right">    </p:cNvPr>
          <p:cNvPicPr>
            <a:picLocks noChangeAspect="1"/>
          </p:cNvPicPr>
          <p:nvPr/>
        </p:nvPicPr>
        <p:blipFill>
          <a:blip r:embed="rId3"/>
          <a:srcRect l="0" r="0" t="0" b="0"/>
          <a:stretch/>
        </p:blipFill>
        <p:spPr>
          <a:xfrm>
            <a:off x="8707120" y="2857500"/>
            <a:ext cx="355600" cy="177800"/>
          </a:xfrm>
          <a:prstGeom prst="rect">
            <a:avLst/>
          </a:prstGeom>
        </p:spPr>
      </p:pic>
      <p:sp>
        <p:nvSpPr>
          <p:cNvPr id="10" name="Text 5"/>
          <p:cNvSpPr/>
          <p:nvPr/>
        </p:nvSpPr>
        <p:spPr>
          <a:xfrm>
            <a:off x="9164320" y="2646679"/>
            <a:ext cx="2214880" cy="599440"/>
          </a:xfrm>
          <a:prstGeom prst="roundRect">
            <a:avLst>
              <a:gd name="adj" fmla="val 16949"/>
            </a:avLst>
          </a:prstGeom>
          <a:solidFill>
            <a:srgbClr val="14213D"/>
          </a:solidFill>
          <a:ln/>
        </p:spPr>
        <p:txBody>
          <a:bodyPr wrap="square" lIns="173442" tIns="148042" rIns="119188" bIns="122642" rtlCol="0" anchor="t">
            <a:normAutofit/>
          </a:bodyPr>
          <a:lstStyle/>
          <a:p>
            <a:pPr algn="l" indent="0" marL="0">
              <a:lnSpc>
                <a:spcPts val="1920"/>
              </a:lnSpc>
              <a:buNone/>
            </a:pPr>
            <a:r>
              <a:rPr lang="en-US" sz="1600" b="1" dirty="0">
                <a:solidFill>
                  <a:srgbClr val="F7F6F1"/>
                </a:solidFill>
                <a:latin typeface="IBM Plex Sans" pitchFamily="34" charset="0"/>
                <a:ea typeface="IBM Plex Sans" pitchFamily="34" charset="-122"/>
                <a:cs typeface="IBM Plex Sans" pitchFamily="34" charset="-120"/>
              </a:rPr>
              <a:t>Mutation ≥ [70]%</a:t>
            </a:r>
            <a:endParaRPr lang="en-US" sz="1600" dirty="0"/>
          </a:p>
        </p:txBody>
      </p:sp>
      <p:sp>
        <p:nvSpPr>
          <p:cNvPr id="11" name="Shape 6"/>
          <p:cNvSpPr/>
          <p:nvPr/>
        </p:nvSpPr>
        <p:spPr>
          <a:xfrm>
            <a:off x="815975" y="3559175"/>
            <a:ext cx="5175250" cy="1578610"/>
          </a:xfrm>
          <a:prstGeom prst="roundRect">
            <a:avLst>
              <a:gd name="adj" fmla="val 6235"/>
            </a:avLst>
          </a:prstGeom>
          <a:solidFill>
            <a:srgbClr val="FFFFFF"/>
          </a:solidFill>
          <a:ln w="6350">
            <a:solidFill>
              <a:srgbClr val="DEDCD3"/>
            </a:solidFill>
            <a:prstDash val="solid"/>
          </a:ln>
        </p:spPr>
      </p:sp>
      <p:sp>
        <p:nvSpPr>
          <p:cNvPr id="12" name="Text 7"/>
          <p:cNvSpPr/>
          <p:nvPr/>
        </p:nvSpPr>
        <p:spPr>
          <a:xfrm>
            <a:off x="1071880" y="3764279"/>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Library-wide mutation score</a:t>
            </a:r>
            <a:endParaRPr lang="en-US" sz="1200" dirty="0"/>
          </a:p>
        </p:txBody>
      </p:sp>
      <p:sp>
        <p:nvSpPr>
          <p:cNvPr id="13" name="Text 8"/>
          <p:cNvSpPr/>
          <p:nvPr/>
        </p:nvSpPr>
        <p:spPr>
          <a:xfrm>
            <a:off x="1071880" y="4028442"/>
            <a:ext cx="4803343"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4213D"/>
                </a:solidFill>
                <a:latin typeface="IBM Plex Sans" pitchFamily="34" charset="0"/>
                <a:ea typeface="IBM Plex Sans" pitchFamily="34" charset="-122"/>
                <a:cs typeface="IBM Plex Sans" pitchFamily="34" charset="-120"/>
              </a:rPr>
              <a:t>57.7% → </a:t>
            </a:r>
            <a:r>
              <a:rPr lang="en-US" sz="3600" b="1" dirty="0">
                <a:solidFill>
                  <a:srgbClr val="2B5FB8"/>
                </a:solidFill>
                <a:latin typeface="IBM Plex Sans" pitchFamily="34" charset="0"/>
                <a:ea typeface="IBM Plex Sans" pitchFamily="34" charset="-122"/>
                <a:cs typeface="IBM Plex Sans" pitchFamily="34" charset="-120"/>
              </a:rPr>
              <a:t>[__]%</a:t>
            </a:r>
            <a:endParaRPr lang="en-US" sz="3600" dirty="0"/>
          </a:p>
        </p:txBody>
      </p:sp>
      <p:sp>
        <p:nvSpPr>
          <p:cNvPr id="14" name="Text 9"/>
          <p:cNvSpPr/>
          <p:nvPr/>
        </p:nvSpPr>
        <p:spPr>
          <a:xfrm>
            <a:off x="1071880" y="4719321"/>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AI-only v1 → hybrid suite v2 (Week 11)</a:t>
            </a:r>
            <a:endParaRPr lang="en-US" sz="1200" dirty="0"/>
          </a:p>
        </p:txBody>
      </p:sp>
      <p:sp>
        <p:nvSpPr>
          <p:cNvPr id="15" name="Shape 10"/>
          <p:cNvSpPr/>
          <p:nvPr/>
        </p:nvSpPr>
        <p:spPr>
          <a:xfrm>
            <a:off x="6200775" y="3559175"/>
            <a:ext cx="5175250" cy="1578610"/>
          </a:xfrm>
          <a:prstGeom prst="roundRect">
            <a:avLst>
              <a:gd name="adj" fmla="val 6235"/>
            </a:avLst>
          </a:prstGeom>
          <a:solidFill>
            <a:srgbClr val="FFFFFF"/>
          </a:solidFill>
          <a:ln w="6350">
            <a:solidFill>
              <a:srgbClr val="DEDCD3"/>
            </a:solidFill>
            <a:prstDash val="solid"/>
          </a:ln>
        </p:spPr>
      </p:sp>
      <p:sp>
        <p:nvSpPr>
          <p:cNvPr id="16" name="Text 11"/>
          <p:cNvSpPr/>
          <p:nvPr/>
        </p:nvSpPr>
        <p:spPr>
          <a:xfrm>
            <a:off x="6456680" y="3764279"/>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Defects fixed</a:t>
            </a:r>
            <a:endParaRPr lang="en-US" sz="1200" dirty="0"/>
          </a:p>
        </p:txBody>
      </p:sp>
      <p:sp>
        <p:nvSpPr>
          <p:cNvPr id="17" name="Text 12"/>
          <p:cNvSpPr/>
          <p:nvPr/>
        </p:nvSpPr>
        <p:spPr>
          <a:xfrm>
            <a:off x="6456680" y="4028442"/>
            <a:ext cx="4803343"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4213D"/>
                </a:solidFill>
                <a:latin typeface="IBM Plex Sans" pitchFamily="34" charset="0"/>
                <a:ea typeface="IBM Plex Sans" pitchFamily="34" charset="-122"/>
                <a:cs typeface="IBM Plex Sans" pitchFamily="34" charset="-120"/>
              </a:rPr>
              <a:t>3 → </a:t>
            </a:r>
            <a:r>
              <a:rPr lang="en-US" sz="3600" b="1" dirty="0">
                <a:solidFill>
                  <a:srgbClr val="2B5FB8"/>
                </a:solidFill>
                <a:latin typeface="IBM Plex Sans" pitchFamily="34" charset="0"/>
                <a:ea typeface="IBM Plex Sans" pitchFamily="34" charset="-122"/>
                <a:cs typeface="IBM Plex Sans" pitchFamily="34" charset="-120"/>
              </a:rPr>
              <a:t>[__]</a:t>
            </a:r>
            <a:r>
              <a:rPr lang="en-US" sz="3600" b="1" dirty="0">
                <a:solidFill>
                  <a:srgbClr val="14213D"/>
                </a:solidFill>
                <a:latin typeface="IBM Plex Sans" pitchFamily="34" charset="0"/>
                <a:ea typeface="IBM Plex Sans" pitchFamily="34" charset="-122"/>
                <a:cs typeface="IBM Plex Sans" pitchFamily="34" charset="-120"/>
              </a:rPr>
              <a:t> of 9</a:t>
            </a:r>
            <a:endParaRPr lang="en-US" sz="3600" dirty="0"/>
          </a:p>
        </p:txBody>
      </p:sp>
      <p:sp>
        <p:nvSpPr>
          <p:cNvPr id="18" name="Text 13"/>
          <p:cNvSpPr/>
          <p:nvPr/>
        </p:nvSpPr>
        <p:spPr>
          <a:xfrm>
            <a:off x="6456680" y="4719321"/>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TDD fixes so far: D1, D6, D7</a:t>
            </a:r>
            <a:endParaRPr lang="en-US" sz="1200" dirty="0"/>
          </a:p>
        </p:txBody>
      </p:sp>
      <p:sp>
        <p:nvSpPr>
          <p:cNvPr id="19" name="Text 14"/>
          <p:cNvSpPr/>
          <p:nvPr/>
        </p:nvSpPr>
        <p:spPr>
          <a:xfrm>
            <a:off x="812800" y="5445764"/>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480F"/>
                </a:solidFill>
                <a:latin typeface="IBM Plex Sans" pitchFamily="34" charset="0"/>
                <a:ea typeface="IBM Plex Sans" pitchFamily="34" charset="-122"/>
                <a:cs typeface="IBM Plex Sans" pitchFamily="34" charset="-120"/>
              </a:rPr>
              <a:t>Live demo:</a:t>
            </a:r>
            <a:r>
              <a:rPr lang="en-US" sz="1400" dirty="0">
                <a:solidFill>
                  <a:srgbClr val="A9480F"/>
                </a:solidFill>
                <a:latin typeface="IBM Plex Sans" pitchFamily="34" charset="0"/>
                <a:ea typeface="IBM Plex Sans" pitchFamily="34" charset="-122"/>
                <a:cs typeface="IBM Plex Sans" pitchFamily="34" charset="-120"/>
              </a:rPr>
              <a:t> push a change that deletes a killing test and watch the gate fail.</a:t>
            </a:r>
            <a:endParaRPr lang="en-US" sz="1400" dirty="0"/>
          </a:p>
        </p:txBody>
      </p:sp>
      <p:sp>
        <p:nvSpPr>
          <p:cNvPr id="20" name="Text 15"/>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GitHub Actions workflow [path] · fill in after Week 11</a:t>
            </a:r>
            <a:endParaRPr lang="en-US" sz="1200" dirty="0"/>
          </a:p>
        </p:txBody>
      </p:sp>
      <p:sp>
        <p:nvSpPr>
          <p:cNvPr id="21"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B3F0"/>
                </a:solidFill>
                <a:latin typeface="JetBrains Mono" pitchFamily="49" charset="0"/>
                <a:ea typeface="JetBrains Mono" pitchFamily="49" charset="-122"/>
                <a:cs typeface="JetBrains Mono" pitchFamily="49" charset="-120"/>
              </a:rPr>
              <a:t>WHAT WE LEARNED</a:t>
            </a:r>
            <a:endParaRPr lang="en-US" sz="1200" dirty="0"/>
          </a:p>
        </p:txBody>
      </p:sp>
      <p:sp>
        <p:nvSpPr>
          <p:cNvPr id="3" name="Text 1"/>
          <p:cNvSpPr/>
          <p:nvPr>
            <p:ph type="title"/>
          </p:nvPr>
        </p:nvSpPr>
        <p:spPr>
          <a:xfrm>
            <a:off x="812800" y="1381758"/>
            <a:ext cx="1046480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6F1"/>
                </a:solidFill>
                <a:latin typeface="IBM Plex Sans" pitchFamily="34" charset="0"/>
                <a:ea typeface="IBM Plex Sans" pitchFamily="34" charset="-122"/>
                <a:cs typeface="IBM Plex Sans" pitchFamily="34" charset="-120"/>
              </a:rPr>
              <a:t>AI tests are a fast first draft, not ground truth</a:t>
            </a:r>
            <a:endParaRPr lang="en-US" sz="3600" dirty="0"/>
          </a:p>
        </p:txBody>
      </p:sp>
      <p:sp>
        <p:nvSpPr>
          <p:cNvPr id="4" name="Shape 2"/>
          <p:cNvSpPr/>
          <p:nvPr/>
        </p:nvSpPr>
        <p:spPr>
          <a:xfrm>
            <a:off x="812800" y="2249810"/>
            <a:ext cx="3386614" cy="0"/>
          </a:xfrm>
          <a:prstGeom prst="line">
            <a:avLst/>
          </a:prstGeom>
          <a:noFill/>
          <a:ln w="19050">
            <a:solidFill>
              <a:srgbClr val="8FB3F0"/>
            </a:solidFill>
            <a:prstDash val="solid"/>
          </a:ln>
        </p:spPr>
      </p:sp>
      <p:sp>
        <p:nvSpPr>
          <p:cNvPr id="5" name="Text 3"/>
          <p:cNvSpPr/>
          <p:nvPr/>
        </p:nvSpPr>
        <p:spPr>
          <a:xfrm>
            <a:off x="812800" y="2458727"/>
            <a:ext cx="348821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IBM Plex Sans" pitchFamily="34" charset="0"/>
                <a:ea typeface="IBM Plex Sans" pitchFamily="34" charset="-122"/>
                <a:cs typeface="IBM Plex Sans" pitchFamily="34" charset="-120"/>
              </a:rPr>
              <a:t>It is genuinely useful</a:t>
            </a:r>
            <a:endParaRPr lang="en-US" sz="1600" dirty="0"/>
          </a:p>
        </p:txBody>
      </p:sp>
      <p:sp>
        <p:nvSpPr>
          <p:cNvPr id="6" name="Text 4"/>
          <p:cNvSpPr/>
          <p:nvPr/>
        </p:nvSpPr>
        <p:spPr>
          <a:xfrm>
            <a:off x="812800" y="2804158"/>
            <a:ext cx="348821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E0"/>
                </a:solidFill>
                <a:latin typeface="IBM Plex Sans" pitchFamily="34" charset="0"/>
                <a:ea typeface="IBM Plex Sans" pitchFamily="34" charset="-122"/>
                <a:cs typeface="IBM Plex Sans" pitchFamily="34" charset="-120"/>
              </a:rPr>
              <a:t>388 tests in minutes, 82% statement coverage, and 3 real defects on the first run.</a:t>
            </a:r>
            <a:endParaRPr lang="en-US" sz="1400" dirty="0"/>
          </a:p>
        </p:txBody>
      </p:sp>
      <p:sp>
        <p:nvSpPr>
          <p:cNvPr id="7" name="Shape 5"/>
          <p:cNvSpPr/>
          <p:nvPr/>
        </p:nvSpPr>
        <p:spPr>
          <a:xfrm>
            <a:off x="4402614" y="2249810"/>
            <a:ext cx="3386693" cy="0"/>
          </a:xfrm>
          <a:prstGeom prst="line">
            <a:avLst/>
          </a:prstGeom>
          <a:noFill/>
          <a:ln w="19050">
            <a:solidFill>
              <a:srgbClr val="E8A35C"/>
            </a:solidFill>
            <a:prstDash val="solid"/>
          </a:ln>
        </p:spPr>
      </p:sp>
      <p:sp>
        <p:nvSpPr>
          <p:cNvPr id="8" name="Text 6"/>
          <p:cNvSpPr/>
          <p:nvPr/>
        </p:nvSpPr>
        <p:spPr>
          <a:xfrm>
            <a:off x="4402614" y="2458727"/>
            <a:ext cx="34882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IBM Plex Sans" pitchFamily="34" charset="0"/>
                <a:ea typeface="IBM Plex Sans" pitchFamily="34" charset="-122"/>
                <a:cs typeface="IBM Plex Sans" pitchFamily="34" charset="-120"/>
              </a:rPr>
              <a:t>Coverage hides weak checks</a:t>
            </a:r>
            <a:endParaRPr lang="en-US" sz="1600" dirty="0"/>
          </a:p>
        </p:txBody>
      </p:sp>
      <p:sp>
        <p:nvSpPr>
          <p:cNvPr id="9" name="Text 7"/>
          <p:cNvSpPr/>
          <p:nvPr/>
        </p:nvSpPr>
        <p:spPr>
          <a:xfrm>
            <a:off x="4402614" y="2804158"/>
            <a:ext cx="3488294"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E0"/>
                </a:solidFill>
                <a:latin typeface="IBM Plex Sans" pitchFamily="34" charset="0"/>
                <a:ea typeface="IBM Plex Sans" pitchFamily="34" charset="-122"/>
                <a:cs typeface="IBM Plex Sans" pitchFamily="34" charset="-120"/>
              </a:rPr>
              <a:t>Only mutation testing showed that 42% of planted bugs got through, mostly in the complex code.</a:t>
            </a:r>
            <a:endParaRPr lang="en-US" sz="1400" dirty="0"/>
          </a:p>
        </p:txBody>
      </p:sp>
      <p:sp>
        <p:nvSpPr>
          <p:cNvPr id="10" name="Shape 8"/>
          <p:cNvSpPr/>
          <p:nvPr/>
        </p:nvSpPr>
        <p:spPr>
          <a:xfrm>
            <a:off x="7992507" y="2249810"/>
            <a:ext cx="3386693" cy="0"/>
          </a:xfrm>
          <a:prstGeom prst="line">
            <a:avLst/>
          </a:prstGeom>
          <a:noFill/>
          <a:ln w="19050">
            <a:solidFill>
              <a:srgbClr val="8FB3F0"/>
            </a:solidFill>
            <a:prstDash val="solid"/>
          </a:ln>
        </p:spPr>
      </p:sp>
      <p:sp>
        <p:nvSpPr>
          <p:cNvPr id="11" name="Text 9"/>
          <p:cNvSpPr/>
          <p:nvPr/>
        </p:nvSpPr>
        <p:spPr>
          <a:xfrm>
            <a:off x="7992507" y="2458727"/>
            <a:ext cx="34882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IBM Plex Sans" pitchFamily="34" charset="0"/>
                <a:ea typeface="IBM Plex Sans" pitchFamily="34" charset="-122"/>
                <a:cs typeface="IBM Plex Sans" pitchFamily="34" charset="-120"/>
              </a:rPr>
              <a:t>Technique beats volume</a:t>
            </a:r>
            <a:endParaRPr lang="en-US" sz="1600" dirty="0"/>
          </a:p>
        </p:txBody>
      </p:sp>
      <p:sp>
        <p:nvSpPr>
          <p:cNvPr id="12" name="Text 10"/>
          <p:cNvSpPr/>
          <p:nvPr/>
        </p:nvSpPr>
        <p:spPr>
          <a:xfrm>
            <a:off x="7992507" y="2804158"/>
            <a:ext cx="3488294"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E0"/>
                </a:solidFill>
                <a:latin typeface="IBM Plex Sans" pitchFamily="34" charset="0"/>
                <a:ea typeface="IBM Plex Sans" pitchFamily="34" charset="-122"/>
                <a:cs typeface="IBM Plex Sans" pitchFamily="34" charset="-120"/>
              </a:rPr>
              <a:t>11 designed tests killed what 388 typical ones missed; Hypothesis found a bug in seconds.</a:t>
            </a:r>
            <a:endParaRPr lang="en-US" sz="1400" dirty="0"/>
          </a:p>
        </p:txBody>
      </p:sp>
      <p:sp>
        <p:nvSpPr>
          <p:cNvPr id="13" name="Text 11"/>
          <p:cNvSpPr/>
          <p:nvPr/>
        </p:nvSpPr>
        <p:spPr>
          <a:xfrm>
            <a:off x="812800" y="3906527"/>
            <a:ext cx="1046480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1"/>
                </a:solidFill>
                <a:latin typeface="IBM Plex Sans" pitchFamily="34" charset="0"/>
                <a:ea typeface="IBM Plex Sans" pitchFamily="34" charset="-122"/>
                <a:cs typeface="IBM Plex Sans" pitchFamily="34" charset="-120"/>
              </a:rPr>
              <a:t>Our rule now: let the AI draft, then let mutation scores, properties and test-design techniques decide what is done.</a:t>
            </a:r>
            <a:endParaRPr lang="en-US" sz="1600" dirty="0"/>
          </a:p>
        </p:txBody>
      </p:sp>
      <p:sp>
        <p:nvSpPr>
          <p:cNvPr id="14"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7B0"/>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4213D"/>
                </a:solidFill>
                <a:latin typeface="IBM Plex Sans" pitchFamily="34" charset="0"/>
                <a:ea typeface="IBM Plex Sans" pitchFamily="34" charset="-122"/>
                <a:cs typeface="IBM Plex Sans" pitchFamily="34" charset="-120"/>
              </a:rPr>
              <a:t>Questions?</a:t>
            </a:r>
            <a:endParaRPr lang="en-US" sz="6000" dirty="0"/>
          </a:p>
        </p:txBody>
      </p:sp>
      <p:sp>
        <p:nvSpPr>
          <p:cNvPr id="3" name="Text 1"/>
          <p:cNvSpPr/>
          <p:nvPr/>
        </p:nvSpPr>
        <p:spPr>
          <a:xfrm>
            <a:off x="812800" y="17653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5FB8"/>
                </a:solidFill>
                <a:latin typeface="JetBrains Mono" pitchFamily="49" charset="0"/>
                <a:ea typeface="JetBrains Mono" pitchFamily="49" charset="-122"/>
                <a:cs typeface="JetBrains Mono" pitchFamily="49" charset="-120"/>
              </a:rPr>
              <a:t>github.com/the-dezeray/tomlkit</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3540760"/>
          <a:ext cx="10556240" cy="2301240"/>
        </p:xfrm>
        <a:graphic>
          <a:graphicData uri="http://schemas.openxmlformats.org/drawingml/2006/table">
            <a:tbl>
              <a:tblPr/>
              <a:tblGrid>
                <a:gridCol w="3166872"/>
                <a:gridCol w="2322373"/>
                <a:gridCol w="5066995"/>
              </a:tblGrid>
              <a:tr h="383540">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Team member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Presented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Role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8354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Motheo Mmolawa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Week 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Test Lead and coordinator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Desiree Chingwaru</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[Week __]</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Automation and CI/CD engineer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Pako J. Motsumi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Week 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AI test engineer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Isago Isaacs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[Week __]</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Specialist track officer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Lethabo P. Machailo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[Week __]</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Documentation and report lead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Text 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theme/theme1.xml><?xml version="1.0" encoding="utf-8"?>
<a:theme xmlns:a="http://schemas.openxmlformats.org/drawingml/2006/main" name="COMP 441 Group A – AI-Augmented Testing of TOML Kit">
  <a:themeElements>
    <a:clrScheme name="COMP 441 Group A – AI-Augmented Testing of TOML Kit">
      <a:dk1>
        <a:srgbClr val="14213D"/>
      </a:dk1>
      <a:lt1>
        <a:srgbClr val="F7F6F1"/>
      </a:lt1>
      <a:dk2>
        <a:srgbClr val="4D566A"/>
      </a:dk2>
      <a:lt2>
        <a:srgbClr val="E0E1DF"/>
      </a:lt2>
      <a:accent1>
        <a:srgbClr val="2B5FB8"/>
      </a:accent1>
      <a:accent2>
        <a:srgbClr val="8FB3F0"/>
      </a:accent2>
      <a:accent3>
        <a:srgbClr val="5B6B8A"/>
      </a:accent3>
      <a:accent4>
        <a:srgbClr val="F6D8C6"/>
      </a:accent4>
      <a:accent5>
        <a:srgbClr val="A9480F"/>
      </a:accent5>
      <a:accent6>
        <a:srgbClr val="7A2E06"/>
      </a:accent6>
      <a:hlink>
        <a:srgbClr val="0563C1"/>
      </a:hlink>
      <a:folHlink>
        <a:srgbClr val="954F72"/>
      </a:folHlink>
    </a:clrScheme>
    <a:fontScheme name="COMP 441 Group A – AI-Augmented Testing of TOML Ki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441 Group A – AI-Augmented Testing of TOML Kit</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2026-10-26T20:50:25Z</dcterms:created>
  <dcterms:modified xsi:type="dcterms:W3CDTF">2026-10-26T20:50:25Z</dcterms:modified>
</cp:coreProperties>
</file>